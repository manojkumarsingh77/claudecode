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4229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Module 7 moves from using Claude Code to extending it. Five mechanisms, each with a concept block, three examples, one business use case and a live lab built on the same sample service, OrderHub. By the end, participants ship a versioned plugin that packages their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core questions. Stress that the labs are cumulative: Lab 5 packages the output of Labs 2 to 4. Lab 0 (repo seed) should already be done before this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distinction is when each mechanism enters Claude's context. Instructions are always on, so keep them short. Skills and subagents load on demand, which is why they scale. MCP adds capabilities. Plugins are packaging, not a new capability.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01: Instructions. Read the one-line definition, then preview the lab ticket OHUB-301 participants will complete.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for Instructions. Left: the four facts to remember. Right: the real artefact participants will write in the lab. Point at the parts of the file that drive behaviour.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examples of Instructions in real Claude Code usage. Ask the room which of the three maps to a pain point in their own repos.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framing for Instructions. Tie each why bullet to a measurable outcome the sponsor cares about. This scenario is the business requirement in lab ticket OHUB-301.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VS Code. Run Lab 1 live using the Lab Guide. Keep the acceptance criteria visible and tick them off with the room. Have the solutions branch ready if the demo drifts.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02: Skills. Read the one-line definition, then preview the lab ticket OHUB-302 participants will complete.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for Skills. Left: the four facts to remember. Right: the real artefact participants will write in the lab. Point at the parts of the file that drive behaviour.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examples of Skills in real Claude Code usage. Ask the room which of the three maps to a pain point in their own repos.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framing for Skills. Tie each why bullet to a measurable outcome the sponsor cares about. This scenario is the business requirement in lab ticket OHUB-302.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VS Code. Run Lab 2 live using the Lab Guide. Keep the acceptance criteria visible and tick them off with the room. Have the solutions branch ready if the demo drifts.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03: Subagents. Read the one-line definition, then preview the lab ticket OHUB-303 participants will complete.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for Subagents. Left: the four facts to remember. Right: the real artefact participants will write in the lab. Point at the parts of the file that drive behaviour.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examples of Subagents in real Claude Code usage. Ask the room which of the three maps to a pain point in their own repos.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framing for Subagents. Tie each why bullet to a measurable outcome the sponsor cares about. This scenario is the business requirement in lab ticket OHUB-303.</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VS Code. Run Lab 3 live using the Lab Guide. Keep the acceptance criteria visible and tick them off with the room. Have the solutions branch ready if the demo drifts.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04: MCP. Read the one-line definition, then preview the lab ticket OHUB-304 participants will complete.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for MCP. Left: the four facts to remember. Right: the real artefact participants will write in the lab. Point at the parts of the file that drive behaviour.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examples of MCP in real Claude Code usage. Ask the room which of the three maps to a pain point in their own repos.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framing for MCP. Tie each why bullet to a measurable outcome the sponsor cares about. This scenario is the business requirement in lab ticket OHUB-304.</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VS Code. Run Lab 4 live using the Lab Guide. Keep the acceptance criteria visible and tick them off with the room. Have the solutions branch ready if the demo drifts.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05: Plugins. Read the one-line definition, then preview the lab ticket OHUB-305 participants will complete.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for Plugins. Left: the four facts to remember. Right: the real artefact participants will write in the lab. Point at the parts of the file that drive behaviour.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examples of Plugins in real Claude Code usage. Ask the room which of the three maps to a pain point in their own repos.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framing for Plugins. Tie each why bullet to a measurable outcome the sponsor cares about. This scenario is the business requirement in lab ticket OHUB-305.</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VS Code. Run Lab 5 live using the Lab Guide. Keep the acceptance criteria visible and tick them off with the room. Have the solutions branch ready if the demo drifts.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as a single workflow. Instructions are the foundation; plugins are the delivery vehicle. Emphasise that each mechanism works on its own, and plugins only matter once you share across repos.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decision table in design reviews. The most common anti-pattern is stuffing procedures into CLAUDE.md; move them into skills so they load only when needed.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concrete commitments. Point participants to the Lab Guide and the official Claude Code documentation for skills, subagents, MCP and plugins.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E1D"/>
        </a:solidFill>
        <a:effectLst/>
      </p:bgPr>
    </p:bg>
    <p:spTree>
      <p:nvGrpSpPr>
        <p:cNvPr id="1" name=""/>
        <p:cNvGrpSpPr/>
        <p:nvPr/>
      </p:nvGrpSpPr>
      <p:grpSpPr>
        <a:xfrm>
          <a:off x="0" y="0"/>
          <a:ext cx="0" cy="0"/>
          <a:chOff x="0" y="0"/>
          <a:chExt cx="0" cy="0"/>
        </a:xfrm>
      </p:grpSpPr>
      <p:pic>
        <p:nvPicPr>
          <p:cNvPr id="2" name="Image 0" descr="Decorative starburst"/>
          <p:cNvPicPr>
            <a:picLocks noChangeAspect="1"/>
          </p:cNvPicPr>
          <p:nvPr/>
        </p:nvPicPr>
        <p:blipFill>
          <a:blip r:embed="rId3"/>
          <a:srcRect/>
          <a:stretch/>
        </p:blipFill>
        <p:spPr>
          <a:xfrm>
            <a:off x="7645400" y="1143000"/>
            <a:ext cx="3937000" cy="3937000"/>
          </a:xfrm>
          <a:prstGeom prst="rect">
            <a:avLst/>
          </a:prstGeom>
        </p:spPr>
      </p:pic>
      <p:sp>
        <p:nvSpPr>
          <p:cNvPr id="3" name="Text 0"/>
          <p:cNvSpPr/>
          <p:nvPr/>
        </p:nvSpPr>
        <p:spPr>
          <a:xfrm>
            <a:off x="812800" y="173102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300" dirty="0">
                <a:solidFill>
                  <a:srgbClr val="D97757"/>
                </a:solidFill>
                <a:latin typeface="Inter" pitchFamily="34" charset="0"/>
                <a:ea typeface="Inter" pitchFamily="34" charset="-122"/>
                <a:cs typeface="Inter" pitchFamily="34" charset="-120"/>
              </a:rPr>
              <a:t>MODULE 7</a:t>
            </a:r>
            <a:endParaRPr lang="en-US" sz="1500" dirty="0"/>
          </a:p>
        </p:txBody>
      </p:sp>
      <p:sp>
        <p:nvSpPr>
          <p:cNvPr id="4" name="Text 1"/>
          <p:cNvSpPr/>
          <p:nvPr/>
        </p:nvSpPr>
        <p:spPr>
          <a:xfrm>
            <a:off x="812800" y="2251720"/>
            <a:ext cx="6867525" cy="1732260"/>
          </a:xfrm>
          <a:prstGeom prst="rect">
            <a:avLst/>
          </a:prstGeom>
          <a:noFill/>
          <a:ln/>
        </p:spPr>
        <p:txBody>
          <a:bodyPr wrap="square" lIns="0" tIns="0" rIns="0" bIns="0" rtlCol="0" anchor="t">
            <a:normAutofit/>
          </a:bodyPr>
          <a:lstStyle/>
          <a:p>
            <a:pPr marL="0" indent="0" algn="l">
              <a:lnSpc>
                <a:spcPts val="6720"/>
              </a:lnSpc>
              <a:buNone/>
            </a:pPr>
            <a:r>
              <a:rPr lang="en-US" sz="6400" b="1" dirty="0">
                <a:solidFill>
                  <a:srgbClr val="F4F1EA"/>
                </a:solidFill>
                <a:latin typeface="Source Serif 4" pitchFamily="34" charset="0"/>
                <a:ea typeface="Source Serif 4" pitchFamily="34" charset="-122"/>
                <a:cs typeface="Source Serif 4" pitchFamily="34" charset="-120"/>
              </a:rPr>
              <a:t>Extending Claude Code</a:t>
            </a:r>
            <a:endParaRPr lang="en-US" sz="6400" dirty="0"/>
          </a:p>
        </p:txBody>
      </p:sp>
      <p:sp>
        <p:nvSpPr>
          <p:cNvPr id="5" name="Text 2"/>
          <p:cNvSpPr/>
          <p:nvPr/>
        </p:nvSpPr>
        <p:spPr>
          <a:xfrm>
            <a:off x="812800" y="4212580"/>
            <a:ext cx="6540500" cy="34543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DB7AB"/>
                </a:solidFill>
                <a:latin typeface="Inter" pitchFamily="34" charset="0"/>
                <a:ea typeface="Inter" pitchFamily="34" charset="-122"/>
                <a:cs typeface="Inter" pitchFamily="34" charset="-120"/>
              </a:rPr>
              <a:t>Instructions · Skills · Subagents · MCP · Plugins</a:t>
            </a:r>
            <a:endParaRPr lang="en-US" sz="1800" dirty="0"/>
          </a:p>
        </p:txBody>
      </p:sp>
      <p:sp>
        <p:nvSpPr>
          <p:cNvPr id="6" name="Shape 3"/>
          <p:cNvSpPr/>
          <p:nvPr/>
        </p:nvSpPr>
        <p:spPr>
          <a:xfrm>
            <a:off x="812800" y="4786610"/>
            <a:ext cx="1551533" cy="340320"/>
          </a:xfrm>
          <a:prstGeom prst="roundRect">
            <a:avLst>
              <a:gd name="adj" fmla="val 50000"/>
            </a:avLst>
          </a:prstGeom>
          <a:solidFill>
            <a:srgbClr val="D97757"/>
          </a:solidFill>
          <a:ln/>
        </p:spPr>
      </p:sp>
      <p:sp>
        <p:nvSpPr>
          <p:cNvPr id="7" name="Text 4"/>
          <p:cNvSpPr/>
          <p:nvPr/>
        </p:nvSpPr>
        <p:spPr>
          <a:xfrm>
            <a:off x="952500" y="4850110"/>
            <a:ext cx="132293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E1D"/>
                </a:solidFill>
                <a:latin typeface="Inter" pitchFamily="34" charset="0"/>
                <a:ea typeface="Inter" pitchFamily="34" charset="-122"/>
                <a:cs typeface="Inter" pitchFamily="34" charset="-120"/>
              </a:rPr>
              <a:t>Lab 1 · OHUB-301</a:t>
            </a:r>
            <a:endParaRPr lang="en-US" sz="1200" dirty="0"/>
          </a:p>
        </p:txBody>
      </p:sp>
      <p:sp>
        <p:nvSpPr>
          <p:cNvPr id="8" name="Shape 5"/>
          <p:cNvSpPr/>
          <p:nvPr/>
        </p:nvSpPr>
        <p:spPr>
          <a:xfrm>
            <a:off x="2465933" y="4786610"/>
            <a:ext cx="1612454" cy="340320"/>
          </a:xfrm>
          <a:prstGeom prst="roundRect">
            <a:avLst>
              <a:gd name="adj" fmla="val 50000"/>
            </a:avLst>
          </a:prstGeom>
          <a:solidFill>
            <a:srgbClr val="D97757"/>
          </a:solidFill>
          <a:ln/>
        </p:spPr>
      </p:sp>
      <p:sp>
        <p:nvSpPr>
          <p:cNvPr id="9" name="Text 6"/>
          <p:cNvSpPr/>
          <p:nvPr/>
        </p:nvSpPr>
        <p:spPr>
          <a:xfrm>
            <a:off x="2605633" y="4850110"/>
            <a:ext cx="138385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E1D"/>
                </a:solidFill>
                <a:latin typeface="Inter" pitchFamily="34" charset="0"/>
                <a:ea typeface="Inter" pitchFamily="34" charset="-122"/>
                <a:cs typeface="Inter" pitchFamily="34" charset="-120"/>
              </a:rPr>
              <a:t>Lab 2 · OHUB-302</a:t>
            </a:r>
            <a:endParaRPr lang="en-US" sz="1200" dirty="0"/>
          </a:p>
        </p:txBody>
      </p:sp>
      <p:sp>
        <p:nvSpPr>
          <p:cNvPr id="10" name="Shape 7"/>
          <p:cNvSpPr/>
          <p:nvPr/>
        </p:nvSpPr>
        <p:spPr>
          <a:xfrm>
            <a:off x="4179987" y="4786610"/>
            <a:ext cx="1616472" cy="340320"/>
          </a:xfrm>
          <a:prstGeom prst="roundRect">
            <a:avLst>
              <a:gd name="adj" fmla="val 50000"/>
            </a:avLst>
          </a:prstGeom>
          <a:solidFill>
            <a:srgbClr val="D97757"/>
          </a:solidFill>
          <a:ln/>
        </p:spPr>
      </p:sp>
      <p:sp>
        <p:nvSpPr>
          <p:cNvPr id="11" name="Text 8"/>
          <p:cNvSpPr/>
          <p:nvPr/>
        </p:nvSpPr>
        <p:spPr>
          <a:xfrm>
            <a:off x="4319687" y="4850110"/>
            <a:ext cx="138787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E1D"/>
                </a:solidFill>
                <a:latin typeface="Inter" pitchFamily="34" charset="0"/>
                <a:ea typeface="Inter" pitchFamily="34" charset="-122"/>
                <a:cs typeface="Inter" pitchFamily="34" charset="-120"/>
              </a:rPr>
              <a:t>Lab 3 · OHUB-303</a:t>
            </a:r>
            <a:endParaRPr lang="en-US" sz="1200" dirty="0"/>
          </a:p>
        </p:txBody>
      </p:sp>
      <p:sp>
        <p:nvSpPr>
          <p:cNvPr id="12" name="Shape 9"/>
          <p:cNvSpPr/>
          <p:nvPr/>
        </p:nvSpPr>
        <p:spPr>
          <a:xfrm>
            <a:off x="5898059" y="4786610"/>
            <a:ext cx="1625650" cy="340320"/>
          </a:xfrm>
          <a:prstGeom prst="roundRect">
            <a:avLst>
              <a:gd name="adj" fmla="val 50000"/>
            </a:avLst>
          </a:prstGeom>
          <a:solidFill>
            <a:srgbClr val="D97757"/>
          </a:solidFill>
          <a:ln/>
        </p:spPr>
      </p:sp>
      <p:sp>
        <p:nvSpPr>
          <p:cNvPr id="13" name="Text 10"/>
          <p:cNvSpPr/>
          <p:nvPr/>
        </p:nvSpPr>
        <p:spPr>
          <a:xfrm>
            <a:off x="6037759" y="4850110"/>
            <a:ext cx="139705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E1D"/>
                </a:solidFill>
                <a:latin typeface="Inter" pitchFamily="34" charset="0"/>
                <a:ea typeface="Inter" pitchFamily="34" charset="-122"/>
                <a:cs typeface="Inter" pitchFamily="34" charset="-120"/>
              </a:rPr>
              <a:t>Lab 4 · OHUB-304</a:t>
            </a:r>
            <a:endParaRPr lang="en-US" sz="1200" dirty="0"/>
          </a:p>
        </p:txBody>
      </p:sp>
      <p:sp>
        <p:nvSpPr>
          <p:cNvPr id="14" name="Shape 11"/>
          <p:cNvSpPr/>
          <p:nvPr/>
        </p:nvSpPr>
        <p:spPr>
          <a:xfrm>
            <a:off x="7625308" y="4786610"/>
            <a:ext cx="1609229" cy="340320"/>
          </a:xfrm>
          <a:prstGeom prst="roundRect">
            <a:avLst>
              <a:gd name="adj" fmla="val 50000"/>
            </a:avLst>
          </a:prstGeom>
          <a:solidFill>
            <a:srgbClr val="D97757"/>
          </a:solidFill>
          <a:ln/>
        </p:spPr>
      </p:sp>
      <p:sp>
        <p:nvSpPr>
          <p:cNvPr id="15" name="Text 12"/>
          <p:cNvSpPr/>
          <p:nvPr/>
        </p:nvSpPr>
        <p:spPr>
          <a:xfrm>
            <a:off x="7765008" y="4850110"/>
            <a:ext cx="138062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E1D"/>
                </a:solidFill>
                <a:latin typeface="Inter" pitchFamily="34" charset="0"/>
                <a:ea typeface="Inter" pitchFamily="34" charset="-122"/>
                <a:cs typeface="Inter" pitchFamily="34" charset="-120"/>
              </a:rPr>
              <a:t>Lab 5 · OHUB-305</a:t>
            </a:r>
            <a:endParaRPr lang="en-US" sz="1200" dirty="0"/>
          </a:p>
        </p:txBody>
      </p:sp>
      <p:sp>
        <p:nvSpPr>
          <p:cNvPr id="16" name="Text 1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DB7AB"/>
                </a:solidFill>
                <a:latin typeface="Inter" pitchFamily="34" charset="0"/>
                <a:ea typeface="Inter" pitchFamily="34" charset="-122"/>
                <a:cs typeface="Inter" pitchFamily="34" charset="-120"/>
              </a:rPr>
              <a:t>Enterprise Enablement Track · Hands-on in Claude Code for VS Code</a:t>
            </a:r>
            <a:endParaRPr lang="en-US" sz="1200" dirty="0"/>
          </a:p>
        </p:txBody>
      </p:sp>
      <p:pic>
        <p:nvPicPr>
          <p:cNvPr id="17" name="Picture 16">
            <a:extLst>
              <a:ext uri="{FF2B5EF4-FFF2-40B4-BE49-F238E27FC236}">
                <a16:creationId xmlns:a16="http://schemas.microsoft.com/office/drawing/2014/main" id="{586C86CD-B710-9AE5-2E76-1499C91E2025}"/>
              </a:ext>
            </a:extLst>
          </p:cNvPr>
          <p:cNvPicPr>
            <a:picLocks noChangeAspect="1"/>
          </p:cNvPicPr>
          <p:nvPr/>
        </p:nvPicPr>
        <p:blipFill>
          <a:blip r:embed="rId4"/>
          <a:stretch>
            <a:fillRect/>
          </a:stretch>
        </p:blipFill>
        <p:spPr>
          <a:xfrm>
            <a:off x="8319198" y="304864"/>
            <a:ext cx="3497759" cy="7547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E1D"/>
                </a:solidFill>
                <a:latin typeface="Source Serif 4" pitchFamily="34" charset="0"/>
                <a:ea typeface="Source Serif 4" pitchFamily="34" charset="-122"/>
                <a:cs typeface="Source Serif 4" pitchFamily="34" charset="-120"/>
              </a:rPr>
              <a:t>Module 7 agenda</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77330"/>
          <a:ext cx="10553700" cy="2636044"/>
        </p:xfrm>
        <a:graphic>
          <a:graphicData uri="http://schemas.openxmlformats.org/drawingml/2006/table">
            <a:tbl>
              <a:tblPr/>
              <a:tblGrid>
                <a:gridCol w="738759">
                  <a:extLst>
                    <a:ext uri="{9D8B030D-6E8A-4147-A177-3AD203B41FA5}">
                      <a16:colId xmlns:a16="http://schemas.microsoft.com/office/drawing/2014/main" val="20000"/>
                    </a:ext>
                  </a:extLst>
                </a:gridCol>
                <a:gridCol w="1899666">
                  <a:extLst>
                    <a:ext uri="{9D8B030D-6E8A-4147-A177-3AD203B41FA5}">
                      <a16:colId xmlns:a16="http://schemas.microsoft.com/office/drawing/2014/main" val="20001"/>
                    </a:ext>
                  </a:extLst>
                </a:gridCol>
                <a:gridCol w="4960239">
                  <a:extLst>
                    <a:ext uri="{9D8B030D-6E8A-4147-A177-3AD203B41FA5}">
                      <a16:colId xmlns:a16="http://schemas.microsoft.com/office/drawing/2014/main" val="20002"/>
                    </a:ext>
                  </a:extLst>
                </a:gridCol>
                <a:gridCol w="1688592">
                  <a:extLst>
                    <a:ext uri="{9D8B030D-6E8A-4147-A177-3AD203B41FA5}">
                      <a16:colId xmlns:a16="http://schemas.microsoft.com/office/drawing/2014/main" val="20003"/>
                    </a:ext>
                  </a:extLst>
                </a:gridCol>
                <a:gridCol w="1266444">
                  <a:extLst>
                    <a:ext uri="{9D8B030D-6E8A-4147-A177-3AD203B41FA5}">
                      <a16:colId xmlns:a16="http://schemas.microsoft.com/office/drawing/2014/main" val="20004"/>
                    </a:ext>
                  </a:extLst>
                </a:gridCol>
              </a:tblGrid>
              <a:tr h="439341">
                <a:tc>
                  <a:txBody>
                    <a:bodyPr/>
                    <a:lstStyle/>
                    <a:p>
                      <a:pPr marL="0" indent="0">
                        <a:lnSpc>
                          <a:spcPts val="2240"/>
                        </a:lnSpc>
                        <a:buNone/>
                      </a:pPr>
                      <a:r>
                        <a:rPr lang="en-US" sz="1600" b="1" dirty="0">
                          <a:solidFill>
                            <a:srgbClr val="5E5D59"/>
                          </a:solidFill>
                          <a:latin typeface="Inter" pitchFamily="34" charset="0"/>
                          <a:ea typeface="Inter" pitchFamily="34" charset="-122"/>
                          <a:cs typeface="Inter" pitchFamily="34" charset="-120"/>
                        </a:rPr>
                        <a:t>#</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B9B9B5"/>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B9B9B5"/>
                      </a:solidFill>
                      <a:prstDash val="solid"/>
                      <a:round/>
                      <a:headEnd type="none" w="med" len="med"/>
                      <a:tailEnd type="none" w="med" len="med"/>
                    </a:lnB>
                    <a:solidFill>
                      <a:srgbClr val="E8E7E3"/>
                    </a:solidFill>
                  </a:tcPr>
                </a:tc>
                <a:tc>
                  <a:txBody>
                    <a:bodyPr/>
                    <a:lstStyle/>
                    <a:p>
                      <a:pPr marL="0" indent="0">
                        <a:lnSpc>
                          <a:spcPts val="2240"/>
                        </a:lnSpc>
                        <a:buNone/>
                      </a:pPr>
                      <a:r>
                        <a:rPr lang="en-US" sz="1600" b="1" dirty="0">
                          <a:solidFill>
                            <a:srgbClr val="5E5D59"/>
                          </a:solidFill>
                          <a:latin typeface="Inter" pitchFamily="34" charset="0"/>
                          <a:ea typeface="Inter" pitchFamily="34" charset="-122"/>
                          <a:cs typeface="Inter" pitchFamily="34" charset="-120"/>
                        </a:rPr>
                        <a:t>Topic</a:t>
                      </a:r>
                      <a:endParaRPr lang="en-US" sz="1600" dirty="0">
                        <a:latin typeface="Inter" charset="0"/>
                        <a:ea typeface="Inter" charset="0"/>
                        <a:cs typeface="Inter" charset="0"/>
                      </a:endParaRPr>
                    </a:p>
                  </a:txBody>
                  <a:tcPr marL="71120" marR="71120" marT="71120" marB="71120">
                    <a:lnL w="12700" cap="flat" cmpd="sng" algn="ctr">
                      <a:solidFill>
                        <a:srgbClr val="B9B9B5"/>
                      </a:solidFill>
                      <a:prstDash val="solid"/>
                      <a:round/>
                      <a:headEnd type="none" w="med" len="med"/>
                      <a:tailEnd type="none" w="med" len="med"/>
                    </a:lnL>
                    <a:lnR w="12700" cap="flat" cmpd="sng" algn="ctr">
                      <a:solidFill>
                        <a:srgbClr val="B9B9B5"/>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B9B9B5"/>
                      </a:solidFill>
                      <a:prstDash val="solid"/>
                      <a:round/>
                      <a:headEnd type="none" w="med" len="med"/>
                      <a:tailEnd type="none" w="med" len="med"/>
                    </a:lnB>
                    <a:solidFill>
                      <a:srgbClr val="E8E7E3"/>
                    </a:solidFill>
                  </a:tcPr>
                </a:tc>
                <a:tc>
                  <a:txBody>
                    <a:bodyPr/>
                    <a:lstStyle/>
                    <a:p>
                      <a:pPr marL="0" indent="0">
                        <a:lnSpc>
                          <a:spcPts val="2240"/>
                        </a:lnSpc>
                        <a:buNone/>
                      </a:pPr>
                      <a:r>
                        <a:rPr lang="en-US" sz="1600" b="1" dirty="0">
                          <a:solidFill>
                            <a:srgbClr val="5E5D59"/>
                          </a:solidFill>
                          <a:latin typeface="Inter" pitchFamily="34" charset="0"/>
                          <a:ea typeface="Inter" pitchFamily="34" charset="-122"/>
                          <a:cs typeface="Inter" pitchFamily="34" charset="-120"/>
                        </a:rPr>
                        <a:t>Core question</a:t>
                      </a:r>
                      <a:endParaRPr lang="en-US" sz="1600" dirty="0">
                        <a:latin typeface="Inter" charset="0"/>
                        <a:ea typeface="Inter" charset="0"/>
                        <a:cs typeface="Inter" charset="0"/>
                      </a:endParaRPr>
                    </a:p>
                  </a:txBody>
                  <a:tcPr marL="71120" marR="71120" marT="71120" marB="71120">
                    <a:lnL w="12700" cap="flat" cmpd="sng" algn="ctr">
                      <a:solidFill>
                        <a:srgbClr val="B9B9B5"/>
                      </a:solidFill>
                      <a:prstDash val="solid"/>
                      <a:round/>
                      <a:headEnd type="none" w="med" len="med"/>
                      <a:tailEnd type="none" w="med" len="med"/>
                    </a:lnL>
                    <a:lnR w="12700" cap="flat" cmpd="sng" algn="ctr">
                      <a:solidFill>
                        <a:srgbClr val="B9B9B5"/>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B9B9B5"/>
                      </a:solidFill>
                      <a:prstDash val="solid"/>
                      <a:round/>
                      <a:headEnd type="none" w="med" len="med"/>
                      <a:tailEnd type="none" w="med" len="med"/>
                    </a:lnB>
                    <a:solidFill>
                      <a:srgbClr val="E8E7E3"/>
                    </a:solidFill>
                  </a:tcPr>
                </a:tc>
                <a:tc>
                  <a:txBody>
                    <a:bodyPr/>
                    <a:lstStyle/>
                    <a:p>
                      <a:pPr marL="0" indent="0">
                        <a:lnSpc>
                          <a:spcPts val="2240"/>
                        </a:lnSpc>
                        <a:buNone/>
                      </a:pPr>
                      <a:r>
                        <a:rPr lang="en-US" sz="1600" b="1" dirty="0">
                          <a:solidFill>
                            <a:srgbClr val="5E5D59"/>
                          </a:solidFill>
                          <a:latin typeface="Inter" pitchFamily="34" charset="0"/>
                          <a:ea typeface="Inter" pitchFamily="34" charset="-122"/>
                          <a:cs typeface="Inter" pitchFamily="34" charset="-120"/>
                        </a:rPr>
                        <a:t>Lab ticket</a:t>
                      </a:r>
                      <a:endParaRPr lang="en-US" sz="1600" dirty="0">
                        <a:latin typeface="Inter" charset="0"/>
                        <a:ea typeface="Inter" charset="0"/>
                        <a:cs typeface="Inter" charset="0"/>
                      </a:endParaRPr>
                    </a:p>
                  </a:txBody>
                  <a:tcPr marL="71120" marR="71120" marT="71120" marB="71120">
                    <a:lnL w="12700" cap="flat" cmpd="sng" algn="ctr">
                      <a:solidFill>
                        <a:srgbClr val="B9B9B5"/>
                      </a:solidFill>
                      <a:prstDash val="solid"/>
                      <a:round/>
                      <a:headEnd type="none" w="med" len="med"/>
                      <a:tailEnd type="none" w="med" len="med"/>
                    </a:lnL>
                    <a:lnR w="12700" cap="flat" cmpd="sng" algn="ctr">
                      <a:solidFill>
                        <a:srgbClr val="B9B9B5"/>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B9B9B5"/>
                      </a:solidFill>
                      <a:prstDash val="solid"/>
                      <a:round/>
                      <a:headEnd type="none" w="med" len="med"/>
                      <a:tailEnd type="none" w="med" len="med"/>
                    </a:lnB>
                    <a:solidFill>
                      <a:srgbClr val="E8E7E3"/>
                    </a:solidFill>
                  </a:tcPr>
                </a:tc>
                <a:tc>
                  <a:txBody>
                    <a:bodyPr/>
                    <a:lstStyle/>
                    <a:p>
                      <a:pPr marL="0" indent="0">
                        <a:lnSpc>
                          <a:spcPts val="2240"/>
                        </a:lnSpc>
                        <a:buNone/>
                      </a:pPr>
                      <a:r>
                        <a:rPr lang="en-US" sz="1600" b="1" dirty="0">
                          <a:solidFill>
                            <a:srgbClr val="5E5D59"/>
                          </a:solidFill>
                          <a:latin typeface="Inter" pitchFamily="34" charset="0"/>
                          <a:ea typeface="Inter" pitchFamily="34" charset="-122"/>
                          <a:cs typeface="Inter" pitchFamily="34" charset="-120"/>
                        </a:rPr>
                        <a:t>Lab time</a:t>
                      </a:r>
                      <a:endParaRPr lang="en-US" sz="1600" dirty="0">
                        <a:latin typeface="Inter" charset="0"/>
                        <a:ea typeface="Inter" charset="0"/>
                        <a:cs typeface="Inter" charset="0"/>
                      </a:endParaRPr>
                    </a:p>
                  </a:txBody>
                  <a:tcPr marL="71120" marR="71120" marT="71120" marB="71120">
                    <a:lnL w="12700" cap="flat" cmpd="sng" algn="ctr">
                      <a:solidFill>
                        <a:srgbClr val="B9B9B5"/>
                      </a:solidFill>
                      <a:prstDash val="solid"/>
                      <a:round/>
                      <a:headEnd type="none" w="med" len="med"/>
                      <a:tailEnd type="none" w="med" len="med"/>
                    </a:lnL>
                    <a:lnR w="12700" cap="flat" cmpd="sng" algn="ctr">
                      <a:solidFill>
                        <a:srgbClr val="B9B9B5"/>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B9B9B5"/>
                      </a:solidFill>
                      <a:prstDash val="solid"/>
                      <a:round/>
                      <a:headEnd type="none" w="med" len="med"/>
                      <a:tailEnd type="none" w="med" len="med"/>
                    </a:lnB>
                    <a:solidFill>
                      <a:srgbClr val="E8E7E3"/>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B4532F"/>
                          </a:solidFill>
                          <a:latin typeface="Inter" pitchFamily="34" charset="0"/>
                          <a:ea typeface="Inter" pitchFamily="34" charset="-122"/>
                          <a:cs typeface="Inter" pitchFamily="34" charset="-120"/>
                        </a:rPr>
                        <a:t>01</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B9B9B5"/>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1F1E1D"/>
                          </a:solidFill>
                          <a:latin typeface="Inter" pitchFamily="34" charset="0"/>
                          <a:ea typeface="Inter" pitchFamily="34" charset="-122"/>
                          <a:cs typeface="Inter" pitchFamily="34" charset="-120"/>
                        </a:rPr>
                        <a:t>Instructions</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B9B9B5"/>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1F1E1D"/>
                          </a:solidFill>
                          <a:latin typeface="Inter" pitchFamily="34" charset="0"/>
                          <a:ea typeface="Inter" pitchFamily="34" charset="-122"/>
                          <a:cs typeface="Inter" pitchFamily="34" charset="-120"/>
                        </a:rPr>
                        <a:t>How should Claude behave in this repo?</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B9B9B5"/>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1F1E1D"/>
                          </a:solidFill>
                          <a:latin typeface="Inter" pitchFamily="34" charset="0"/>
                          <a:ea typeface="Inter" pitchFamily="34" charset="-122"/>
                          <a:cs typeface="Inter" pitchFamily="34" charset="-120"/>
                        </a:rPr>
                        <a:t>OHUB-301</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B9B9B5"/>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1F1E1D"/>
                          </a:solidFill>
                          <a:latin typeface="Inter" pitchFamily="34" charset="0"/>
                          <a:ea typeface="Inter" pitchFamily="34" charset="-122"/>
                          <a:cs typeface="Inter" pitchFamily="34" charset="-120"/>
                        </a:rPr>
                        <a:t>20 min</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B9B9B5"/>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B4532F"/>
                          </a:solidFill>
                          <a:latin typeface="Inter" pitchFamily="34" charset="0"/>
                          <a:ea typeface="Inter" pitchFamily="34" charset="-122"/>
                          <a:cs typeface="Inter" pitchFamily="34" charset="-120"/>
                        </a:rPr>
                        <a:t>02</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1F1E1D"/>
                          </a:solidFill>
                          <a:latin typeface="Inter" pitchFamily="34" charset="0"/>
                          <a:ea typeface="Inter" pitchFamily="34" charset="-122"/>
                          <a:cs typeface="Inter" pitchFamily="34" charset="-120"/>
                        </a:rPr>
                        <a:t>Skills</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1F1E1D"/>
                          </a:solidFill>
                          <a:latin typeface="Inter" pitchFamily="34" charset="0"/>
                          <a:ea typeface="Inter" pitchFamily="34" charset="-122"/>
                          <a:cs typeface="Inter" pitchFamily="34" charset="-120"/>
                        </a:rPr>
                        <a:t>How do we do this task, every time?</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1F1E1D"/>
                          </a:solidFill>
                          <a:latin typeface="Inter" pitchFamily="34" charset="0"/>
                          <a:ea typeface="Inter" pitchFamily="34" charset="-122"/>
                          <a:cs typeface="Inter" pitchFamily="34" charset="-120"/>
                        </a:rPr>
                        <a:t>OHUB-302</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1F1E1D"/>
                          </a:solidFill>
                          <a:latin typeface="Inter" pitchFamily="34" charset="0"/>
                          <a:ea typeface="Inter" pitchFamily="34" charset="-122"/>
                          <a:cs typeface="Inter" pitchFamily="34" charset="-120"/>
                        </a:rPr>
                        <a:t>25 min</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extLst>
                  <a:ext uri="{0D108BD9-81ED-4DB2-BD59-A6C34878D82A}">
                    <a16:rowId xmlns:a16="http://schemas.microsoft.com/office/drawing/2014/main" val="10002"/>
                  </a:ext>
                </a:extLst>
              </a:tr>
              <a:tr h="439341">
                <a:tc>
                  <a:txBody>
                    <a:bodyPr/>
                    <a:lstStyle/>
                    <a:p>
                      <a:pPr marL="0" indent="0">
                        <a:lnSpc>
                          <a:spcPts val="2240"/>
                        </a:lnSpc>
                        <a:buNone/>
                      </a:pPr>
                      <a:r>
                        <a:rPr lang="en-US" sz="1600" dirty="0">
                          <a:solidFill>
                            <a:srgbClr val="B4532F"/>
                          </a:solidFill>
                          <a:latin typeface="Inter" pitchFamily="34" charset="0"/>
                          <a:ea typeface="Inter" pitchFamily="34" charset="-122"/>
                          <a:cs typeface="Inter" pitchFamily="34" charset="-120"/>
                        </a:rPr>
                        <a:t>03</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1F1E1D"/>
                          </a:solidFill>
                          <a:latin typeface="Inter" pitchFamily="34" charset="0"/>
                          <a:ea typeface="Inter" pitchFamily="34" charset="-122"/>
                          <a:cs typeface="Inter" pitchFamily="34" charset="-120"/>
                        </a:rPr>
                        <a:t>Subagents</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1F1E1D"/>
                          </a:solidFill>
                          <a:latin typeface="Inter" pitchFamily="34" charset="0"/>
                          <a:ea typeface="Inter" pitchFamily="34" charset="-122"/>
                          <a:cs typeface="Inter" pitchFamily="34" charset="-120"/>
                        </a:rPr>
                        <a:t>Who does this work, with what access?</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1F1E1D"/>
                          </a:solidFill>
                          <a:latin typeface="Inter" pitchFamily="34" charset="0"/>
                          <a:ea typeface="Inter" pitchFamily="34" charset="-122"/>
                          <a:cs typeface="Inter" pitchFamily="34" charset="-120"/>
                        </a:rPr>
                        <a:t>OHUB-303</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1F1E1D"/>
                          </a:solidFill>
                          <a:latin typeface="Inter" pitchFamily="34" charset="0"/>
                          <a:ea typeface="Inter" pitchFamily="34" charset="-122"/>
                          <a:cs typeface="Inter" pitchFamily="34" charset="-120"/>
                        </a:rPr>
                        <a:t>25 min</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extLst>
                  <a:ext uri="{0D108BD9-81ED-4DB2-BD59-A6C34878D82A}">
                    <a16:rowId xmlns:a16="http://schemas.microsoft.com/office/drawing/2014/main" val="10003"/>
                  </a:ext>
                </a:extLst>
              </a:tr>
              <a:tr h="439341">
                <a:tc>
                  <a:txBody>
                    <a:bodyPr/>
                    <a:lstStyle/>
                    <a:p>
                      <a:pPr marL="0" indent="0">
                        <a:lnSpc>
                          <a:spcPts val="2240"/>
                        </a:lnSpc>
                        <a:buNone/>
                      </a:pPr>
                      <a:r>
                        <a:rPr lang="en-US" sz="1600" dirty="0">
                          <a:solidFill>
                            <a:srgbClr val="B4532F"/>
                          </a:solidFill>
                          <a:latin typeface="Inter" pitchFamily="34" charset="0"/>
                          <a:ea typeface="Inter" pitchFamily="34" charset="-122"/>
                          <a:cs typeface="Inter" pitchFamily="34" charset="-120"/>
                        </a:rPr>
                        <a:t>04</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1F1E1D"/>
                          </a:solidFill>
                          <a:latin typeface="Inter" pitchFamily="34" charset="0"/>
                          <a:ea typeface="Inter" pitchFamily="34" charset="-122"/>
                          <a:cs typeface="Inter" pitchFamily="34" charset="-120"/>
                        </a:rPr>
                        <a:t>MCP</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1F1E1D"/>
                          </a:solidFill>
                          <a:latin typeface="Inter" pitchFamily="34" charset="0"/>
                          <a:ea typeface="Inter" pitchFamily="34" charset="-122"/>
                          <a:cs typeface="Inter" pitchFamily="34" charset="-120"/>
                        </a:rPr>
                        <a:t>Which systems can Claude reach?</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1F1E1D"/>
                          </a:solidFill>
                          <a:latin typeface="Inter" pitchFamily="34" charset="0"/>
                          <a:ea typeface="Inter" pitchFamily="34" charset="-122"/>
                          <a:cs typeface="Inter" pitchFamily="34" charset="-120"/>
                        </a:rPr>
                        <a:t>OHUB-304</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1F1E1D"/>
                          </a:solidFill>
                          <a:latin typeface="Inter" pitchFamily="34" charset="0"/>
                          <a:ea typeface="Inter" pitchFamily="34" charset="-122"/>
                          <a:cs typeface="Inter" pitchFamily="34" charset="-120"/>
                        </a:rPr>
                        <a:t>30 min</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extLst>
                  <a:ext uri="{0D108BD9-81ED-4DB2-BD59-A6C34878D82A}">
                    <a16:rowId xmlns:a16="http://schemas.microsoft.com/office/drawing/2014/main" val="10004"/>
                  </a:ext>
                </a:extLst>
              </a:tr>
              <a:tr h="439341">
                <a:tc>
                  <a:txBody>
                    <a:bodyPr/>
                    <a:lstStyle/>
                    <a:p>
                      <a:pPr marL="0" indent="0">
                        <a:lnSpc>
                          <a:spcPts val="2240"/>
                        </a:lnSpc>
                        <a:buNone/>
                      </a:pPr>
                      <a:r>
                        <a:rPr lang="en-US" sz="1600" dirty="0">
                          <a:solidFill>
                            <a:srgbClr val="B4532F"/>
                          </a:solidFill>
                          <a:latin typeface="Inter" pitchFamily="34" charset="0"/>
                          <a:ea typeface="Inter" pitchFamily="34" charset="-122"/>
                          <a:cs typeface="Inter" pitchFamily="34" charset="-120"/>
                        </a:rPr>
                        <a:t>05</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1F1E1D"/>
                          </a:solidFill>
                          <a:latin typeface="Inter" pitchFamily="34" charset="0"/>
                          <a:ea typeface="Inter" pitchFamily="34" charset="-122"/>
                          <a:cs typeface="Inter" pitchFamily="34" charset="-120"/>
                        </a:rPr>
                        <a:t>Plugins</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1F1E1D"/>
                          </a:solidFill>
                          <a:latin typeface="Inter" pitchFamily="34" charset="0"/>
                          <a:ea typeface="Inter" pitchFamily="34" charset="-122"/>
                          <a:cs typeface="Inter" pitchFamily="34" charset="-120"/>
                        </a:rPr>
                        <a:t>How do we ship all of it to every repo?</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1F1E1D"/>
                          </a:solidFill>
                          <a:latin typeface="Inter" pitchFamily="34" charset="0"/>
                          <a:ea typeface="Inter" pitchFamily="34" charset="-122"/>
                          <a:cs typeface="Inter" pitchFamily="34" charset="-120"/>
                        </a:rPr>
                        <a:t>OHUB-305</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1F1E1D"/>
                          </a:solidFill>
                          <a:latin typeface="Inter" pitchFamily="34" charset="0"/>
                          <a:ea typeface="Inter" pitchFamily="34" charset="-122"/>
                          <a:cs typeface="Inter" pitchFamily="34" charset="-120"/>
                        </a:rPr>
                        <a:t>25 min</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
          <p:cNvSpPr/>
          <p:nvPr/>
        </p:nvSpPr>
        <p:spPr>
          <a:xfrm>
            <a:off x="812800" y="4518174"/>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E5D59"/>
                </a:solidFill>
                <a:latin typeface="Inter" pitchFamily="34" charset="0"/>
                <a:ea typeface="Inter" pitchFamily="34" charset="-122"/>
                <a:cs typeface="Inter" pitchFamily="34" charset="-120"/>
              </a:rPr>
              <a:t>Every lab: Jira ticket → business requirement → tasks → acceptance criteria → live build in VS Code.</a:t>
            </a:r>
            <a:endParaRPr lang="en-US" sz="1400" dirty="0"/>
          </a:p>
        </p:txBody>
      </p:sp>
      <p:sp>
        <p:nvSpPr>
          <p:cNvPr id="5" name="Text 2"/>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Module 7 · Extending Claude Code</a:t>
            </a:r>
            <a:endParaRPr lang="en-US" sz="1200" dirty="0"/>
          </a:p>
        </p:txBody>
      </p:sp>
      <p:sp>
        <p:nvSpPr>
          <p:cNvPr id="6" name="Text 3"/>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5D59"/>
                </a:solidFill>
                <a:latin typeface="Inter" pitchFamily="34" charset="0"/>
                <a:ea typeface="Inter" pitchFamily="34" charset="-122"/>
                <a:cs typeface="Inter" pitchFamily="34" charset="-120"/>
              </a:rPr>
              <a:t>Agenda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66080"/>
          </a:xfrm>
          <a:prstGeom prst="rect">
            <a:avLst/>
          </a:prstGeom>
          <a:noFill/>
          <a:ln/>
        </p:spPr>
        <p:txBody>
          <a:bodyPr wrap="square" lIns="0" tIns="0" rIns="0" bIns="0" rtlCol="0" anchor="t">
            <a:normAutofit/>
          </a:bodyPr>
          <a:lstStyle/>
          <a:p>
            <a:pPr marL="0" indent="0" algn="l">
              <a:lnSpc>
                <a:spcPts val="3465"/>
              </a:lnSpc>
              <a:buNone/>
            </a:pPr>
            <a:r>
              <a:rPr lang="en-US" sz="3150" b="1" dirty="0">
                <a:solidFill>
                  <a:srgbClr val="1F1E1D"/>
                </a:solidFill>
                <a:latin typeface="Source Serif 4" pitchFamily="34" charset="0"/>
                <a:ea typeface="Source Serif 4" pitchFamily="34" charset="-122"/>
                <a:cs typeface="Source Serif 4" pitchFamily="34" charset="-120"/>
              </a:rPr>
              <a:t>Five mechanisms, one extension model</a:t>
            </a:r>
            <a:endParaRPr lang="en-US" sz="31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70980"/>
          <a:ext cx="10553700" cy="3720802"/>
        </p:xfrm>
        <a:graphic>
          <a:graphicData uri="http://schemas.openxmlformats.org/drawingml/2006/table">
            <a:tbl>
              <a:tblPr/>
              <a:tblGrid>
                <a:gridCol w="1776365">
                  <a:extLst>
                    <a:ext uri="{9D8B030D-6E8A-4147-A177-3AD203B41FA5}">
                      <a16:colId xmlns:a16="http://schemas.microsoft.com/office/drawing/2014/main" val="20000"/>
                    </a:ext>
                  </a:extLst>
                </a:gridCol>
                <a:gridCol w="2716794">
                  <a:extLst>
                    <a:ext uri="{9D8B030D-6E8A-4147-A177-3AD203B41FA5}">
                      <a16:colId xmlns:a16="http://schemas.microsoft.com/office/drawing/2014/main" val="20001"/>
                    </a:ext>
                  </a:extLst>
                </a:gridCol>
                <a:gridCol w="3552731">
                  <a:extLst>
                    <a:ext uri="{9D8B030D-6E8A-4147-A177-3AD203B41FA5}">
                      <a16:colId xmlns:a16="http://schemas.microsoft.com/office/drawing/2014/main" val="20002"/>
                    </a:ext>
                  </a:extLst>
                </a:gridCol>
                <a:gridCol w="2507810">
                  <a:extLst>
                    <a:ext uri="{9D8B030D-6E8A-4147-A177-3AD203B41FA5}">
                      <a16:colId xmlns:a16="http://schemas.microsoft.com/office/drawing/2014/main" val="20003"/>
                    </a:ext>
                  </a:extLst>
                </a:gridCol>
              </a:tblGrid>
              <a:tr h="433437">
                <a:tc>
                  <a:txBody>
                    <a:bodyPr/>
                    <a:lstStyle/>
                    <a:p>
                      <a:pPr marL="0" indent="0">
                        <a:lnSpc>
                          <a:spcPts val="2205"/>
                        </a:lnSpc>
                        <a:buNone/>
                      </a:pPr>
                      <a:r>
                        <a:rPr lang="en-US" sz="1575" b="1" dirty="0">
                          <a:solidFill>
                            <a:srgbClr val="5E5D59"/>
                          </a:solidFill>
                          <a:latin typeface="Inter" pitchFamily="34" charset="0"/>
                          <a:ea typeface="Inter" pitchFamily="34" charset="-122"/>
                          <a:cs typeface="Inter" pitchFamily="34" charset="-120"/>
                        </a:rPr>
                        <a:t>Mechanism</a:t>
                      </a:r>
                      <a:endParaRPr lang="en-US" sz="1575" dirty="0">
                        <a:latin typeface="Inter" charset="0"/>
                        <a:ea typeface="Inter" charset="0"/>
                        <a:cs typeface="Inter" charset="0"/>
                      </a:endParaRPr>
                    </a:p>
                  </a:txBody>
                  <a:tcPr marL="70009" marR="70009" marT="70009" marB="70009">
                    <a:lnL w="12700" cap="flat" cmpd="sng" algn="ctr">
                      <a:solidFill>
                        <a:srgbClr val="C0BEB8"/>
                      </a:solidFill>
                      <a:prstDash val="solid"/>
                      <a:round/>
                      <a:headEnd type="none" w="med" len="med"/>
                      <a:tailEnd type="none" w="med" len="med"/>
                    </a:lnL>
                    <a:lnR w="12700" cap="flat" cmpd="sng" algn="ctr">
                      <a:solidFill>
                        <a:srgbClr val="B2B1AA"/>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B2B1AA"/>
                      </a:solidFill>
                      <a:prstDash val="solid"/>
                      <a:round/>
                      <a:headEnd type="none" w="med" len="med"/>
                      <a:tailEnd type="none" w="med" len="med"/>
                    </a:lnB>
                    <a:solidFill>
                      <a:srgbClr val="DEDDD5"/>
                    </a:solidFill>
                  </a:tcPr>
                </a:tc>
                <a:tc>
                  <a:txBody>
                    <a:bodyPr/>
                    <a:lstStyle/>
                    <a:p>
                      <a:pPr marL="0" indent="0">
                        <a:lnSpc>
                          <a:spcPts val="2205"/>
                        </a:lnSpc>
                        <a:buNone/>
                      </a:pPr>
                      <a:r>
                        <a:rPr lang="en-US" sz="1575" b="1" dirty="0">
                          <a:solidFill>
                            <a:srgbClr val="5E5D59"/>
                          </a:solidFill>
                          <a:latin typeface="Inter" pitchFamily="34" charset="0"/>
                          <a:ea typeface="Inter" pitchFamily="34" charset="-122"/>
                          <a:cs typeface="Inter" pitchFamily="34" charset="-120"/>
                        </a:rPr>
                        <a:t>Loads</a:t>
                      </a:r>
                      <a:endParaRPr lang="en-US" sz="1575" dirty="0">
                        <a:latin typeface="Inter" charset="0"/>
                        <a:ea typeface="Inter" charset="0"/>
                        <a:cs typeface="Inter" charset="0"/>
                      </a:endParaRPr>
                    </a:p>
                  </a:txBody>
                  <a:tcPr marL="70009" marR="70009" marT="70009" marB="70009">
                    <a:lnL w="12700" cap="flat" cmpd="sng" algn="ctr">
                      <a:solidFill>
                        <a:srgbClr val="B2B1AA"/>
                      </a:solidFill>
                      <a:prstDash val="solid"/>
                      <a:round/>
                      <a:headEnd type="none" w="med" len="med"/>
                      <a:tailEnd type="none" w="med" len="med"/>
                    </a:lnL>
                    <a:lnR w="12700" cap="flat" cmpd="sng" algn="ctr">
                      <a:solidFill>
                        <a:srgbClr val="B2B1AA"/>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B2B1AA"/>
                      </a:solidFill>
                      <a:prstDash val="solid"/>
                      <a:round/>
                      <a:headEnd type="none" w="med" len="med"/>
                      <a:tailEnd type="none" w="med" len="med"/>
                    </a:lnB>
                    <a:solidFill>
                      <a:srgbClr val="DEDDD5"/>
                    </a:solidFill>
                  </a:tcPr>
                </a:tc>
                <a:tc>
                  <a:txBody>
                    <a:bodyPr/>
                    <a:lstStyle/>
                    <a:p>
                      <a:pPr marL="0" indent="0">
                        <a:lnSpc>
                          <a:spcPts val="2205"/>
                        </a:lnSpc>
                        <a:buNone/>
                      </a:pPr>
                      <a:r>
                        <a:rPr lang="en-US" sz="1575" b="1" dirty="0">
                          <a:solidFill>
                            <a:srgbClr val="5E5D59"/>
                          </a:solidFill>
                          <a:latin typeface="Inter" pitchFamily="34" charset="0"/>
                          <a:ea typeface="Inter" pitchFamily="34" charset="-122"/>
                          <a:cs typeface="Inter" pitchFamily="34" charset="-120"/>
                        </a:rPr>
                        <a:t>Lives in</a:t>
                      </a:r>
                      <a:endParaRPr lang="en-US" sz="1575" dirty="0">
                        <a:latin typeface="Inter" charset="0"/>
                        <a:ea typeface="Inter" charset="0"/>
                        <a:cs typeface="Inter" charset="0"/>
                      </a:endParaRPr>
                    </a:p>
                  </a:txBody>
                  <a:tcPr marL="70009" marR="70009" marT="70009" marB="70009">
                    <a:lnL w="12700" cap="flat" cmpd="sng" algn="ctr">
                      <a:solidFill>
                        <a:srgbClr val="B2B1AA"/>
                      </a:solidFill>
                      <a:prstDash val="solid"/>
                      <a:round/>
                      <a:headEnd type="none" w="med" len="med"/>
                      <a:tailEnd type="none" w="med" len="med"/>
                    </a:lnL>
                    <a:lnR w="12700" cap="flat" cmpd="sng" algn="ctr">
                      <a:solidFill>
                        <a:srgbClr val="B2B1AA"/>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B2B1AA"/>
                      </a:solidFill>
                      <a:prstDash val="solid"/>
                      <a:round/>
                      <a:headEnd type="none" w="med" len="med"/>
                      <a:tailEnd type="none" w="med" len="med"/>
                    </a:lnB>
                    <a:solidFill>
                      <a:srgbClr val="DEDDD5"/>
                    </a:solidFill>
                  </a:tcPr>
                </a:tc>
                <a:tc>
                  <a:txBody>
                    <a:bodyPr/>
                    <a:lstStyle/>
                    <a:p>
                      <a:pPr marL="0" indent="0">
                        <a:lnSpc>
                          <a:spcPts val="2205"/>
                        </a:lnSpc>
                        <a:buNone/>
                      </a:pPr>
                      <a:r>
                        <a:rPr lang="en-US" sz="1575" b="1" dirty="0">
                          <a:solidFill>
                            <a:srgbClr val="5E5D59"/>
                          </a:solidFill>
                          <a:latin typeface="Inter" pitchFamily="34" charset="0"/>
                          <a:ea typeface="Inter" pitchFamily="34" charset="-122"/>
                          <a:cs typeface="Inter" pitchFamily="34" charset="-120"/>
                        </a:rPr>
                        <a:t>Scope</a:t>
                      </a:r>
                      <a:endParaRPr lang="en-US" sz="1575" dirty="0">
                        <a:latin typeface="Inter" charset="0"/>
                        <a:ea typeface="Inter" charset="0"/>
                        <a:cs typeface="Inter" charset="0"/>
                      </a:endParaRPr>
                    </a:p>
                  </a:txBody>
                  <a:tcPr marL="70009" marR="70009" marT="70009" marB="70009">
                    <a:lnL w="12700" cap="flat" cmpd="sng" algn="ctr">
                      <a:solidFill>
                        <a:srgbClr val="B2B1AA"/>
                      </a:solidFill>
                      <a:prstDash val="solid"/>
                      <a:round/>
                      <a:headEnd type="none" w="med" len="med"/>
                      <a:tailEnd type="none" w="med" len="med"/>
                    </a:lnL>
                    <a:lnR w="12700" cap="flat" cmpd="sng" algn="ctr">
                      <a:solidFill>
                        <a:srgbClr val="B2B1AA"/>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B2B1AA"/>
                      </a:solidFill>
                      <a:prstDash val="solid"/>
                      <a:round/>
                      <a:headEnd type="none" w="med" len="med"/>
                      <a:tailEnd type="none" w="med" len="med"/>
                    </a:lnB>
                    <a:solidFill>
                      <a:srgbClr val="DEDDD5"/>
                    </a:solidFill>
                  </a:tcPr>
                </a:tc>
                <a:extLst>
                  <a:ext uri="{0D108BD9-81ED-4DB2-BD59-A6C34878D82A}">
                    <a16:rowId xmlns:a16="http://schemas.microsoft.com/office/drawing/2014/main" val="10000"/>
                  </a:ext>
                </a:extLst>
              </a:tr>
              <a:tr h="713432">
                <a:tc>
                  <a:txBody>
                    <a:bodyPr/>
                    <a:lstStyle/>
                    <a:p>
                      <a:pPr marL="0" indent="0">
                        <a:lnSpc>
                          <a:spcPts val="2205"/>
                        </a:lnSpc>
                        <a:buNone/>
                      </a:pPr>
                      <a:r>
                        <a:rPr lang="en-US" sz="1575" dirty="0">
                          <a:solidFill>
                            <a:srgbClr val="B4532F"/>
                          </a:solidFill>
                          <a:latin typeface="Inter" pitchFamily="34" charset="0"/>
                          <a:ea typeface="Inter" pitchFamily="34" charset="-122"/>
                          <a:cs typeface="Inter" pitchFamily="34" charset="-120"/>
                        </a:rPr>
                        <a:t>Instructions</a:t>
                      </a:r>
                      <a:endParaRPr lang="en-US" sz="1575" dirty="0">
                        <a:latin typeface="Inter" charset="0"/>
                        <a:ea typeface="Inter" charset="0"/>
                        <a:cs typeface="Inter" charset="0"/>
                      </a:endParaRPr>
                    </a:p>
                  </a:txBody>
                  <a:tcPr marL="70009" marR="70009" marT="70009" marB="70009">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B2B1AA"/>
                      </a:solidFill>
                      <a:prstDash val="solid"/>
                      <a:round/>
                      <a:headEnd type="none" w="med" len="med"/>
                      <a:tailEnd type="none" w="med" len="med"/>
                    </a:lnT>
                    <a:lnB w="12700" cap="flat" cmpd="sng" algn="ctr">
                      <a:solidFill>
                        <a:srgbClr val="C0BEB8"/>
                      </a:solidFill>
                      <a:prstDash val="solid"/>
                      <a:round/>
                      <a:headEnd type="none" w="med" len="med"/>
                      <a:tailEnd type="none" w="med" len="med"/>
                    </a:lnB>
                  </a:tcPr>
                </a:tc>
                <a:tc>
                  <a:txBody>
                    <a:bodyPr/>
                    <a:lstStyle/>
                    <a:p>
                      <a:pPr marL="0" indent="0">
                        <a:lnSpc>
                          <a:spcPts val="2205"/>
                        </a:lnSpc>
                        <a:buNone/>
                      </a:pPr>
                      <a:r>
                        <a:rPr lang="en-US" sz="1575" dirty="0">
                          <a:solidFill>
                            <a:srgbClr val="1F1E1D"/>
                          </a:solidFill>
                          <a:latin typeface="Inter" pitchFamily="34" charset="0"/>
                          <a:ea typeface="Inter" pitchFamily="34" charset="-122"/>
                          <a:cs typeface="Inter" pitchFamily="34" charset="-120"/>
                        </a:rPr>
                        <a:t>Every session, automatically</a:t>
                      </a:r>
                      <a:endParaRPr lang="en-US" sz="1575" dirty="0">
                        <a:latin typeface="Inter" charset="0"/>
                        <a:ea typeface="Inter" charset="0"/>
                        <a:cs typeface="Inter" charset="0"/>
                      </a:endParaRPr>
                    </a:p>
                  </a:txBody>
                  <a:tcPr marL="70009" marR="70009" marT="70009" marB="70009">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B2B1AA"/>
                      </a:solidFill>
                      <a:prstDash val="solid"/>
                      <a:round/>
                      <a:headEnd type="none" w="med" len="med"/>
                      <a:tailEnd type="none" w="med" len="med"/>
                    </a:lnT>
                    <a:lnB w="12700" cap="flat" cmpd="sng" algn="ctr">
                      <a:solidFill>
                        <a:srgbClr val="C0BEB8"/>
                      </a:solidFill>
                      <a:prstDash val="solid"/>
                      <a:round/>
                      <a:headEnd type="none" w="med" len="med"/>
                      <a:tailEnd type="none" w="med" len="med"/>
                    </a:lnB>
                  </a:tcPr>
                </a:tc>
                <a:tc>
                  <a:txBody>
                    <a:bodyPr/>
                    <a:lstStyle/>
                    <a:p>
                      <a:pPr marL="0" indent="0">
                        <a:lnSpc>
                          <a:spcPts val="2205"/>
                        </a:lnSpc>
                        <a:buNone/>
                      </a:pPr>
                      <a:r>
                        <a:rPr lang="en-US" sz="1575" dirty="0">
                          <a:solidFill>
                            <a:srgbClr val="1F1E1D"/>
                          </a:solidFill>
                          <a:latin typeface="Inter" pitchFamily="34" charset="0"/>
                          <a:ea typeface="Inter" pitchFamily="34" charset="-122"/>
                          <a:cs typeface="Inter" pitchFamily="34" charset="-120"/>
                        </a:rPr>
                        <a:t>CLAUDE.md</a:t>
                      </a:r>
                      <a:endParaRPr lang="en-US" sz="1575" dirty="0">
                        <a:latin typeface="Inter" charset="0"/>
                        <a:ea typeface="Inter" charset="0"/>
                        <a:cs typeface="Inter" charset="0"/>
                      </a:endParaRPr>
                    </a:p>
                  </a:txBody>
                  <a:tcPr marL="70009" marR="70009" marT="70009" marB="70009">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B2B1AA"/>
                      </a:solidFill>
                      <a:prstDash val="solid"/>
                      <a:round/>
                      <a:headEnd type="none" w="med" len="med"/>
                      <a:tailEnd type="none" w="med" len="med"/>
                    </a:lnT>
                    <a:lnB w="12700" cap="flat" cmpd="sng" algn="ctr">
                      <a:solidFill>
                        <a:srgbClr val="C0BEB8"/>
                      </a:solidFill>
                      <a:prstDash val="solid"/>
                      <a:round/>
                      <a:headEnd type="none" w="med" len="med"/>
                      <a:tailEnd type="none" w="med" len="med"/>
                    </a:lnB>
                  </a:tcPr>
                </a:tc>
                <a:tc>
                  <a:txBody>
                    <a:bodyPr/>
                    <a:lstStyle/>
                    <a:p>
                      <a:pPr marL="0" indent="0">
                        <a:lnSpc>
                          <a:spcPts val="2205"/>
                        </a:lnSpc>
                        <a:buNone/>
                      </a:pPr>
                      <a:r>
                        <a:rPr lang="en-US" sz="1575" dirty="0">
                          <a:solidFill>
                            <a:srgbClr val="1F1E1D"/>
                          </a:solidFill>
                          <a:latin typeface="Inter" pitchFamily="34" charset="0"/>
                          <a:ea typeface="Inter" pitchFamily="34" charset="-122"/>
                          <a:cs typeface="Inter" pitchFamily="34" charset="-120"/>
                        </a:rPr>
                        <a:t>Org · user · project · folder</a:t>
                      </a:r>
                      <a:endParaRPr lang="en-US" sz="1575" dirty="0">
                        <a:latin typeface="Inter" charset="0"/>
                        <a:ea typeface="Inter" charset="0"/>
                        <a:cs typeface="Inter" charset="0"/>
                      </a:endParaRPr>
                    </a:p>
                  </a:txBody>
                  <a:tcPr marL="70009" marR="70009" marT="70009" marB="70009">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B2B1AA"/>
                      </a:solidFill>
                      <a:prstDash val="solid"/>
                      <a:round/>
                      <a:headEnd type="none" w="med" len="med"/>
                      <a:tailEnd type="none" w="med" len="med"/>
                    </a:lnT>
                    <a:lnB w="12700" cap="flat" cmpd="sng" algn="ctr">
                      <a:solidFill>
                        <a:srgbClr val="C0BEB8"/>
                      </a:solidFill>
                      <a:prstDash val="solid"/>
                      <a:round/>
                      <a:headEnd type="none" w="med" len="med"/>
                      <a:tailEnd type="none" w="med" len="med"/>
                    </a:lnB>
                  </a:tcPr>
                </a:tc>
                <a:extLst>
                  <a:ext uri="{0D108BD9-81ED-4DB2-BD59-A6C34878D82A}">
                    <a16:rowId xmlns:a16="http://schemas.microsoft.com/office/drawing/2014/main" val="10001"/>
                  </a:ext>
                </a:extLst>
              </a:tr>
              <a:tr h="713482">
                <a:tc>
                  <a:txBody>
                    <a:bodyPr/>
                    <a:lstStyle/>
                    <a:p>
                      <a:pPr marL="0" indent="0">
                        <a:lnSpc>
                          <a:spcPts val="2205"/>
                        </a:lnSpc>
                        <a:buNone/>
                      </a:pPr>
                      <a:r>
                        <a:rPr lang="en-US" sz="1575" dirty="0">
                          <a:solidFill>
                            <a:srgbClr val="B4532F"/>
                          </a:solidFill>
                          <a:latin typeface="Inter" pitchFamily="34" charset="0"/>
                          <a:ea typeface="Inter" pitchFamily="34" charset="-122"/>
                          <a:cs typeface="Inter" pitchFamily="34" charset="-120"/>
                        </a:rPr>
                        <a:t>Skills</a:t>
                      </a:r>
                      <a:endParaRPr lang="en-US" sz="1575" dirty="0">
                        <a:latin typeface="Inter" charset="0"/>
                        <a:ea typeface="Inter" charset="0"/>
                        <a:cs typeface="Inter" charset="0"/>
                      </a:endParaRPr>
                    </a:p>
                  </a:txBody>
                  <a:tcPr marL="70009" marR="70009" marT="70009" marB="70009">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0BEB8"/>
                      </a:solidFill>
                      <a:prstDash val="solid"/>
                      <a:round/>
                      <a:headEnd type="none" w="med" len="med"/>
                      <a:tailEnd type="none" w="med" len="med"/>
                    </a:lnB>
                  </a:tcPr>
                </a:tc>
                <a:tc>
                  <a:txBody>
                    <a:bodyPr/>
                    <a:lstStyle/>
                    <a:p>
                      <a:pPr marL="0" indent="0">
                        <a:lnSpc>
                          <a:spcPts val="2205"/>
                        </a:lnSpc>
                        <a:buNone/>
                      </a:pPr>
                      <a:r>
                        <a:rPr lang="en-US" sz="1575" dirty="0">
                          <a:solidFill>
                            <a:srgbClr val="1F1E1D"/>
                          </a:solidFill>
                          <a:latin typeface="Inter" pitchFamily="34" charset="0"/>
                          <a:ea typeface="Inter" pitchFamily="34" charset="-122"/>
                          <a:cs typeface="Inter" pitchFamily="34" charset="-120"/>
                        </a:rPr>
                        <a:t>On demand, when relevant</a:t>
                      </a:r>
                      <a:endParaRPr lang="en-US" sz="1575" dirty="0">
                        <a:latin typeface="Inter" charset="0"/>
                        <a:ea typeface="Inter" charset="0"/>
                        <a:cs typeface="Inter" charset="0"/>
                      </a:endParaRPr>
                    </a:p>
                  </a:txBody>
                  <a:tcPr marL="70009" marR="70009" marT="70009" marB="70009">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0BEB8"/>
                      </a:solidFill>
                      <a:prstDash val="solid"/>
                      <a:round/>
                      <a:headEnd type="none" w="med" len="med"/>
                      <a:tailEnd type="none" w="med" len="med"/>
                    </a:lnB>
                  </a:tcPr>
                </a:tc>
                <a:tc>
                  <a:txBody>
                    <a:bodyPr/>
                    <a:lstStyle/>
                    <a:p>
                      <a:pPr marL="0" indent="0">
                        <a:lnSpc>
                          <a:spcPts val="2205"/>
                        </a:lnSpc>
                        <a:buNone/>
                      </a:pPr>
                      <a:r>
                        <a:rPr lang="en-US" sz="1575" dirty="0">
                          <a:solidFill>
                            <a:srgbClr val="1F1E1D"/>
                          </a:solidFill>
                          <a:latin typeface="Inter" pitchFamily="34" charset="0"/>
                          <a:ea typeface="Inter" pitchFamily="34" charset="-122"/>
                          <a:cs typeface="Inter" pitchFamily="34" charset="-120"/>
                        </a:rPr>
                        <a:t>.claude/skills/&lt;name&gt;/SKILL.md</a:t>
                      </a:r>
                      <a:endParaRPr lang="en-US" sz="1575" dirty="0">
                        <a:latin typeface="Inter" charset="0"/>
                        <a:ea typeface="Inter" charset="0"/>
                        <a:cs typeface="Inter" charset="0"/>
                      </a:endParaRPr>
                    </a:p>
                  </a:txBody>
                  <a:tcPr marL="70009" marR="70009" marT="70009" marB="70009">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0BEB8"/>
                      </a:solidFill>
                      <a:prstDash val="solid"/>
                      <a:round/>
                      <a:headEnd type="none" w="med" len="med"/>
                      <a:tailEnd type="none" w="med" len="med"/>
                    </a:lnB>
                  </a:tcPr>
                </a:tc>
                <a:tc>
                  <a:txBody>
                    <a:bodyPr/>
                    <a:lstStyle/>
                    <a:p>
                      <a:pPr marL="0" indent="0">
                        <a:lnSpc>
                          <a:spcPts val="2205"/>
                        </a:lnSpc>
                        <a:buNone/>
                      </a:pPr>
                      <a:r>
                        <a:rPr lang="en-US" sz="1575" dirty="0">
                          <a:solidFill>
                            <a:srgbClr val="1F1E1D"/>
                          </a:solidFill>
                          <a:latin typeface="Inter" pitchFamily="34" charset="0"/>
                          <a:ea typeface="Inter" pitchFamily="34" charset="-122"/>
                          <a:cs typeface="Inter" pitchFamily="34" charset="-120"/>
                        </a:rPr>
                        <a:t>User · project · plugin</a:t>
                      </a:r>
                      <a:endParaRPr lang="en-US" sz="1575" dirty="0">
                        <a:latin typeface="Inter" charset="0"/>
                        <a:ea typeface="Inter" charset="0"/>
                        <a:cs typeface="Inter" charset="0"/>
                      </a:endParaRPr>
                    </a:p>
                  </a:txBody>
                  <a:tcPr marL="70009" marR="70009" marT="70009" marB="70009">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0BEB8"/>
                      </a:solidFill>
                      <a:prstDash val="solid"/>
                      <a:round/>
                      <a:headEnd type="none" w="med" len="med"/>
                      <a:tailEnd type="none" w="med" len="med"/>
                    </a:lnB>
                  </a:tcPr>
                </a:tc>
                <a:extLst>
                  <a:ext uri="{0D108BD9-81ED-4DB2-BD59-A6C34878D82A}">
                    <a16:rowId xmlns:a16="http://schemas.microsoft.com/office/drawing/2014/main" val="10002"/>
                  </a:ext>
                </a:extLst>
              </a:tr>
              <a:tr h="713482">
                <a:tc>
                  <a:txBody>
                    <a:bodyPr/>
                    <a:lstStyle/>
                    <a:p>
                      <a:pPr marL="0" indent="0">
                        <a:lnSpc>
                          <a:spcPts val="2205"/>
                        </a:lnSpc>
                        <a:buNone/>
                      </a:pPr>
                      <a:r>
                        <a:rPr lang="en-US" sz="1575" dirty="0">
                          <a:solidFill>
                            <a:srgbClr val="B4532F"/>
                          </a:solidFill>
                          <a:latin typeface="Inter" pitchFamily="34" charset="0"/>
                          <a:ea typeface="Inter" pitchFamily="34" charset="-122"/>
                          <a:cs typeface="Inter" pitchFamily="34" charset="-120"/>
                        </a:rPr>
                        <a:t>Subagents</a:t>
                      </a:r>
                      <a:endParaRPr lang="en-US" sz="1575" dirty="0">
                        <a:latin typeface="Inter" charset="0"/>
                        <a:ea typeface="Inter" charset="0"/>
                        <a:cs typeface="Inter" charset="0"/>
                      </a:endParaRPr>
                    </a:p>
                  </a:txBody>
                  <a:tcPr marL="70009" marR="70009" marT="70009" marB="70009">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0BEB8"/>
                      </a:solidFill>
                      <a:prstDash val="solid"/>
                      <a:round/>
                      <a:headEnd type="none" w="med" len="med"/>
                      <a:tailEnd type="none" w="med" len="med"/>
                    </a:lnB>
                  </a:tcPr>
                </a:tc>
                <a:tc>
                  <a:txBody>
                    <a:bodyPr/>
                    <a:lstStyle/>
                    <a:p>
                      <a:pPr marL="0" indent="0">
                        <a:lnSpc>
                          <a:spcPts val="2205"/>
                        </a:lnSpc>
                        <a:buNone/>
                      </a:pPr>
                      <a:r>
                        <a:rPr lang="en-US" sz="1575" dirty="0">
                          <a:solidFill>
                            <a:srgbClr val="1F1E1D"/>
                          </a:solidFill>
                          <a:latin typeface="Inter" pitchFamily="34" charset="0"/>
                          <a:ea typeface="Inter" pitchFamily="34" charset="-122"/>
                          <a:cs typeface="Inter" pitchFamily="34" charset="-120"/>
                        </a:rPr>
                        <a:t>When delegated, in own context</a:t>
                      </a:r>
                      <a:endParaRPr lang="en-US" sz="1575" dirty="0">
                        <a:latin typeface="Inter" charset="0"/>
                        <a:ea typeface="Inter" charset="0"/>
                        <a:cs typeface="Inter" charset="0"/>
                      </a:endParaRPr>
                    </a:p>
                  </a:txBody>
                  <a:tcPr marL="70009" marR="70009" marT="70009" marB="70009">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0BEB8"/>
                      </a:solidFill>
                      <a:prstDash val="solid"/>
                      <a:round/>
                      <a:headEnd type="none" w="med" len="med"/>
                      <a:tailEnd type="none" w="med" len="med"/>
                    </a:lnB>
                  </a:tcPr>
                </a:tc>
                <a:tc>
                  <a:txBody>
                    <a:bodyPr/>
                    <a:lstStyle/>
                    <a:p>
                      <a:pPr marL="0" indent="0">
                        <a:lnSpc>
                          <a:spcPts val="2205"/>
                        </a:lnSpc>
                        <a:buNone/>
                      </a:pPr>
                      <a:r>
                        <a:rPr lang="en-US" sz="1575" dirty="0">
                          <a:solidFill>
                            <a:srgbClr val="1F1E1D"/>
                          </a:solidFill>
                          <a:latin typeface="Inter" pitchFamily="34" charset="0"/>
                          <a:ea typeface="Inter" pitchFamily="34" charset="-122"/>
                          <a:cs typeface="Inter" pitchFamily="34" charset="-120"/>
                        </a:rPr>
                        <a:t>.claude/agents/&lt;name&gt;.md</a:t>
                      </a:r>
                      <a:endParaRPr lang="en-US" sz="1575" dirty="0">
                        <a:latin typeface="Inter" charset="0"/>
                        <a:ea typeface="Inter" charset="0"/>
                        <a:cs typeface="Inter" charset="0"/>
                      </a:endParaRPr>
                    </a:p>
                  </a:txBody>
                  <a:tcPr marL="70009" marR="70009" marT="70009" marB="70009">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0BEB8"/>
                      </a:solidFill>
                      <a:prstDash val="solid"/>
                      <a:round/>
                      <a:headEnd type="none" w="med" len="med"/>
                      <a:tailEnd type="none" w="med" len="med"/>
                    </a:lnB>
                  </a:tcPr>
                </a:tc>
                <a:tc>
                  <a:txBody>
                    <a:bodyPr/>
                    <a:lstStyle/>
                    <a:p>
                      <a:pPr marL="0" indent="0">
                        <a:lnSpc>
                          <a:spcPts val="2205"/>
                        </a:lnSpc>
                        <a:buNone/>
                      </a:pPr>
                      <a:r>
                        <a:rPr lang="en-US" sz="1575" dirty="0">
                          <a:solidFill>
                            <a:srgbClr val="1F1E1D"/>
                          </a:solidFill>
                          <a:latin typeface="Inter" pitchFamily="34" charset="0"/>
                          <a:ea typeface="Inter" pitchFamily="34" charset="-122"/>
                          <a:cs typeface="Inter" pitchFamily="34" charset="-120"/>
                        </a:rPr>
                        <a:t>User · project · plugin</a:t>
                      </a:r>
                      <a:endParaRPr lang="en-US" sz="1575" dirty="0">
                        <a:latin typeface="Inter" charset="0"/>
                        <a:ea typeface="Inter" charset="0"/>
                        <a:cs typeface="Inter" charset="0"/>
                      </a:endParaRPr>
                    </a:p>
                  </a:txBody>
                  <a:tcPr marL="70009" marR="70009" marT="70009" marB="70009">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0BEB8"/>
                      </a:solidFill>
                      <a:prstDash val="solid"/>
                      <a:round/>
                      <a:headEnd type="none" w="med" len="med"/>
                      <a:tailEnd type="none" w="med" len="med"/>
                    </a:lnB>
                  </a:tcPr>
                </a:tc>
                <a:extLst>
                  <a:ext uri="{0D108BD9-81ED-4DB2-BD59-A6C34878D82A}">
                    <a16:rowId xmlns:a16="http://schemas.microsoft.com/office/drawing/2014/main" val="10003"/>
                  </a:ext>
                </a:extLst>
              </a:tr>
              <a:tr h="433487">
                <a:tc>
                  <a:txBody>
                    <a:bodyPr/>
                    <a:lstStyle/>
                    <a:p>
                      <a:pPr marL="0" indent="0">
                        <a:lnSpc>
                          <a:spcPts val="2205"/>
                        </a:lnSpc>
                        <a:buNone/>
                      </a:pPr>
                      <a:r>
                        <a:rPr lang="en-US" sz="1575" dirty="0">
                          <a:solidFill>
                            <a:srgbClr val="B4532F"/>
                          </a:solidFill>
                          <a:latin typeface="Inter" pitchFamily="34" charset="0"/>
                          <a:ea typeface="Inter" pitchFamily="34" charset="-122"/>
                          <a:cs typeface="Inter" pitchFamily="34" charset="-120"/>
                        </a:rPr>
                        <a:t>MCP</a:t>
                      </a:r>
                      <a:endParaRPr lang="en-US" sz="1575" dirty="0">
                        <a:latin typeface="Inter" charset="0"/>
                        <a:ea typeface="Inter" charset="0"/>
                        <a:cs typeface="Inter" charset="0"/>
                      </a:endParaRPr>
                    </a:p>
                  </a:txBody>
                  <a:tcPr marL="70009" marR="70009" marT="70009" marB="70009">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0BEB8"/>
                      </a:solidFill>
                      <a:prstDash val="solid"/>
                      <a:round/>
                      <a:headEnd type="none" w="med" len="med"/>
                      <a:tailEnd type="none" w="med" len="med"/>
                    </a:lnB>
                  </a:tcPr>
                </a:tc>
                <a:tc>
                  <a:txBody>
                    <a:bodyPr/>
                    <a:lstStyle/>
                    <a:p>
                      <a:pPr marL="0" indent="0">
                        <a:lnSpc>
                          <a:spcPts val="2205"/>
                        </a:lnSpc>
                        <a:buNone/>
                      </a:pPr>
                      <a:r>
                        <a:rPr lang="en-US" sz="1575" dirty="0">
                          <a:solidFill>
                            <a:srgbClr val="1F1E1D"/>
                          </a:solidFill>
                          <a:latin typeface="Inter" pitchFamily="34" charset="0"/>
                          <a:ea typeface="Inter" pitchFamily="34" charset="-122"/>
                          <a:cs typeface="Inter" pitchFamily="34" charset="-120"/>
                        </a:rPr>
                        <a:t>As tools, per session</a:t>
                      </a:r>
                      <a:endParaRPr lang="en-US" sz="1575" dirty="0">
                        <a:latin typeface="Inter" charset="0"/>
                        <a:ea typeface="Inter" charset="0"/>
                        <a:cs typeface="Inter" charset="0"/>
                      </a:endParaRPr>
                    </a:p>
                  </a:txBody>
                  <a:tcPr marL="70009" marR="70009" marT="70009" marB="70009">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0BEB8"/>
                      </a:solidFill>
                      <a:prstDash val="solid"/>
                      <a:round/>
                      <a:headEnd type="none" w="med" len="med"/>
                      <a:tailEnd type="none" w="med" len="med"/>
                    </a:lnB>
                  </a:tcPr>
                </a:tc>
                <a:tc>
                  <a:txBody>
                    <a:bodyPr/>
                    <a:lstStyle/>
                    <a:p>
                      <a:pPr marL="0" indent="0">
                        <a:lnSpc>
                          <a:spcPts val="2205"/>
                        </a:lnSpc>
                        <a:buNone/>
                      </a:pPr>
                      <a:r>
                        <a:rPr lang="en-US" sz="1575" dirty="0">
                          <a:solidFill>
                            <a:srgbClr val="1F1E1D"/>
                          </a:solidFill>
                          <a:latin typeface="Inter" pitchFamily="34" charset="0"/>
                          <a:ea typeface="Inter" pitchFamily="34" charset="-122"/>
                          <a:cs typeface="Inter" pitchFamily="34" charset="-120"/>
                        </a:rPr>
                        <a:t>.mcp.json / claude mcp add</a:t>
                      </a:r>
                      <a:endParaRPr lang="en-US" sz="1575" dirty="0">
                        <a:latin typeface="Inter" charset="0"/>
                        <a:ea typeface="Inter" charset="0"/>
                        <a:cs typeface="Inter" charset="0"/>
                      </a:endParaRPr>
                    </a:p>
                  </a:txBody>
                  <a:tcPr marL="70009" marR="70009" marT="70009" marB="70009">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0BEB8"/>
                      </a:solidFill>
                      <a:prstDash val="solid"/>
                      <a:round/>
                      <a:headEnd type="none" w="med" len="med"/>
                      <a:tailEnd type="none" w="med" len="med"/>
                    </a:lnB>
                  </a:tcPr>
                </a:tc>
                <a:tc>
                  <a:txBody>
                    <a:bodyPr/>
                    <a:lstStyle/>
                    <a:p>
                      <a:pPr marL="0" indent="0">
                        <a:lnSpc>
                          <a:spcPts val="2205"/>
                        </a:lnSpc>
                        <a:buNone/>
                      </a:pPr>
                      <a:r>
                        <a:rPr lang="en-US" sz="1575" dirty="0">
                          <a:solidFill>
                            <a:srgbClr val="1F1E1D"/>
                          </a:solidFill>
                          <a:latin typeface="Inter" pitchFamily="34" charset="0"/>
                          <a:ea typeface="Inter" pitchFamily="34" charset="-122"/>
                          <a:cs typeface="Inter" pitchFamily="34" charset="-120"/>
                        </a:rPr>
                        <a:t>Local · project · user</a:t>
                      </a:r>
                      <a:endParaRPr lang="en-US" sz="1575" dirty="0">
                        <a:latin typeface="Inter" charset="0"/>
                        <a:ea typeface="Inter" charset="0"/>
                        <a:cs typeface="Inter" charset="0"/>
                      </a:endParaRPr>
                    </a:p>
                  </a:txBody>
                  <a:tcPr marL="70009" marR="70009" marT="70009" marB="70009">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0BEB8"/>
                      </a:solidFill>
                      <a:prstDash val="solid"/>
                      <a:round/>
                      <a:headEnd type="none" w="med" len="med"/>
                      <a:tailEnd type="none" w="med" len="med"/>
                    </a:lnB>
                  </a:tcPr>
                </a:tc>
                <a:extLst>
                  <a:ext uri="{0D108BD9-81ED-4DB2-BD59-A6C34878D82A}">
                    <a16:rowId xmlns:a16="http://schemas.microsoft.com/office/drawing/2014/main" val="10004"/>
                  </a:ext>
                </a:extLst>
              </a:tr>
              <a:tr h="713482">
                <a:tc>
                  <a:txBody>
                    <a:bodyPr/>
                    <a:lstStyle/>
                    <a:p>
                      <a:pPr marL="0" indent="0">
                        <a:lnSpc>
                          <a:spcPts val="2205"/>
                        </a:lnSpc>
                        <a:buNone/>
                      </a:pPr>
                      <a:r>
                        <a:rPr lang="en-US" sz="1575" dirty="0">
                          <a:solidFill>
                            <a:srgbClr val="B4532F"/>
                          </a:solidFill>
                          <a:latin typeface="Inter" pitchFamily="34" charset="0"/>
                          <a:ea typeface="Inter" pitchFamily="34" charset="-122"/>
                          <a:cs typeface="Inter" pitchFamily="34" charset="-120"/>
                        </a:rPr>
                        <a:t>Plugins</a:t>
                      </a:r>
                      <a:endParaRPr lang="en-US" sz="1575" dirty="0">
                        <a:latin typeface="Inter" charset="0"/>
                        <a:ea typeface="Inter" charset="0"/>
                        <a:cs typeface="Inter" charset="0"/>
                      </a:endParaRPr>
                    </a:p>
                  </a:txBody>
                  <a:tcPr marL="70009" marR="70009" marT="70009" marB="70009">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0BEB8"/>
                      </a:solidFill>
                      <a:prstDash val="solid"/>
                      <a:round/>
                      <a:headEnd type="none" w="med" len="med"/>
                      <a:tailEnd type="none" w="med" len="med"/>
                    </a:lnB>
                  </a:tcPr>
                </a:tc>
                <a:tc>
                  <a:txBody>
                    <a:bodyPr/>
                    <a:lstStyle/>
                    <a:p>
                      <a:pPr marL="0" indent="0">
                        <a:lnSpc>
                          <a:spcPts val="2205"/>
                        </a:lnSpc>
                        <a:buNone/>
                      </a:pPr>
                      <a:r>
                        <a:rPr lang="en-US" sz="1575" dirty="0">
                          <a:solidFill>
                            <a:srgbClr val="1F1E1D"/>
                          </a:solidFill>
                          <a:latin typeface="Inter" pitchFamily="34" charset="0"/>
                          <a:ea typeface="Inter" pitchFamily="34" charset="-122"/>
                          <a:cs typeface="Inter" pitchFamily="34" charset="-120"/>
                        </a:rPr>
                        <a:t>When installed and enabled</a:t>
                      </a:r>
                      <a:endParaRPr lang="en-US" sz="1575" dirty="0">
                        <a:latin typeface="Inter" charset="0"/>
                        <a:ea typeface="Inter" charset="0"/>
                        <a:cs typeface="Inter" charset="0"/>
                      </a:endParaRPr>
                    </a:p>
                  </a:txBody>
                  <a:tcPr marL="70009" marR="70009" marT="70009" marB="70009">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0BEB8"/>
                      </a:solidFill>
                      <a:prstDash val="solid"/>
                      <a:round/>
                      <a:headEnd type="none" w="med" len="med"/>
                      <a:tailEnd type="none" w="med" len="med"/>
                    </a:lnB>
                  </a:tcPr>
                </a:tc>
                <a:tc>
                  <a:txBody>
                    <a:bodyPr/>
                    <a:lstStyle/>
                    <a:p>
                      <a:pPr marL="0" indent="0">
                        <a:lnSpc>
                          <a:spcPts val="2205"/>
                        </a:lnSpc>
                        <a:buNone/>
                      </a:pPr>
                      <a:r>
                        <a:rPr lang="en-US" sz="1575" dirty="0">
                          <a:solidFill>
                            <a:srgbClr val="1F1E1D"/>
                          </a:solidFill>
                          <a:latin typeface="Inter" pitchFamily="34" charset="0"/>
                          <a:ea typeface="Inter" pitchFamily="34" charset="-122"/>
                          <a:cs typeface="Inter" pitchFamily="34" charset="-120"/>
                        </a:rPr>
                        <a:t>.claude-plugin/plugin.json</a:t>
                      </a:r>
                      <a:endParaRPr lang="en-US" sz="1575" dirty="0">
                        <a:latin typeface="Inter" charset="0"/>
                        <a:ea typeface="Inter" charset="0"/>
                        <a:cs typeface="Inter" charset="0"/>
                      </a:endParaRPr>
                    </a:p>
                  </a:txBody>
                  <a:tcPr marL="70009" marR="70009" marT="70009" marB="70009">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0BEB8"/>
                      </a:solidFill>
                      <a:prstDash val="solid"/>
                      <a:round/>
                      <a:headEnd type="none" w="med" len="med"/>
                      <a:tailEnd type="none" w="med" len="med"/>
                    </a:lnB>
                  </a:tcPr>
                </a:tc>
                <a:tc>
                  <a:txBody>
                    <a:bodyPr/>
                    <a:lstStyle/>
                    <a:p>
                      <a:pPr marL="0" indent="0">
                        <a:lnSpc>
                          <a:spcPts val="2205"/>
                        </a:lnSpc>
                        <a:buNone/>
                      </a:pPr>
                      <a:r>
                        <a:rPr lang="en-US" sz="1575" dirty="0">
                          <a:solidFill>
                            <a:srgbClr val="1F1E1D"/>
                          </a:solidFill>
                          <a:latin typeface="Inter" pitchFamily="34" charset="0"/>
                          <a:ea typeface="Inter" pitchFamily="34" charset="-122"/>
                          <a:cs typeface="Inter" pitchFamily="34" charset="-120"/>
                        </a:rPr>
                        <a:t>Marketplace</a:t>
                      </a:r>
                      <a:endParaRPr lang="en-US" sz="1575" dirty="0">
                        <a:latin typeface="Inter" charset="0"/>
                        <a:ea typeface="Inter" charset="0"/>
                        <a:cs typeface="Inter" charset="0"/>
                      </a:endParaRPr>
                    </a:p>
                  </a:txBody>
                  <a:tcPr marL="70009" marR="70009" marT="70009" marB="70009">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0BEB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
          <p:cNvSpPr/>
          <p:nvPr/>
        </p:nvSpPr>
        <p:spPr>
          <a:xfrm>
            <a:off x="812800" y="5596582"/>
            <a:ext cx="10883392" cy="27081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E5D59"/>
                </a:solidFill>
                <a:latin typeface="Inter" pitchFamily="34" charset="0"/>
                <a:ea typeface="Inter" pitchFamily="34" charset="-122"/>
                <a:cs typeface="Inter" pitchFamily="34" charset="-120"/>
              </a:rPr>
              <a:t>Rule of thumb: always-on rules go in instructions; everything else loads only when needed.</a:t>
            </a:r>
            <a:endParaRPr lang="en-US" sz="1400" dirty="0"/>
          </a:p>
        </p:txBody>
      </p:sp>
      <p:sp>
        <p:nvSpPr>
          <p:cNvPr id="5" name="Text 2"/>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Module 7 · Extending Claude Code</a:t>
            </a:r>
            <a:endParaRPr lang="en-US" sz="1200" dirty="0"/>
          </a:p>
        </p:txBody>
      </p:sp>
      <p:sp>
        <p:nvSpPr>
          <p:cNvPr id="6" name="Text 3"/>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5D59"/>
                </a:solidFill>
                <a:latin typeface="Inter" pitchFamily="34" charset="0"/>
                <a:ea typeface="Inter" pitchFamily="34" charset="-122"/>
                <a:cs typeface="Inter" pitchFamily="34" charset="-120"/>
              </a:rPr>
              <a:t>Overview</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1E1D"/>
        </a:solidFill>
        <a:effectLst/>
      </p:bgPr>
    </p:bg>
    <p:spTree>
      <p:nvGrpSpPr>
        <p:cNvPr id="1" name=""/>
        <p:cNvGrpSpPr/>
        <p:nvPr/>
      </p:nvGrpSpPr>
      <p:grpSpPr>
        <a:xfrm>
          <a:off x="0" y="0"/>
          <a:ext cx="0" cy="0"/>
          <a:chOff x="0" y="0"/>
          <a:chExt cx="0" cy="0"/>
        </a:xfrm>
      </p:grpSpPr>
      <p:pic>
        <p:nvPicPr>
          <p:cNvPr id="2" name="Image 0" descr="Decorative starburst"/>
          <p:cNvPicPr>
            <a:picLocks noChangeAspect="1"/>
          </p:cNvPicPr>
          <p:nvPr/>
        </p:nvPicPr>
        <p:blipFill>
          <a:blip r:embed="rId3"/>
          <a:srcRect/>
          <a:stretch/>
        </p:blipFill>
        <p:spPr>
          <a:xfrm>
            <a:off x="8458200" y="1587500"/>
            <a:ext cx="2921000" cy="2921000"/>
          </a:xfrm>
          <a:prstGeom prst="rect">
            <a:avLst/>
          </a:prstGeom>
        </p:spPr>
      </p:pic>
      <p:sp>
        <p:nvSpPr>
          <p:cNvPr id="3" name="Text 0"/>
          <p:cNvSpPr/>
          <p:nvPr/>
        </p:nvSpPr>
        <p:spPr>
          <a:xfrm>
            <a:off x="812800" y="170185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300" dirty="0">
                <a:solidFill>
                  <a:srgbClr val="D97757"/>
                </a:solidFill>
                <a:latin typeface="Inter" pitchFamily="34" charset="0"/>
                <a:ea typeface="Inter" pitchFamily="34" charset="-122"/>
                <a:cs typeface="Inter" pitchFamily="34" charset="-120"/>
              </a:rPr>
              <a:t>MODULE 7 · TOPIC 01</a:t>
            </a:r>
            <a:endParaRPr lang="en-US" sz="1400" dirty="0"/>
          </a:p>
        </p:txBody>
      </p:sp>
      <p:sp>
        <p:nvSpPr>
          <p:cNvPr id="4" name="Text 1"/>
          <p:cNvSpPr/>
          <p:nvPr/>
        </p:nvSpPr>
        <p:spPr>
          <a:xfrm>
            <a:off x="812800" y="2179340"/>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F4F1EA"/>
                </a:solidFill>
                <a:latin typeface="Source Serif 4" pitchFamily="34" charset="0"/>
                <a:ea typeface="Source Serif 4" pitchFamily="34" charset="-122"/>
                <a:cs typeface="Source Serif 4" pitchFamily="34" charset="-120"/>
              </a:rPr>
              <a:t>Instructions</a:t>
            </a:r>
            <a:endParaRPr lang="en-US" sz="8000" dirty="0"/>
          </a:p>
        </p:txBody>
      </p:sp>
      <p:sp>
        <p:nvSpPr>
          <p:cNvPr id="5" name="Text 2"/>
          <p:cNvSpPr/>
          <p:nvPr/>
        </p:nvSpPr>
        <p:spPr>
          <a:xfrm>
            <a:off x="812800" y="3423940"/>
            <a:ext cx="7063740" cy="98549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DB7AB"/>
                </a:solidFill>
                <a:latin typeface="Inter" pitchFamily="34" charset="0"/>
                <a:ea typeface="Inter" pitchFamily="34" charset="-122"/>
                <a:cs typeface="Inter" pitchFamily="34" charset="-120"/>
              </a:rPr>
              <a:t>Persistent, version-controlled guidance Claude loads into every session: your team's rules, commands and guardrails, written once.</a:t>
            </a:r>
            <a:endParaRPr lang="en-US" sz="1800" dirty="0"/>
          </a:p>
        </p:txBody>
      </p:sp>
      <p:sp>
        <p:nvSpPr>
          <p:cNvPr id="6" name="Shape 3"/>
          <p:cNvSpPr/>
          <p:nvPr/>
        </p:nvSpPr>
        <p:spPr>
          <a:xfrm>
            <a:off x="812800" y="4612630"/>
            <a:ext cx="2667000" cy="340320"/>
          </a:xfrm>
          <a:prstGeom prst="roundRect">
            <a:avLst>
              <a:gd name="adj" fmla="val 50000"/>
            </a:avLst>
          </a:prstGeom>
          <a:solidFill>
            <a:srgbClr val="D97757"/>
          </a:solidFill>
          <a:ln/>
        </p:spPr>
      </p:sp>
      <p:sp>
        <p:nvSpPr>
          <p:cNvPr id="7" name="Text 4"/>
          <p:cNvSpPr/>
          <p:nvPr/>
        </p:nvSpPr>
        <p:spPr>
          <a:xfrm>
            <a:off x="916686" y="4676130"/>
            <a:ext cx="2459228"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1E1D"/>
                </a:solidFill>
                <a:latin typeface="Inter" pitchFamily="34" charset="0"/>
                <a:ea typeface="Inter" pitchFamily="34" charset="-122"/>
                <a:cs typeface="Inter" pitchFamily="34" charset="-120"/>
              </a:rPr>
              <a:t>Live lab 1 · OHUB-301</a:t>
            </a:r>
            <a:endParaRPr lang="en-US" sz="1200" dirty="0"/>
          </a:p>
        </p:txBody>
      </p:sp>
      <p:sp>
        <p:nvSpPr>
          <p:cNvPr id="8" name="Text 5"/>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DB7AB"/>
                </a:solidFill>
                <a:latin typeface="Inter" pitchFamily="34" charset="0"/>
                <a:ea typeface="Inter" pitchFamily="34" charset="-122"/>
                <a:cs typeface="Inter" pitchFamily="34" charset="-120"/>
              </a:rPr>
              <a:t>Module 7 · Extending Claude Code</a:t>
            </a:r>
            <a:endParaRPr lang="en-US" sz="1200" dirty="0"/>
          </a:p>
        </p:txBody>
      </p:sp>
      <p:sp>
        <p:nvSpPr>
          <p:cNvPr id="9" name="Text 6"/>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DB7AB"/>
                </a:solidFill>
                <a:latin typeface="Inter" pitchFamily="34" charset="0"/>
                <a:ea typeface="Inter" pitchFamily="34" charset="-122"/>
                <a:cs typeface="Inter" pitchFamily="34" charset="-120"/>
              </a:rPr>
              <a:t>01 Instructions</a:t>
            </a:r>
            <a:endParaRPr lang="en-US" sz="1200" dirty="0"/>
          </a:p>
        </p:txBody>
      </p:sp>
      <p:pic>
        <p:nvPicPr>
          <p:cNvPr id="11" name="Picture 10">
            <a:extLst>
              <a:ext uri="{FF2B5EF4-FFF2-40B4-BE49-F238E27FC236}">
                <a16:creationId xmlns:a16="http://schemas.microsoft.com/office/drawing/2014/main" id="{B54B6B75-4EC2-1970-1CA6-91067AE8824B}"/>
              </a:ext>
            </a:extLst>
          </p:cNvPr>
          <p:cNvPicPr>
            <a:picLocks noChangeAspect="1"/>
          </p:cNvPicPr>
          <p:nvPr/>
        </p:nvPicPr>
        <p:blipFill>
          <a:blip r:embed="rId4"/>
          <a:stretch>
            <a:fillRect/>
          </a:stretch>
        </p:blipFill>
        <p:spPr>
          <a:xfrm>
            <a:off x="8319198" y="304864"/>
            <a:ext cx="3497759" cy="7547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E1D"/>
                </a:solidFill>
                <a:latin typeface="Source Serif 4" pitchFamily="34" charset="0"/>
                <a:ea typeface="Source Serif 4" pitchFamily="34" charset="-122"/>
                <a:cs typeface="Source Serif 4" pitchFamily="34" charset="-120"/>
              </a:rPr>
              <a:t>Instructions: memory that loads every session</a:t>
            </a:r>
            <a:endParaRPr lang="en-US" sz="3200" dirty="0"/>
          </a:p>
        </p:txBody>
      </p:sp>
      <p:sp>
        <p:nvSpPr>
          <p:cNvPr id="3" name="Shape 1"/>
          <p:cNvSpPr/>
          <p:nvPr/>
        </p:nvSpPr>
        <p:spPr>
          <a:xfrm>
            <a:off x="812800" y="1653530"/>
            <a:ext cx="88900" cy="88900"/>
          </a:xfrm>
          <a:prstGeom prst="roundRect">
            <a:avLst>
              <a:gd name="adj" fmla="val 21429"/>
            </a:avLst>
          </a:prstGeom>
          <a:solidFill>
            <a:srgbClr val="D97757"/>
          </a:solidFill>
          <a:ln/>
        </p:spPr>
      </p:sp>
      <p:sp>
        <p:nvSpPr>
          <p:cNvPr id="4" name="Text 2"/>
          <p:cNvSpPr/>
          <p:nvPr/>
        </p:nvSpPr>
        <p:spPr>
          <a:xfrm>
            <a:off x="1028700" y="1564630"/>
            <a:ext cx="4617593" cy="52318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CLAUDE.md</a:t>
            </a:r>
            <a:r>
              <a:rPr lang="en-US" sz="1400" dirty="0">
                <a:solidFill>
                  <a:srgbClr val="1F1E1D"/>
                </a:solidFill>
                <a:latin typeface="Inter" pitchFamily="34" charset="0"/>
                <a:ea typeface="Inter" pitchFamily="34" charset="-122"/>
                <a:cs typeface="Inter" pitchFamily="34" charset="-120"/>
              </a:rPr>
              <a:t> files are read automatically at session start. No prompt needed.</a:t>
            </a:r>
            <a:endParaRPr lang="en-US" sz="1400" dirty="0"/>
          </a:p>
        </p:txBody>
      </p:sp>
      <p:sp>
        <p:nvSpPr>
          <p:cNvPr id="5" name="Shape 3"/>
          <p:cNvSpPr/>
          <p:nvPr/>
        </p:nvSpPr>
        <p:spPr>
          <a:xfrm>
            <a:off x="812800" y="2329111"/>
            <a:ext cx="88900" cy="88900"/>
          </a:xfrm>
          <a:prstGeom prst="roundRect">
            <a:avLst>
              <a:gd name="adj" fmla="val 21429"/>
            </a:avLst>
          </a:prstGeom>
          <a:solidFill>
            <a:srgbClr val="D97757"/>
          </a:solidFill>
          <a:ln/>
        </p:spPr>
      </p:sp>
      <p:sp>
        <p:nvSpPr>
          <p:cNvPr id="6" name="Text 4"/>
          <p:cNvSpPr/>
          <p:nvPr/>
        </p:nvSpPr>
        <p:spPr>
          <a:xfrm>
            <a:off x="1028700" y="2240211"/>
            <a:ext cx="4617593"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1E1D"/>
                </a:solidFill>
                <a:latin typeface="Inter" pitchFamily="34" charset="0"/>
                <a:ea typeface="Inter" pitchFamily="34" charset="-122"/>
                <a:cs typeface="Inter" pitchFamily="34" charset="-120"/>
              </a:rPr>
              <a:t>Layered scopes: organisation policy, user (</a:t>
            </a:r>
            <a:r>
              <a:rPr lang="en-US" sz="1400" b="1" dirty="0">
                <a:solidFill>
                  <a:srgbClr val="1F1E1D"/>
                </a:solidFill>
                <a:latin typeface="Inter" pitchFamily="34" charset="0"/>
                <a:ea typeface="Inter" pitchFamily="34" charset="-122"/>
                <a:cs typeface="Inter" pitchFamily="34" charset="-120"/>
              </a:rPr>
              <a:t>~/.claude/CLAUDE.md</a:t>
            </a:r>
            <a:r>
              <a:rPr lang="en-US" sz="1400" dirty="0">
                <a:solidFill>
                  <a:srgbClr val="1F1E1D"/>
                </a:solidFill>
                <a:latin typeface="Inter" pitchFamily="34" charset="0"/>
                <a:ea typeface="Inter" pitchFamily="34" charset="-122"/>
                <a:cs typeface="Inter" pitchFamily="34" charset="-120"/>
              </a:rPr>
              <a:t>), project (</a:t>
            </a:r>
            <a:r>
              <a:rPr lang="en-US" sz="1400" b="1" dirty="0">
                <a:solidFill>
                  <a:srgbClr val="1F1E1D"/>
                </a:solidFill>
                <a:latin typeface="Inter" pitchFamily="34" charset="0"/>
                <a:ea typeface="Inter" pitchFamily="34" charset="-122"/>
                <a:cs typeface="Inter" pitchFamily="34" charset="-120"/>
              </a:rPr>
              <a:t>./CLAUDE.md</a:t>
            </a:r>
            <a:r>
              <a:rPr lang="en-US" sz="1400" dirty="0">
                <a:solidFill>
                  <a:srgbClr val="1F1E1D"/>
                </a:solidFill>
                <a:latin typeface="Inter" pitchFamily="34" charset="0"/>
                <a:ea typeface="Inter" pitchFamily="34" charset="-122"/>
                <a:cs typeface="Inter" pitchFamily="34" charset="-120"/>
              </a:rPr>
              <a:t>), subfolder.</a:t>
            </a:r>
            <a:endParaRPr lang="en-US" sz="1400" dirty="0"/>
          </a:p>
        </p:txBody>
      </p:sp>
      <p:sp>
        <p:nvSpPr>
          <p:cNvPr id="7" name="Shape 5"/>
          <p:cNvSpPr/>
          <p:nvPr/>
        </p:nvSpPr>
        <p:spPr>
          <a:xfrm>
            <a:off x="812800" y="3253581"/>
            <a:ext cx="88900" cy="88900"/>
          </a:xfrm>
          <a:prstGeom prst="roundRect">
            <a:avLst>
              <a:gd name="adj" fmla="val 21429"/>
            </a:avLst>
          </a:prstGeom>
          <a:solidFill>
            <a:srgbClr val="D97757"/>
          </a:solidFill>
          <a:ln/>
        </p:spPr>
      </p:sp>
      <p:sp>
        <p:nvSpPr>
          <p:cNvPr id="8" name="Text 6"/>
          <p:cNvSpPr/>
          <p:nvPr/>
        </p:nvSpPr>
        <p:spPr>
          <a:xfrm>
            <a:off x="1028700" y="3164681"/>
            <a:ext cx="461759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1E1D"/>
                </a:solidFill>
                <a:latin typeface="Inter" pitchFamily="34" charset="0"/>
                <a:ea typeface="Inter" pitchFamily="34" charset="-122"/>
                <a:cs typeface="Inter" pitchFamily="34" charset="-120"/>
              </a:rPr>
              <a:t>A subfolder CLAUDE.md loads when Claude works in that directory.</a:t>
            </a:r>
            <a:endParaRPr lang="en-US" sz="1400" dirty="0"/>
          </a:p>
        </p:txBody>
      </p:sp>
      <p:sp>
        <p:nvSpPr>
          <p:cNvPr id="9" name="Shape 7"/>
          <p:cNvSpPr/>
          <p:nvPr/>
        </p:nvSpPr>
        <p:spPr>
          <a:xfrm>
            <a:off x="812800" y="3929162"/>
            <a:ext cx="88900" cy="88900"/>
          </a:xfrm>
          <a:prstGeom prst="roundRect">
            <a:avLst>
              <a:gd name="adj" fmla="val 21429"/>
            </a:avLst>
          </a:prstGeom>
          <a:solidFill>
            <a:srgbClr val="D97757"/>
          </a:solidFill>
          <a:ln/>
        </p:spPr>
      </p:sp>
      <p:sp>
        <p:nvSpPr>
          <p:cNvPr id="10" name="Text 8"/>
          <p:cNvSpPr/>
          <p:nvPr/>
        </p:nvSpPr>
        <p:spPr>
          <a:xfrm>
            <a:off x="1028700" y="3840262"/>
            <a:ext cx="461759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1E1D"/>
                </a:solidFill>
                <a:latin typeface="Inter" pitchFamily="34" charset="0"/>
                <a:ea typeface="Inter" pitchFamily="34" charset="-122"/>
                <a:cs typeface="Inter" pitchFamily="34" charset="-120"/>
              </a:rPr>
              <a:t>Import shared files with </a:t>
            </a:r>
            <a:r>
              <a:rPr lang="en-US" sz="1400" b="1" dirty="0">
                <a:solidFill>
                  <a:srgbClr val="1F1E1D"/>
                </a:solidFill>
                <a:latin typeface="Inter" pitchFamily="34" charset="0"/>
                <a:ea typeface="Inter" pitchFamily="34" charset="-122"/>
                <a:cs typeface="Inter" pitchFamily="34" charset="-120"/>
              </a:rPr>
              <a:t>@path</a:t>
            </a:r>
            <a:r>
              <a:rPr lang="en-US" sz="1400" dirty="0">
                <a:solidFill>
                  <a:srgbClr val="1F1E1D"/>
                </a:solidFill>
                <a:latin typeface="Inter" pitchFamily="34" charset="0"/>
                <a:ea typeface="Inter" pitchFamily="34" charset="-122"/>
                <a:cs typeface="Inter" pitchFamily="34" charset="-120"/>
              </a:rPr>
              <a:t>. Bootstrap with </a:t>
            </a:r>
            <a:r>
              <a:rPr lang="en-US" sz="1400" b="1" dirty="0">
                <a:solidFill>
                  <a:srgbClr val="1F1E1D"/>
                </a:solidFill>
                <a:latin typeface="Inter" pitchFamily="34" charset="0"/>
                <a:ea typeface="Inter" pitchFamily="34" charset="-122"/>
                <a:cs typeface="Inter" pitchFamily="34" charset="-120"/>
              </a:rPr>
              <a:t>/init</a:t>
            </a:r>
            <a:r>
              <a:rPr lang="en-US" sz="1400" dirty="0">
                <a:solidFill>
                  <a:srgbClr val="1F1E1D"/>
                </a:solidFill>
                <a:latin typeface="Inter" pitchFamily="34" charset="0"/>
                <a:ea typeface="Inter" pitchFamily="34" charset="-122"/>
                <a:cs typeface="Inter" pitchFamily="34" charset="-120"/>
              </a:rPr>
              <a:t>; inspect and edit with </a:t>
            </a:r>
            <a:r>
              <a:rPr lang="en-US" sz="1400" b="1" dirty="0">
                <a:solidFill>
                  <a:srgbClr val="1F1E1D"/>
                </a:solidFill>
                <a:latin typeface="Inter" pitchFamily="34" charset="0"/>
                <a:ea typeface="Inter" pitchFamily="34" charset="-122"/>
                <a:cs typeface="Inter" pitchFamily="34" charset="-120"/>
              </a:rPr>
              <a:t>/memory</a:t>
            </a:r>
            <a:r>
              <a:rPr lang="en-US" sz="1400" dirty="0">
                <a:solidFill>
                  <a:srgbClr val="1F1E1D"/>
                </a:solidFill>
                <a:latin typeface="Inter" pitchFamily="34" charset="0"/>
                <a:ea typeface="Inter" pitchFamily="34" charset="-122"/>
                <a:cs typeface="Inter" pitchFamily="34" charset="-120"/>
              </a:rPr>
              <a:t>.</a:t>
            </a:r>
            <a:endParaRPr lang="en-US" sz="1400" dirty="0"/>
          </a:p>
        </p:txBody>
      </p:sp>
      <p:sp>
        <p:nvSpPr>
          <p:cNvPr id="11" name="Shape 9"/>
          <p:cNvSpPr/>
          <p:nvPr/>
        </p:nvSpPr>
        <p:spPr>
          <a:xfrm>
            <a:off x="5918200" y="1564630"/>
            <a:ext cx="5461000" cy="3253482"/>
          </a:xfrm>
          <a:prstGeom prst="roundRect">
            <a:avLst>
              <a:gd name="adj" fmla="val 3123"/>
            </a:avLst>
          </a:prstGeom>
          <a:solidFill>
            <a:srgbClr val="262524"/>
          </a:solidFill>
          <a:ln/>
        </p:spPr>
      </p:sp>
      <p:sp>
        <p:nvSpPr>
          <p:cNvPr id="12" name="Text 10"/>
          <p:cNvSpPr/>
          <p:nvPr/>
        </p:nvSpPr>
        <p:spPr>
          <a:xfrm>
            <a:off x="6172200" y="1818630"/>
            <a:ext cx="510159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97757"/>
                </a:solidFill>
                <a:latin typeface="JetBrains Mono" pitchFamily="34" charset="0"/>
                <a:ea typeface="JetBrains Mono" pitchFamily="34" charset="-122"/>
                <a:cs typeface="JetBrains Mono" pitchFamily="34" charset="-120"/>
              </a:rPr>
              <a:t>CLAUDE.md</a:t>
            </a:r>
            <a:endParaRPr lang="en-US" sz="1200" dirty="0"/>
          </a:p>
        </p:txBody>
      </p:sp>
      <p:sp>
        <p:nvSpPr>
          <p:cNvPr id="13" name="Text 11"/>
          <p:cNvSpPr/>
          <p:nvPr/>
        </p:nvSpPr>
        <p:spPr>
          <a:xfrm>
            <a:off x="6172200" y="2133550"/>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OrderHub — instructions</a:t>
            </a:r>
            <a:endParaRPr lang="en-US" sz="1200" dirty="0"/>
          </a:p>
        </p:txBody>
      </p:sp>
      <p:sp>
        <p:nvSpPr>
          <p:cNvPr id="14" name="Text 12"/>
          <p:cNvSpPr/>
          <p:nvPr/>
        </p:nvSpPr>
        <p:spPr>
          <a:xfrm>
            <a:off x="6172200" y="235451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Commands</a:t>
            </a:r>
            <a:endParaRPr lang="en-US" sz="1200" dirty="0"/>
          </a:p>
        </p:txBody>
      </p:sp>
      <p:sp>
        <p:nvSpPr>
          <p:cNvPr id="15" name="Text 13"/>
          <p:cNvSpPr/>
          <p:nvPr/>
        </p:nvSpPr>
        <p:spPr>
          <a:xfrm>
            <a:off x="6172200" y="257547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Test all: `npm test`</a:t>
            </a:r>
            <a:endParaRPr lang="en-US" sz="1200" dirty="0"/>
          </a:p>
        </p:txBody>
      </p:sp>
      <p:sp>
        <p:nvSpPr>
          <p:cNvPr id="16" name="Text 14"/>
          <p:cNvSpPr/>
          <p:nvPr/>
        </p:nvSpPr>
        <p:spPr>
          <a:xfrm>
            <a:off x="6172200" y="279643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Test one: `npx jest &lt;file&gt;`</a:t>
            </a:r>
            <a:endParaRPr lang="en-US" sz="1200" dirty="0"/>
          </a:p>
        </p:txBody>
      </p:sp>
      <p:sp>
        <p:nvSpPr>
          <p:cNvPr id="17" name="Text 15"/>
          <p:cNvSpPr/>
          <p:nvPr/>
        </p:nvSpPr>
        <p:spPr>
          <a:xfrm>
            <a:off x="6172200" y="301739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Conventions</a:t>
            </a:r>
            <a:endParaRPr lang="en-US" sz="1200" dirty="0"/>
          </a:p>
        </p:txBody>
      </p:sp>
      <p:sp>
        <p:nvSpPr>
          <p:cNvPr id="18" name="Text 16"/>
          <p:cNvSpPr/>
          <p:nvPr/>
        </p:nvSpPr>
        <p:spPr>
          <a:xfrm>
            <a:off x="6172200" y="323835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Money is ALWAYS integer paise</a:t>
            </a:r>
            <a:endParaRPr lang="en-US" sz="1200" dirty="0"/>
          </a:p>
        </p:txBody>
      </p:sp>
      <p:sp>
        <p:nvSpPr>
          <p:cNvPr id="19" name="Text 17"/>
          <p:cNvSpPr/>
          <p:nvPr/>
        </p:nvSpPr>
        <p:spPr>
          <a:xfrm>
            <a:off x="6172200" y="345931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Every change ships a Jest test</a:t>
            </a:r>
            <a:endParaRPr lang="en-US" sz="1200" dirty="0"/>
          </a:p>
        </p:txBody>
      </p:sp>
      <p:sp>
        <p:nvSpPr>
          <p:cNvPr id="20" name="Text 18"/>
          <p:cNvSpPr/>
          <p:nvPr/>
        </p:nvSpPr>
        <p:spPr>
          <a:xfrm>
            <a:off x="6172200" y="368027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Guardrails</a:t>
            </a:r>
            <a:endParaRPr lang="en-US" sz="1200" dirty="0"/>
          </a:p>
        </p:txBody>
      </p:sp>
      <p:sp>
        <p:nvSpPr>
          <p:cNvPr id="21" name="Text 19"/>
          <p:cNvSpPr/>
          <p:nvPr/>
        </p:nvSpPr>
        <p:spPr>
          <a:xfrm>
            <a:off x="6172200" y="3901232"/>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Ask before adding dependencies</a:t>
            </a:r>
            <a:endParaRPr lang="en-US" sz="1200" dirty="0"/>
          </a:p>
        </p:txBody>
      </p:sp>
      <p:sp>
        <p:nvSpPr>
          <p:cNvPr id="22" name="Text 20"/>
          <p:cNvSpPr/>
          <p:nvPr/>
        </p:nvSpPr>
        <p:spPr>
          <a:xfrm>
            <a:off x="6172200" y="4122192"/>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Never hard-code secrets</a:t>
            </a:r>
            <a:endParaRPr lang="en-US" sz="1200" dirty="0"/>
          </a:p>
        </p:txBody>
      </p:sp>
      <p:sp>
        <p:nvSpPr>
          <p:cNvPr id="23" name="Text 21"/>
          <p:cNvSpPr/>
          <p:nvPr/>
        </p:nvSpPr>
        <p:spPr>
          <a:xfrm>
            <a:off x="6172200" y="4343152"/>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@docs/coding-standards.md</a:t>
            </a:r>
            <a:endParaRPr lang="en-US" sz="1200" dirty="0"/>
          </a:p>
        </p:txBody>
      </p:sp>
      <p:sp>
        <p:nvSpPr>
          <p:cNvPr id="24" name="Text 22"/>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Module 7 · Extending Claude Code</a:t>
            </a:r>
            <a:endParaRPr lang="en-US" sz="1200" dirty="0"/>
          </a:p>
        </p:txBody>
      </p:sp>
      <p:sp>
        <p:nvSpPr>
          <p:cNvPr id="25" name="Text 23"/>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5D59"/>
                </a:solidFill>
                <a:latin typeface="Inter" pitchFamily="34" charset="0"/>
                <a:ea typeface="Inter" pitchFamily="34" charset="-122"/>
                <a:cs typeface="Inter" pitchFamily="34" charset="-120"/>
              </a:rPr>
              <a:t>01 Instructions · Concept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E1D"/>
                </a:solidFill>
                <a:latin typeface="Source Serif 4" pitchFamily="34" charset="0"/>
                <a:ea typeface="Source Serif 4" pitchFamily="34" charset="-122"/>
                <a:cs typeface="Source Serif 4" pitchFamily="34" charset="-120"/>
              </a:rPr>
              <a:t>Instructions in practice with Claude Code</a:t>
            </a:r>
            <a:endParaRPr lang="en-US" sz="3200" dirty="0"/>
          </a:p>
        </p:txBody>
      </p:sp>
      <p:sp>
        <p:nvSpPr>
          <p:cNvPr id="3" name="Shape 1"/>
          <p:cNvSpPr/>
          <p:nvPr/>
        </p:nvSpPr>
        <p:spPr>
          <a:xfrm>
            <a:off x="815975" y="1567805"/>
            <a:ext cx="3380284" cy="4271020"/>
          </a:xfrm>
          <a:prstGeom prst="roundRect">
            <a:avLst>
              <a:gd name="adj" fmla="val 2912"/>
            </a:avLst>
          </a:prstGeom>
          <a:solidFill>
            <a:srgbClr val="FAF9F5"/>
          </a:solidFill>
          <a:ln w="6350">
            <a:solidFill>
              <a:srgbClr val="DEDBD2"/>
            </a:solidFill>
            <a:prstDash val="solid"/>
          </a:ln>
        </p:spPr>
      </p:sp>
      <p:sp>
        <p:nvSpPr>
          <p:cNvPr id="4" name="Text 2"/>
          <p:cNvSpPr/>
          <p:nvPr/>
        </p:nvSpPr>
        <p:spPr>
          <a:xfrm>
            <a:off x="1073150" y="1824980"/>
            <a:ext cx="295191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2F"/>
                </a:solidFill>
                <a:latin typeface="Inter" pitchFamily="34" charset="0"/>
                <a:ea typeface="Inter" pitchFamily="34" charset="-122"/>
                <a:cs typeface="Inter" pitchFamily="34" charset="-120"/>
              </a:rPr>
              <a:t>EXAMPLE 1</a:t>
            </a:r>
            <a:endParaRPr lang="en-US" sz="1200" dirty="0"/>
          </a:p>
        </p:txBody>
      </p:sp>
      <p:sp>
        <p:nvSpPr>
          <p:cNvPr id="5" name="Text 3"/>
          <p:cNvSpPr/>
          <p:nvPr/>
        </p:nvSpPr>
        <p:spPr>
          <a:xfrm>
            <a:off x="1073150" y="2165300"/>
            <a:ext cx="295191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1E1D"/>
                </a:solidFill>
                <a:latin typeface="Source Serif 4" pitchFamily="34" charset="0"/>
                <a:ea typeface="Source Serif 4" pitchFamily="34" charset="-122"/>
                <a:cs typeface="Source Serif 4" pitchFamily="34" charset="-120"/>
              </a:rPr>
              <a:t>Monorepo command map</a:t>
            </a:r>
            <a:endParaRPr lang="en-US" sz="1800" dirty="0"/>
          </a:p>
        </p:txBody>
      </p:sp>
      <p:sp>
        <p:nvSpPr>
          <p:cNvPr id="6" name="Text 4"/>
          <p:cNvSpPr/>
          <p:nvPr/>
        </p:nvSpPr>
        <p:spPr>
          <a:xfrm>
            <a:off x="1073150" y="2566591"/>
            <a:ext cx="2951912" cy="98286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5E5D59"/>
                </a:solidFill>
                <a:latin typeface="Inter" pitchFamily="34" charset="0"/>
                <a:ea typeface="Inter" pitchFamily="34" charset="-122"/>
                <a:cs typeface="Inter" pitchFamily="34" charset="-120"/>
              </a:rPr>
              <a:t>Root CLAUDE.md lists build, lint and single-test commands per package, so Claude runs the right command first time instead of guessing.</a:t>
            </a:r>
            <a:endParaRPr lang="en-US" sz="1300" dirty="0"/>
          </a:p>
        </p:txBody>
      </p:sp>
      <p:sp>
        <p:nvSpPr>
          <p:cNvPr id="7" name="Shape 5"/>
          <p:cNvSpPr/>
          <p:nvPr/>
        </p:nvSpPr>
        <p:spPr>
          <a:xfrm>
            <a:off x="1073150" y="5215930"/>
            <a:ext cx="2865934" cy="365720"/>
          </a:xfrm>
          <a:prstGeom prst="roundRect">
            <a:avLst>
              <a:gd name="adj" fmla="val 13890"/>
            </a:avLst>
          </a:prstGeom>
          <a:solidFill>
            <a:srgbClr val="1F1E1D"/>
          </a:solidFill>
          <a:ln/>
        </p:spPr>
      </p:sp>
      <p:sp>
        <p:nvSpPr>
          <p:cNvPr id="8" name="Text 6"/>
          <p:cNvSpPr/>
          <p:nvPr/>
        </p:nvSpPr>
        <p:spPr>
          <a:xfrm>
            <a:off x="1187450" y="5292130"/>
            <a:ext cx="271645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1EA"/>
                </a:solidFill>
                <a:latin typeface="JetBrains Mono" pitchFamily="34" charset="0"/>
                <a:ea typeface="JetBrains Mono" pitchFamily="34" charset="-122"/>
                <a:cs typeface="JetBrains Mono" pitchFamily="34" charset="-120"/>
              </a:rPr>
              <a:t>Test one: npx jest &lt;file&gt;</a:t>
            </a:r>
            <a:endParaRPr lang="en-US" sz="1200" dirty="0"/>
          </a:p>
        </p:txBody>
      </p:sp>
      <p:sp>
        <p:nvSpPr>
          <p:cNvPr id="9" name="Shape 7"/>
          <p:cNvSpPr/>
          <p:nvPr/>
        </p:nvSpPr>
        <p:spPr>
          <a:xfrm>
            <a:off x="4405809" y="1567805"/>
            <a:ext cx="3380333" cy="4271020"/>
          </a:xfrm>
          <a:prstGeom prst="roundRect">
            <a:avLst>
              <a:gd name="adj" fmla="val 2912"/>
            </a:avLst>
          </a:prstGeom>
          <a:solidFill>
            <a:srgbClr val="FAF9F5"/>
          </a:solidFill>
          <a:ln w="6350">
            <a:solidFill>
              <a:srgbClr val="DEDBD2"/>
            </a:solidFill>
            <a:prstDash val="solid"/>
          </a:ln>
        </p:spPr>
      </p:sp>
      <p:sp>
        <p:nvSpPr>
          <p:cNvPr id="10" name="Text 8"/>
          <p:cNvSpPr/>
          <p:nvPr/>
        </p:nvSpPr>
        <p:spPr>
          <a:xfrm>
            <a:off x="4662984" y="1824980"/>
            <a:ext cx="295196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2F"/>
                </a:solidFill>
                <a:latin typeface="Inter" pitchFamily="34" charset="0"/>
                <a:ea typeface="Inter" pitchFamily="34" charset="-122"/>
                <a:cs typeface="Inter" pitchFamily="34" charset="-120"/>
              </a:rPr>
              <a:t>EXAMPLE 2</a:t>
            </a:r>
            <a:endParaRPr lang="en-US" sz="1200" dirty="0"/>
          </a:p>
        </p:txBody>
      </p:sp>
      <p:sp>
        <p:nvSpPr>
          <p:cNvPr id="11" name="Text 9"/>
          <p:cNvSpPr/>
          <p:nvPr/>
        </p:nvSpPr>
        <p:spPr>
          <a:xfrm>
            <a:off x="4662984" y="2165300"/>
            <a:ext cx="2951963" cy="57398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1E1D"/>
                </a:solidFill>
                <a:latin typeface="Source Serif 4" pitchFamily="34" charset="0"/>
                <a:ea typeface="Source Serif 4" pitchFamily="34" charset="-122"/>
                <a:cs typeface="Source Serif 4" pitchFamily="34" charset="-120"/>
              </a:rPr>
              <a:t>Regulated-module guardrail</a:t>
            </a:r>
            <a:endParaRPr lang="en-US" sz="1800" dirty="0"/>
          </a:p>
        </p:txBody>
      </p:sp>
      <p:sp>
        <p:nvSpPr>
          <p:cNvPr id="12" name="Text 10"/>
          <p:cNvSpPr/>
          <p:nvPr/>
        </p:nvSpPr>
        <p:spPr>
          <a:xfrm>
            <a:off x="4662984" y="2840881"/>
            <a:ext cx="2951963" cy="122222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5E5D59"/>
                </a:solidFill>
                <a:latin typeface="Inter" pitchFamily="34" charset="0"/>
                <a:ea typeface="Inter" pitchFamily="34" charset="-122"/>
                <a:cs typeface="Inter" pitchFamily="34" charset="-120"/>
              </a:rPr>
              <a:t>services/payments/CLAUDE.md forbids logging card data and mandates masking. It applies only when Claude touches payments code.</a:t>
            </a:r>
            <a:endParaRPr lang="en-US" sz="1300" dirty="0"/>
          </a:p>
        </p:txBody>
      </p:sp>
      <p:sp>
        <p:nvSpPr>
          <p:cNvPr id="13" name="Shape 11"/>
          <p:cNvSpPr/>
          <p:nvPr/>
        </p:nvSpPr>
        <p:spPr>
          <a:xfrm>
            <a:off x="4662984" y="5215930"/>
            <a:ext cx="2865983" cy="365720"/>
          </a:xfrm>
          <a:prstGeom prst="roundRect">
            <a:avLst>
              <a:gd name="adj" fmla="val 13890"/>
            </a:avLst>
          </a:prstGeom>
          <a:solidFill>
            <a:srgbClr val="1F1E1D"/>
          </a:solidFill>
          <a:ln/>
        </p:spPr>
      </p:sp>
      <p:sp>
        <p:nvSpPr>
          <p:cNvPr id="14" name="Text 12"/>
          <p:cNvSpPr/>
          <p:nvPr/>
        </p:nvSpPr>
        <p:spPr>
          <a:xfrm>
            <a:off x="4777284" y="5292130"/>
            <a:ext cx="271650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1EA"/>
                </a:solidFill>
                <a:latin typeface="JetBrains Mono" pitchFamily="34" charset="0"/>
                <a:ea typeface="JetBrains Mono" pitchFamily="34" charset="-122"/>
                <a:cs typeface="JetBrains Mono" pitchFamily="34" charset="-120"/>
              </a:rPr>
              <a:t>NEVER log PAN, CVV, expiry</a:t>
            </a:r>
            <a:endParaRPr lang="en-US" sz="1200" dirty="0"/>
          </a:p>
        </p:txBody>
      </p:sp>
      <p:sp>
        <p:nvSpPr>
          <p:cNvPr id="15" name="Shape 13"/>
          <p:cNvSpPr/>
          <p:nvPr/>
        </p:nvSpPr>
        <p:spPr>
          <a:xfrm>
            <a:off x="7995692" y="1567805"/>
            <a:ext cx="3380333" cy="4271020"/>
          </a:xfrm>
          <a:prstGeom prst="roundRect">
            <a:avLst>
              <a:gd name="adj" fmla="val 2912"/>
            </a:avLst>
          </a:prstGeom>
          <a:solidFill>
            <a:srgbClr val="FAF9F5"/>
          </a:solidFill>
          <a:ln w="6350">
            <a:solidFill>
              <a:srgbClr val="DEDBD2"/>
            </a:solidFill>
            <a:prstDash val="solid"/>
          </a:ln>
        </p:spPr>
      </p:sp>
      <p:sp>
        <p:nvSpPr>
          <p:cNvPr id="16" name="Text 14"/>
          <p:cNvSpPr/>
          <p:nvPr/>
        </p:nvSpPr>
        <p:spPr>
          <a:xfrm>
            <a:off x="8252867" y="1824980"/>
            <a:ext cx="295196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2F"/>
                </a:solidFill>
                <a:latin typeface="Inter" pitchFamily="34" charset="0"/>
                <a:ea typeface="Inter" pitchFamily="34" charset="-122"/>
                <a:cs typeface="Inter" pitchFamily="34" charset="-120"/>
              </a:rPr>
              <a:t>EXAMPLE 3</a:t>
            </a:r>
            <a:endParaRPr lang="en-US" sz="1200" dirty="0"/>
          </a:p>
        </p:txBody>
      </p:sp>
      <p:sp>
        <p:nvSpPr>
          <p:cNvPr id="17" name="Text 15"/>
          <p:cNvSpPr/>
          <p:nvPr/>
        </p:nvSpPr>
        <p:spPr>
          <a:xfrm>
            <a:off x="8252867" y="2165300"/>
            <a:ext cx="29519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1E1D"/>
                </a:solidFill>
                <a:latin typeface="Source Serif 4" pitchFamily="34" charset="0"/>
                <a:ea typeface="Source Serif 4" pitchFamily="34" charset="-122"/>
                <a:cs typeface="Source Serif 4" pitchFamily="34" charset="-120"/>
              </a:rPr>
              <a:t>Personal working style</a:t>
            </a:r>
            <a:endParaRPr lang="en-US" sz="1800" dirty="0"/>
          </a:p>
        </p:txBody>
      </p:sp>
      <p:sp>
        <p:nvSpPr>
          <p:cNvPr id="18" name="Text 16"/>
          <p:cNvSpPr/>
          <p:nvPr/>
        </p:nvSpPr>
        <p:spPr>
          <a:xfrm>
            <a:off x="8252867" y="2566591"/>
            <a:ext cx="2951963" cy="98286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5E5D59"/>
                </a:solidFill>
                <a:latin typeface="Inter" pitchFamily="34" charset="0"/>
                <a:ea typeface="Inter" pitchFamily="34" charset="-122"/>
                <a:cs typeface="Inter" pitchFamily="34" charset="-120"/>
              </a:rPr>
              <a:t>~/.claude/CLAUDE.md holds individual preferences, such as planning before multi-file edits, without affecting teammates.</a:t>
            </a:r>
            <a:endParaRPr lang="en-US" sz="1300" dirty="0"/>
          </a:p>
        </p:txBody>
      </p:sp>
      <p:sp>
        <p:nvSpPr>
          <p:cNvPr id="19" name="Shape 17"/>
          <p:cNvSpPr/>
          <p:nvPr/>
        </p:nvSpPr>
        <p:spPr>
          <a:xfrm>
            <a:off x="8252867" y="5215930"/>
            <a:ext cx="2865983" cy="365720"/>
          </a:xfrm>
          <a:prstGeom prst="roundRect">
            <a:avLst>
              <a:gd name="adj" fmla="val 13890"/>
            </a:avLst>
          </a:prstGeom>
          <a:solidFill>
            <a:srgbClr val="1F1E1D"/>
          </a:solidFill>
          <a:ln/>
        </p:spPr>
      </p:sp>
      <p:sp>
        <p:nvSpPr>
          <p:cNvPr id="20" name="Text 18"/>
          <p:cNvSpPr/>
          <p:nvPr/>
        </p:nvSpPr>
        <p:spPr>
          <a:xfrm>
            <a:off x="8367167" y="5292130"/>
            <a:ext cx="271650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1EA"/>
                </a:solidFill>
                <a:latin typeface="JetBrains Mono" pitchFamily="34" charset="0"/>
                <a:ea typeface="JetBrains Mono" pitchFamily="34" charset="-122"/>
                <a:cs typeface="JetBrains Mono" pitchFamily="34" charset="-120"/>
              </a:rPr>
              <a:t>Show a plan before edits</a:t>
            </a:r>
            <a:endParaRPr lang="en-US" sz="1200" dirty="0"/>
          </a:p>
        </p:txBody>
      </p:sp>
      <p:sp>
        <p:nvSpPr>
          <p:cNvPr id="21" name="Text 1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Module 7 · Extending Claude Code</a:t>
            </a:r>
            <a:endParaRPr lang="en-US" sz="1200" dirty="0"/>
          </a:p>
        </p:txBody>
      </p:sp>
      <p:sp>
        <p:nvSpPr>
          <p:cNvPr id="22" name="Text 20"/>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5D59"/>
                </a:solidFill>
                <a:latin typeface="Inter" pitchFamily="34" charset="0"/>
                <a:ea typeface="Inter" pitchFamily="34" charset="-122"/>
                <a:cs typeface="Inter" pitchFamily="34" charset="-120"/>
              </a:rPr>
              <a:t>01 Instructions · Examples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E1D"/>
                </a:solidFill>
                <a:latin typeface="Source Serif 4" pitchFamily="34" charset="0"/>
                <a:ea typeface="Source Serif 4" pitchFamily="34" charset="-122"/>
                <a:cs typeface="Source Serif 4" pitchFamily="34" charset="-120"/>
              </a:rPr>
              <a:t>Use case: onboarding 40 engineers to OrderHub</a:t>
            </a:r>
            <a:endParaRPr lang="en-US" sz="3200" dirty="0"/>
          </a:p>
        </p:txBody>
      </p:sp>
      <p:sp>
        <p:nvSpPr>
          <p:cNvPr id="3" name="Shape 1"/>
          <p:cNvSpPr/>
          <p:nvPr/>
        </p:nvSpPr>
        <p:spPr>
          <a:xfrm>
            <a:off x="812800" y="1564630"/>
            <a:ext cx="4318000" cy="4277370"/>
          </a:xfrm>
          <a:prstGeom prst="roundRect">
            <a:avLst>
              <a:gd name="adj" fmla="val 2375"/>
            </a:avLst>
          </a:prstGeom>
          <a:solidFill>
            <a:srgbClr val="1F1E1D"/>
          </a:solidFill>
          <a:ln/>
        </p:spPr>
      </p:sp>
      <p:sp>
        <p:nvSpPr>
          <p:cNvPr id="4" name="Text 2"/>
          <p:cNvSpPr/>
          <p:nvPr/>
        </p:nvSpPr>
        <p:spPr>
          <a:xfrm>
            <a:off x="1117600" y="1869430"/>
            <a:ext cx="381965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97757"/>
                </a:solidFill>
                <a:latin typeface="Inter" pitchFamily="34" charset="0"/>
                <a:ea typeface="Inter" pitchFamily="34" charset="-122"/>
                <a:cs typeface="Inter" pitchFamily="34" charset="-120"/>
              </a:rPr>
              <a:t>THE PROBLEM</a:t>
            </a:r>
            <a:endParaRPr lang="en-US" sz="1200" dirty="0"/>
          </a:p>
        </p:txBody>
      </p:sp>
      <p:sp>
        <p:nvSpPr>
          <p:cNvPr id="5" name="Text 3"/>
          <p:cNvSpPr/>
          <p:nvPr/>
        </p:nvSpPr>
        <p:spPr>
          <a:xfrm>
            <a:off x="1117600" y="2260550"/>
            <a:ext cx="3819652" cy="1838722"/>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F4F1EA"/>
                </a:solidFill>
                <a:latin typeface="Source Serif 4" pitchFamily="34" charset="0"/>
                <a:ea typeface="Source Serif 4" pitchFamily="34" charset="-122"/>
                <a:cs typeface="Source Serif 4" pitchFamily="34" charset="-120"/>
              </a:rPr>
              <a:t>Code reviews keep flagging float currency maths, missing tests and card data in debug logs. Every new joiner, and every Claude session, starts without the team's tribal knowledge.</a:t>
            </a:r>
            <a:endParaRPr lang="en-US" sz="1700" dirty="0"/>
          </a:p>
        </p:txBody>
      </p:sp>
      <p:sp>
        <p:nvSpPr>
          <p:cNvPr id="6" name="Text 4"/>
          <p:cNvSpPr/>
          <p:nvPr/>
        </p:nvSpPr>
        <p:spPr>
          <a:xfrm>
            <a:off x="1117600" y="5110559"/>
            <a:ext cx="381965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DB7AB"/>
                </a:solidFill>
                <a:latin typeface="Inter" pitchFamily="34" charset="0"/>
                <a:ea typeface="Inter" pitchFamily="34" charset="-122"/>
                <a:cs typeface="Inter" pitchFamily="34" charset="-120"/>
              </a:rPr>
              <a:t>Requested by: Engineering Manager, OrderHub · OHUB-301</a:t>
            </a:r>
            <a:endParaRPr lang="en-US" sz="1200" dirty="0"/>
          </a:p>
        </p:txBody>
      </p:sp>
      <p:sp>
        <p:nvSpPr>
          <p:cNvPr id="7" name="Text 5"/>
          <p:cNvSpPr/>
          <p:nvPr/>
        </p:nvSpPr>
        <p:spPr>
          <a:xfrm>
            <a:off x="5537200" y="1564630"/>
            <a:ext cx="601726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B4532F"/>
                </a:solidFill>
                <a:latin typeface="Source Serif 4" pitchFamily="34" charset="0"/>
                <a:ea typeface="Source Serif 4" pitchFamily="34" charset="-122"/>
                <a:cs typeface="Source Serif 4" pitchFamily="34" charset="-120"/>
              </a:rPr>
              <a:t>Why we need it</a:t>
            </a:r>
            <a:endParaRPr lang="en-US" sz="2000" dirty="0"/>
          </a:p>
        </p:txBody>
      </p:sp>
      <p:sp>
        <p:nvSpPr>
          <p:cNvPr id="8" name="Shape 6"/>
          <p:cNvSpPr/>
          <p:nvPr/>
        </p:nvSpPr>
        <p:spPr>
          <a:xfrm>
            <a:off x="5537200" y="2136130"/>
            <a:ext cx="88900" cy="88900"/>
          </a:xfrm>
          <a:prstGeom prst="roundRect">
            <a:avLst>
              <a:gd name="adj" fmla="val 21429"/>
            </a:avLst>
          </a:prstGeom>
          <a:solidFill>
            <a:srgbClr val="D97757"/>
          </a:solidFill>
          <a:ln/>
        </p:spPr>
      </p:sp>
      <p:sp>
        <p:nvSpPr>
          <p:cNvPr id="9" name="Text 7"/>
          <p:cNvSpPr/>
          <p:nvPr/>
        </p:nvSpPr>
        <p:spPr>
          <a:xfrm>
            <a:off x="5753100" y="2047230"/>
            <a:ext cx="5794883" cy="52318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Consistency:</a:t>
            </a:r>
            <a:r>
              <a:rPr lang="en-US" sz="1400" dirty="0">
                <a:solidFill>
                  <a:srgbClr val="1F1E1D"/>
                </a:solidFill>
                <a:latin typeface="Inter" pitchFamily="34" charset="0"/>
                <a:ea typeface="Inter" pitchFamily="34" charset="-122"/>
                <a:cs typeface="Inter" pitchFamily="34" charset="-120"/>
              </a:rPr>
              <a:t> every session follows the same standards without re-prompting.</a:t>
            </a:r>
            <a:endParaRPr lang="en-US" sz="1400" dirty="0"/>
          </a:p>
        </p:txBody>
      </p:sp>
      <p:sp>
        <p:nvSpPr>
          <p:cNvPr id="10" name="Shape 8"/>
          <p:cNvSpPr/>
          <p:nvPr/>
        </p:nvSpPr>
        <p:spPr>
          <a:xfrm>
            <a:off x="5537200" y="2773611"/>
            <a:ext cx="88900" cy="88900"/>
          </a:xfrm>
          <a:prstGeom prst="roundRect">
            <a:avLst>
              <a:gd name="adj" fmla="val 21429"/>
            </a:avLst>
          </a:prstGeom>
          <a:solidFill>
            <a:srgbClr val="D97757"/>
          </a:solidFill>
          <a:ln/>
        </p:spPr>
      </p:sp>
      <p:sp>
        <p:nvSpPr>
          <p:cNvPr id="11" name="Text 9"/>
          <p:cNvSpPr/>
          <p:nvPr/>
        </p:nvSpPr>
        <p:spPr>
          <a:xfrm>
            <a:off x="5753100" y="2684711"/>
            <a:ext cx="5794883" cy="52318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Governance:</a:t>
            </a:r>
            <a:r>
              <a:rPr lang="en-US" sz="1400" dirty="0">
                <a:solidFill>
                  <a:srgbClr val="1F1E1D"/>
                </a:solidFill>
                <a:latin typeface="Inter" pitchFamily="34" charset="0"/>
                <a:ea typeface="Inter" pitchFamily="34" charset="-122"/>
                <a:cs typeface="Inter" pitchFamily="34" charset="-120"/>
              </a:rPr>
              <a:t> rules live in git and change through pull-request review.</a:t>
            </a:r>
            <a:endParaRPr lang="en-US" sz="1400" dirty="0"/>
          </a:p>
        </p:txBody>
      </p:sp>
      <p:sp>
        <p:nvSpPr>
          <p:cNvPr id="12" name="Shape 10"/>
          <p:cNvSpPr/>
          <p:nvPr/>
        </p:nvSpPr>
        <p:spPr>
          <a:xfrm>
            <a:off x="5537200" y="3411091"/>
            <a:ext cx="88900" cy="88900"/>
          </a:xfrm>
          <a:prstGeom prst="roundRect">
            <a:avLst>
              <a:gd name="adj" fmla="val 21429"/>
            </a:avLst>
          </a:prstGeom>
          <a:solidFill>
            <a:srgbClr val="D97757"/>
          </a:solidFill>
          <a:ln/>
        </p:spPr>
      </p:sp>
      <p:sp>
        <p:nvSpPr>
          <p:cNvPr id="13" name="Text 11"/>
          <p:cNvSpPr/>
          <p:nvPr/>
        </p:nvSpPr>
        <p:spPr>
          <a:xfrm>
            <a:off x="5753100" y="3322191"/>
            <a:ext cx="554057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Speed:</a:t>
            </a:r>
            <a:r>
              <a:rPr lang="en-US" sz="1400" dirty="0">
                <a:solidFill>
                  <a:srgbClr val="1F1E1D"/>
                </a:solidFill>
                <a:latin typeface="Inter" pitchFamily="34" charset="0"/>
                <a:ea typeface="Inter" pitchFamily="34" charset="-122"/>
                <a:cs typeface="Inter" pitchFamily="34" charset="-120"/>
              </a:rPr>
              <a:t> correct commands and conventions on the first attempt.</a:t>
            </a:r>
            <a:endParaRPr lang="en-US" sz="1400" dirty="0"/>
          </a:p>
        </p:txBody>
      </p:sp>
      <p:sp>
        <p:nvSpPr>
          <p:cNvPr id="14" name="Shape 12"/>
          <p:cNvSpPr/>
          <p:nvPr/>
        </p:nvSpPr>
        <p:spPr>
          <a:xfrm>
            <a:off x="5537200" y="3799681"/>
            <a:ext cx="88900" cy="88900"/>
          </a:xfrm>
          <a:prstGeom prst="roundRect">
            <a:avLst>
              <a:gd name="adj" fmla="val 21429"/>
            </a:avLst>
          </a:prstGeom>
          <a:solidFill>
            <a:srgbClr val="D97757"/>
          </a:solidFill>
          <a:ln/>
        </p:spPr>
      </p:sp>
      <p:sp>
        <p:nvSpPr>
          <p:cNvPr id="15" name="Text 13"/>
          <p:cNvSpPr/>
          <p:nvPr/>
        </p:nvSpPr>
        <p:spPr>
          <a:xfrm>
            <a:off x="5753100" y="3710781"/>
            <a:ext cx="5648846"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Scope control:</a:t>
            </a:r>
            <a:r>
              <a:rPr lang="en-US" sz="1400" dirty="0">
                <a:solidFill>
                  <a:srgbClr val="1F1E1D"/>
                </a:solidFill>
                <a:latin typeface="Inter" pitchFamily="34" charset="0"/>
                <a:ea typeface="Inter" pitchFamily="34" charset="-122"/>
                <a:cs typeface="Inter" pitchFamily="34" charset="-120"/>
              </a:rPr>
              <a:t> stricter rules only where the code demands them.</a:t>
            </a:r>
            <a:endParaRPr lang="en-US" sz="1400" dirty="0"/>
          </a:p>
        </p:txBody>
      </p:sp>
      <p:sp>
        <p:nvSpPr>
          <p:cNvPr id="16" name="Shape 14"/>
          <p:cNvSpPr/>
          <p:nvPr/>
        </p:nvSpPr>
        <p:spPr>
          <a:xfrm>
            <a:off x="5537200" y="4188271"/>
            <a:ext cx="88900" cy="88900"/>
          </a:xfrm>
          <a:prstGeom prst="roundRect">
            <a:avLst>
              <a:gd name="adj" fmla="val 21429"/>
            </a:avLst>
          </a:prstGeom>
          <a:solidFill>
            <a:srgbClr val="D97757"/>
          </a:solidFill>
          <a:ln/>
        </p:spPr>
      </p:sp>
      <p:sp>
        <p:nvSpPr>
          <p:cNvPr id="17" name="Text 15"/>
          <p:cNvSpPr/>
          <p:nvPr/>
        </p:nvSpPr>
        <p:spPr>
          <a:xfrm>
            <a:off x="5753100" y="4099371"/>
            <a:ext cx="5794883" cy="52318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Lower review load:</a:t>
            </a:r>
            <a:r>
              <a:rPr lang="en-US" sz="1400" dirty="0">
                <a:solidFill>
                  <a:srgbClr val="1F1E1D"/>
                </a:solidFill>
                <a:latin typeface="Inter" pitchFamily="34" charset="0"/>
                <a:ea typeface="Inter" pitchFamily="34" charset="-122"/>
                <a:cs typeface="Inter" pitchFamily="34" charset="-120"/>
              </a:rPr>
              <a:t> a repeated review comment becomes one instruction.</a:t>
            </a:r>
            <a:endParaRPr lang="en-US" sz="1400" dirty="0"/>
          </a:p>
        </p:txBody>
      </p:sp>
      <p:sp>
        <p:nvSpPr>
          <p:cNvPr id="18" name="Text 16"/>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Module 7 · Extending Claude Code</a:t>
            </a:r>
            <a:endParaRPr lang="en-US" sz="1200" dirty="0"/>
          </a:p>
        </p:txBody>
      </p:sp>
      <p:sp>
        <p:nvSpPr>
          <p:cNvPr id="19" name="Text 17"/>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5D59"/>
                </a:solidFill>
                <a:latin typeface="Inter" pitchFamily="34" charset="0"/>
                <a:ea typeface="Inter" pitchFamily="34" charset="-122"/>
                <a:cs typeface="Inter" pitchFamily="34" charset="-120"/>
              </a:rPr>
              <a:t>01 Instructions · Use case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5"/>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D97757"/>
          </a:solidFill>
          <a:ln/>
        </p:spPr>
      </p:sp>
      <p:sp>
        <p:nvSpPr>
          <p:cNvPr id="3" name="Text 1"/>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B4532F"/>
                </a:solidFill>
                <a:latin typeface="Inter" pitchFamily="34" charset="0"/>
                <a:ea typeface="Inter" pitchFamily="34" charset="-122"/>
                <a:cs typeface="Inter" pitchFamily="34" charset="-120"/>
              </a:rPr>
              <a:t>LIVE DEMO · LAB 1 · OHUB-301</a:t>
            </a:r>
            <a:endParaRPr lang="en-US" sz="1300" dirty="0"/>
          </a:p>
        </p:txBody>
      </p:sp>
      <p:sp>
        <p:nvSpPr>
          <p:cNvPr id="4" name="Text 2"/>
          <p:cNvSpPr/>
          <p:nvPr/>
        </p:nvSpPr>
        <p:spPr>
          <a:xfrm>
            <a:off x="812800" y="1120130"/>
            <a:ext cx="10883392" cy="91946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E1D"/>
                </a:solidFill>
                <a:latin typeface="Source Serif 4" pitchFamily="34" charset="0"/>
                <a:ea typeface="Source Serif 4" pitchFamily="34" charset="-122"/>
                <a:cs typeface="Source Serif 4" pitchFamily="34" charset="-120"/>
              </a:rPr>
              <a:t>Codify OrderHub standards in layered CLAUDE.md files</a:t>
            </a:r>
            <a:endParaRPr lang="en-US" sz="3200" dirty="0"/>
          </a:p>
        </p:txBody>
      </p:sp>
      <p:sp>
        <p:nvSpPr>
          <p:cNvPr id="5" name="Shape 3"/>
          <p:cNvSpPr/>
          <p:nvPr/>
        </p:nvSpPr>
        <p:spPr>
          <a:xfrm>
            <a:off x="812800" y="2318990"/>
            <a:ext cx="330200" cy="332730"/>
          </a:xfrm>
          <a:prstGeom prst="roundRect">
            <a:avLst>
              <a:gd name="adj" fmla="val 50000"/>
            </a:avLst>
          </a:prstGeom>
          <a:solidFill>
            <a:srgbClr val="D97757"/>
          </a:solidFill>
          <a:ln/>
        </p:spPr>
      </p:sp>
      <p:sp>
        <p:nvSpPr>
          <p:cNvPr id="6" name="Text 4"/>
          <p:cNvSpPr/>
          <p:nvPr/>
        </p:nvSpPr>
        <p:spPr>
          <a:xfrm>
            <a:off x="787400" y="2369790"/>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1</a:t>
            </a:r>
            <a:endParaRPr lang="en-US" sz="1300" dirty="0"/>
          </a:p>
        </p:txBody>
      </p:sp>
      <p:sp>
        <p:nvSpPr>
          <p:cNvPr id="7" name="Text 5"/>
          <p:cNvSpPr/>
          <p:nvPr/>
        </p:nvSpPr>
        <p:spPr>
          <a:xfrm>
            <a:off x="1295400" y="2365325"/>
            <a:ext cx="3795483"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Run /init to generate a baseline CLAUDE.md</a:t>
            </a:r>
            <a:endParaRPr lang="en-US" sz="1400" dirty="0"/>
          </a:p>
        </p:txBody>
      </p:sp>
      <p:sp>
        <p:nvSpPr>
          <p:cNvPr id="8" name="Shape 6"/>
          <p:cNvSpPr/>
          <p:nvPr/>
        </p:nvSpPr>
        <p:spPr>
          <a:xfrm>
            <a:off x="812800" y="2766020"/>
            <a:ext cx="330200" cy="332730"/>
          </a:xfrm>
          <a:prstGeom prst="roundRect">
            <a:avLst>
              <a:gd name="adj" fmla="val 50000"/>
            </a:avLst>
          </a:prstGeom>
          <a:solidFill>
            <a:srgbClr val="D97757"/>
          </a:solidFill>
          <a:ln/>
        </p:spPr>
      </p:sp>
      <p:sp>
        <p:nvSpPr>
          <p:cNvPr id="9" name="Text 7"/>
          <p:cNvSpPr/>
          <p:nvPr/>
        </p:nvSpPr>
        <p:spPr>
          <a:xfrm>
            <a:off x="787400" y="2816820"/>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2</a:t>
            </a:r>
            <a:endParaRPr lang="en-US" sz="1300" dirty="0"/>
          </a:p>
        </p:txBody>
      </p:sp>
      <p:sp>
        <p:nvSpPr>
          <p:cNvPr id="10" name="Text 8"/>
          <p:cNvSpPr/>
          <p:nvPr/>
        </p:nvSpPr>
        <p:spPr>
          <a:xfrm>
            <a:off x="1295400" y="2812355"/>
            <a:ext cx="4952487"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Curate Commands, Architecture, Conventions, Guardrails</a:t>
            </a:r>
            <a:endParaRPr lang="en-US" sz="1400" dirty="0"/>
          </a:p>
        </p:txBody>
      </p:sp>
      <p:sp>
        <p:nvSpPr>
          <p:cNvPr id="11" name="Shape 9"/>
          <p:cNvSpPr/>
          <p:nvPr/>
        </p:nvSpPr>
        <p:spPr>
          <a:xfrm>
            <a:off x="812800" y="3213050"/>
            <a:ext cx="330200" cy="332730"/>
          </a:xfrm>
          <a:prstGeom prst="roundRect">
            <a:avLst>
              <a:gd name="adj" fmla="val 50000"/>
            </a:avLst>
          </a:prstGeom>
          <a:solidFill>
            <a:srgbClr val="D97757"/>
          </a:solidFill>
          <a:ln/>
        </p:spPr>
      </p:sp>
      <p:sp>
        <p:nvSpPr>
          <p:cNvPr id="12" name="Text 10"/>
          <p:cNvSpPr/>
          <p:nvPr/>
        </p:nvSpPr>
        <p:spPr>
          <a:xfrm>
            <a:off x="787400" y="3263850"/>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3</a:t>
            </a:r>
            <a:endParaRPr lang="en-US" sz="1300" dirty="0"/>
          </a:p>
        </p:txBody>
      </p:sp>
      <p:sp>
        <p:nvSpPr>
          <p:cNvPr id="13" name="Text 11"/>
          <p:cNvSpPr/>
          <p:nvPr/>
        </p:nvSpPr>
        <p:spPr>
          <a:xfrm>
            <a:off x="1295400" y="3259386"/>
            <a:ext cx="399042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Import docs/coding-standards.md with @path</a:t>
            </a:r>
            <a:endParaRPr lang="en-US" sz="1400" dirty="0"/>
          </a:p>
        </p:txBody>
      </p:sp>
      <p:sp>
        <p:nvSpPr>
          <p:cNvPr id="14" name="Shape 12"/>
          <p:cNvSpPr/>
          <p:nvPr/>
        </p:nvSpPr>
        <p:spPr>
          <a:xfrm>
            <a:off x="812800" y="3660080"/>
            <a:ext cx="330200" cy="332730"/>
          </a:xfrm>
          <a:prstGeom prst="roundRect">
            <a:avLst>
              <a:gd name="adj" fmla="val 50000"/>
            </a:avLst>
          </a:prstGeom>
          <a:solidFill>
            <a:srgbClr val="D97757"/>
          </a:solidFill>
          <a:ln/>
        </p:spPr>
      </p:sp>
      <p:sp>
        <p:nvSpPr>
          <p:cNvPr id="15" name="Text 13"/>
          <p:cNvSpPr/>
          <p:nvPr/>
        </p:nvSpPr>
        <p:spPr>
          <a:xfrm>
            <a:off x="787400" y="3710880"/>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4</a:t>
            </a:r>
            <a:endParaRPr lang="en-US" sz="1300" dirty="0"/>
          </a:p>
        </p:txBody>
      </p:sp>
      <p:sp>
        <p:nvSpPr>
          <p:cNvPr id="16" name="Text 14"/>
          <p:cNvSpPr/>
          <p:nvPr/>
        </p:nvSpPr>
        <p:spPr>
          <a:xfrm>
            <a:off x="1295400" y="3706416"/>
            <a:ext cx="3954294"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Add src/payments/CLAUDE.md with PCI rules</a:t>
            </a:r>
            <a:endParaRPr lang="en-US" sz="1400" dirty="0"/>
          </a:p>
        </p:txBody>
      </p:sp>
      <p:sp>
        <p:nvSpPr>
          <p:cNvPr id="17" name="Shape 15"/>
          <p:cNvSpPr/>
          <p:nvPr/>
        </p:nvSpPr>
        <p:spPr>
          <a:xfrm>
            <a:off x="812800" y="4107111"/>
            <a:ext cx="330200" cy="332730"/>
          </a:xfrm>
          <a:prstGeom prst="roundRect">
            <a:avLst>
              <a:gd name="adj" fmla="val 50000"/>
            </a:avLst>
          </a:prstGeom>
          <a:solidFill>
            <a:srgbClr val="D97757"/>
          </a:solidFill>
          <a:ln/>
        </p:spPr>
      </p:sp>
      <p:sp>
        <p:nvSpPr>
          <p:cNvPr id="18" name="Text 16"/>
          <p:cNvSpPr/>
          <p:nvPr/>
        </p:nvSpPr>
        <p:spPr>
          <a:xfrm>
            <a:off x="787400" y="4157911"/>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5</a:t>
            </a:r>
            <a:endParaRPr lang="en-US" sz="1300" dirty="0"/>
          </a:p>
        </p:txBody>
      </p:sp>
      <p:sp>
        <p:nvSpPr>
          <p:cNvPr id="19" name="Text 17"/>
          <p:cNvSpPr/>
          <p:nvPr/>
        </p:nvSpPr>
        <p:spPr>
          <a:xfrm>
            <a:off x="1295400" y="4153446"/>
            <a:ext cx="4244222"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Probe: add applyDiscount() → paise maths + test</a:t>
            </a:r>
            <a:endParaRPr lang="en-US" sz="1400" dirty="0"/>
          </a:p>
        </p:txBody>
      </p:sp>
      <p:sp>
        <p:nvSpPr>
          <p:cNvPr id="20" name="Shape 18"/>
          <p:cNvSpPr/>
          <p:nvPr/>
        </p:nvSpPr>
        <p:spPr>
          <a:xfrm>
            <a:off x="812800" y="4554141"/>
            <a:ext cx="330200" cy="332730"/>
          </a:xfrm>
          <a:prstGeom prst="roundRect">
            <a:avLst>
              <a:gd name="adj" fmla="val 50000"/>
            </a:avLst>
          </a:prstGeom>
          <a:solidFill>
            <a:srgbClr val="D97757"/>
          </a:solidFill>
          <a:ln/>
        </p:spPr>
      </p:sp>
      <p:sp>
        <p:nvSpPr>
          <p:cNvPr id="21" name="Text 19"/>
          <p:cNvSpPr/>
          <p:nvPr/>
        </p:nvSpPr>
        <p:spPr>
          <a:xfrm>
            <a:off x="787400" y="4604941"/>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6</a:t>
            </a:r>
            <a:endParaRPr lang="en-US" sz="1300" dirty="0"/>
          </a:p>
        </p:txBody>
      </p:sp>
      <p:sp>
        <p:nvSpPr>
          <p:cNvPr id="22" name="Text 20"/>
          <p:cNvSpPr/>
          <p:nvPr/>
        </p:nvSpPr>
        <p:spPr>
          <a:xfrm>
            <a:off x="1295400" y="4600476"/>
            <a:ext cx="3658694"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Probe: log card data → masked or refused</a:t>
            </a:r>
            <a:endParaRPr lang="en-US" sz="1400" dirty="0"/>
          </a:p>
        </p:txBody>
      </p:sp>
      <p:sp>
        <p:nvSpPr>
          <p:cNvPr id="23" name="Shape 21"/>
          <p:cNvSpPr/>
          <p:nvPr/>
        </p:nvSpPr>
        <p:spPr>
          <a:xfrm>
            <a:off x="7442200" y="2318990"/>
            <a:ext cx="3937000" cy="2491631"/>
          </a:xfrm>
          <a:prstGeom prst="roundRect">
            <a:avLst>
              <a:gd name="adj" fmla="val 4078"/>
            </a:avLst>
          </a:prstGeom>
          <a:solidFill>
            <a:srgbClr val="F0EEE6"/>
          </a:solidFill>
          <a:ln/>
        </p:spPr>
      </p:sp>
      <p:sp>
        <p:nvSpPr>
          <p:cNvPr id="24" name="Text 22"/>
          <p:cNvSpPr/>
          <p:nvPr/>
        </p:nvSpPr>
        <p:spPr>
          <a:xfrm>
            <a:off x="7696200" y="2572990"/>
            <a:ext cx="353187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1E1D"/>
                </a:solidFill>
                <a:latin typeface="Source Serif 4" pitchFamily="34" charset="0"/>
                <a:ea typeface="Source Serif 4" pitchFamily="34" charset="-122"/>
                <a:cs typeface="Source Serif 4" pitchFamily="34" charset="-120"/>
              </a:rPr>
              <a:t>Acceptance criteria</a:t>
            </a:r>
            <a:endParaRPr lang="en-US" sz="1800" dirty="0"/>
          </a:p>
        </p:txBody>
      </p:sp>
      <p:sp>
        <p:nvSpPr>
          <p:cNvPr id="25" name="Text 23"/>
          <p:cNvSpPr/>
          <p:nvPr/>
        </p:nvSpPr>
        <p:spPr>
          <a:xfrm>
            <a:off x="7696200" y="2961580"/>
            <a:ext cx="353187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2F"/>
                </a:solidFill>
                <a:latin typeface="Inter" pitchFamily="34" charset="0"/>
                <a:ea typeface="Inter" pitchFamily="34" charset="-122"/>
                <a:cs typeface="Inter" pitchFamily="34" charset="-120"/>
              </a:rPr>
              <a:t>✓</a:t>
            </a:r>
            <a:r>
              <a:rPr lang="en-US" sz="1300" dirty="0">
                <a:solidFill>
                  <a:srgbClr val="1F1E1D"/>
                </a:solidFill>
                <a:latin typeface="Inter" pitchFamily="34" charset="0"/>
                <a:ea typeface="Inter" pitchFamily="34" charset="-122"/>
                <a:cs typeface="Inter" pitchFamily="34" charset="-120"/>
              </a:rPr>
              <a:t> /memory lists the project file</a:t>
            </a:r>
            <a:endParaRPr lang="en-US" sz="1300" dirty="0"/>
          </a:p>
        </p:txBody>
      </p:sp>
      <p:sp>
        <p:nvSpPr>
          <p:cNvPr id="26" name="Text 24"/>
          <p:cNvSpPr/>
          <p:nvPr/>
        </p:nvSpPr>
        <p:spPr>
          <a:xfrm>
            <a:off x="7696200" y="3307011"/>
            <a:ext cx="353187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2F"/>
                </a:solidFill>
                <a:latin typeface="Inter" pitchFamily="34" charset="0"/>
                <a:ea typeface="Inter" pitchFamily="34" charset="-122"/>
                <a:cs typeface="Inter" pitchFamily="34" charset="-120"/>
              </a:rPr>
              <a:t>✓</a:t>
            </a:r>
            <a:r>
              <a:rPr lang="en-US" sz="1300" dirty="0">
                <a:solidFill>
                  <a:srgbClr val="1F1E1D"/>
                </a:solidFill>
                <a:latin typeface="Inter" pitchFamily="34" charset="0"/>
                <a:ea typeface="Inter" pitchFamily="34" charset="-122"/>
                <a:cs typeface="Inter" pitchFamily="34" charset="-120"/>
              </a:rPr>
              <a:t> Paise maths and a Jest test, unprompted</a:t>
            </a:r>
            <a:endParaRPr lang="en-US" sz="1300" dirty="0"/>
          </a:p>
        </p:txBody>
      </p:sp>
      <p:sp>
        <p:nvSpPr>
          <p:cNvPr id="27" name="Text 25"/>
          <p:cNvSpPr/>
          <p:nvPr/>
        </p:nvSpPr>
        <p:spPr>
          <a:xfrm>
            <a:off x="7696200" y="3652441"/>
            <a:ext cx="353187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2F"/>
                </a:solidFill>
                <a:latin typeface="Inter" pitchFamily="34" charset="0"/>
                <a:ea typeface="Inter" pitchFamily="34" charset="-122"/>
                <a:cs typeface="Inter" pitchFamily="34" charset="-120"/>
              </a:rPr>
              <a:t>✓</a:t>
            </a:r>
            <a:r>
              <a:rPr lang="en-US" sz="1300" dirty="0">
                <a:solidFill>
                  <a:srgbClr val="1F1E1D"/>
                </a:solidFill>
                <a:latin typeface="Inter" pitchFamily="34" charset="0"/>
                <a:ea typeface="Inter" pitchFamily="34" charset="-122"/>
                <a:cs typeface="Inter" pitchFamily="34" charset="-120"/>
              </a:rPr>
              <a:t> Payments rule enforced in scope</a:t>
            </a:r>
            <a:endParaRPr lang="en-US" sz="1300" dirty="0"/>
          </a:p>
        </p:txBody>
      </p:sp>
      <p:sp>
        <p:nvSpPr>
          <p:cNvPr id="28" name="Text 26"/>
          <p:cNvSpPr/>
          <p:nvPr/>
        </p:nvSpPr>
        <p:spPr>
          <a:xfrm>
            <a:off x="7696200" y="3997871"/>
            <a:ext cx="353187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2F"/>
                </a:solidFill>
                <a:latin typeface="Inter" pitchFamily="34" charset="0"/>
                <a:ea typeface="Inter" pitchFamily="34" charset="-122"/>
                <a:cs typeface="Inter" pitchFamily="34" charset="-120"/>
              </a:rPr>
              <a:t>✓</a:t>
            </a:r>
            <a:r>
              <a:rPr lang="en-US" sz="1300" dirty="0">
                <a:solidFill>
                  <a:srgbClr val="1F1E1D"/>
                </a:solidFill>
                <a:latin typeface="Inter" pitchFamily="34" charset="0"/>
                <a:ea typeface="Inter" pitchFamily="34" charset="-122"/>
                <a:cs typeface="Inter" pitchFamily="34" charset="-120"/>
              </a:rPr>
              <a:t> Committed as docs(OHUB-301)</a:t>
            </a:r>
            <a:endParaRPr lang="en-US" sz="1300" dirty="0"/>
          </a:p>
        </p:txBody>
      </p:sp>
      <p:sp>
        <p:nvSpPr>
          <p:cNvPr id="29" name="Text 27"/>
          <p:cNvSpPr/>
          <p:nvPr/>
        </p:nvSpPr>
        <p:spPr>
          <a:xfrm>
            <a:off x="7696200" y="4343301"/>
            <a:ext cx="35318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Full steps: Lab Guide, Lab 1</a:t>
            </a:r>
            <a:endParaRPr lang="en-US" sz="1200" dirty="0"/>
          </a:p>
        </p:txBody>
      </p:sp>
      <p:sp>
        <p:nvSpPr>
          <p:cNvPr id="30" name="Text 28"/>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Module 7 · Extending Claude Code</a:t>
            </a:r>
            <a:endParaRPr lang="en-US" sz="1200" dirty="0"/>
          </a:p>
        </p:txBody>
      </p:sp>
      <p:sp>
        <p:nvSpPr>
          <p:cNvPr id="31" name="Text 29"/>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5D59"/>
                </a:solidFill>
                <a:latin typeface="Inter" pitchFamily="34" charset="0"/>
                <a:ea typeface="Inter" pitchFamily="34" charset="-122"/>
                <a:cs typeface="Inter" pitchFamily="34" charset="-120"/>
              </a:rPr>
              <a:t>01 Instructions · Live demo</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1E1D"/>
        </a:solidFill>
        <a:effectLst/>
      </p:bgPr>
    </p:bg>
    <p:spTree>
      <p:nvGrpSpPr>
        <p:cNvPr id="1" name=""/>
        <p:cNvGrpSpPr/>
        <p:nvPr/>
      </p:nvGrpSpPr>
      <p:grpSpPr>
        <a:xfrm>
          <a:off x="0" y="0"/>
          <a:ext cx="0" cy="0"/>
          <a:chOff x="0" y="0"/>
          <a:chExt cx="0" cy="0"/>
        </a:xfrm>
      </p:grpSpPr>
      <p:pic>
        <p:nvPicPr>
          <p:cNvPr id="2" name="Image 0" descr="Decorative starburst"/>
          <p:cNvPicPr>
            <a:picLocks noChangeAspect="1"/>
          </p:cNvPicPr>
          <p:nvPr/>
        </p:nvPicPr>
        <p:blipFill>
          <a:blip r:embed="rId3"/>
          <a:srcRect/>
          <a:stretch/>
        </p:blipFill>
        <p:spPr>
          <a:xfrm>
            <a:off x="8458200" y="1587500"/>
            <a:ext cx="2921000" cy="2921000"/>
          </a:xfrm>
          <a:prstGeom prst="rect">
            <a:avLst/>
          </a:prstGeom>
        </p:spPr>
      </p:pic>
      <p:sp>
        <p:nvSpPr>
          <p:cNvPr id="3" name="Text 0"/>
          <p:cNvSpPr/>
          <p:nvPr/>
        </p:nvSpPr>
        <p:spPr>
          <a:xfrm>
            <a:off x="812800" y="186184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300" dirty="0">
                <a:solidFill>
                  <a:srgbClr val="D97757"/>
                </a:solidFill>
                <a:latin typeface="Inter" pitchFamily="34" charset="0"/>
                <a:ea typeface="Inter" pitchFamily="34" charset="-122"/>
                <a:cs typeface="Inter" pitchFamily="34" charset="-120"/>
              </a:rPr>
              <a:t>MODULE 7 · TOPIC 02</a:t>
            </a:r>
            <a:endParaRPr lang="en-US" sz="1400" dirty="0"/>
          </a:p>
        </p:txBody>
      </p:sp>
      <p:sp>
        <p:nvSpPr>
          <p:cNvPr id="4" name="Text 1"/>
          <p:cNvSpPr/>
          <p:nvPr/>
        </p:nvSpPr>
        <p:spPr>
          <a:xfrm>
            <a:off x="812800" y="2339330"/>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F4F1EA"/>
                </a:solidFill>
                <a:latin typeface="Source Serif 4" pitchFamily="34" charset="0"/>
                <a:ea typeface="Source Serif 4" pitchFamily="34" charset="-122"/>
                <a:cs typeface="Source Serif 4" pitchFamily="34" charset="-120"/>
              </a:rPr>
              <a:t>Skills</a:t>
            </a:r>
            <a:endParaRPr lang="en-US" sz="8000" dirty="0"/>
          </a:p>
        </p:txBody>
      </p:sp>
      <p:sp>
        <p:nvSpPr>
          <p:cNvPr id="5" name="Text 2"/>
          <p:cNvSpPr/>
          <p:nvPr/>
        </p:nvSpPr>
        <p:spPr>
          <a:xfrm>
            <a:off x="812800" y="3583930"/>
            <a:ext cx="7063740" cy="66546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DB7AB"/>
                </a:solidFill>
                <a:latin typeface="Inter" pitchFamily="34" charset="0"/>
                <a:ea typeface="Inter" pitchFamily="34" charset="-122"/>
                <a:cs typeface="Inter" pitchFamily="34" charset="-120"/>
              </a:rPr>
              <a:t>Packaged, reusable procedures (instructions, templates and scripts) that Claude loads only when a task calls for them.</a:t>
            </a:r>
            <a:endParaRPr lang="en-US" sz="1800" dirty="0"/>
          </a:p>
        </p:txBody>
      </p:sp>
      <p:sp>
        <p:nvSpPr>
          <p:cNvPr id="6" name="Shape 3"/>
          <p:cNvSpPr/>
          <p:nvPr/>
        </p:nvSpPr>
        <p:spPr>
          <a:xfrm>
            <a:off x="812800" y="4452590"/>
            <a:ext cx="2667000" cy="340320"/>
          </a:xfrm>
          <a:prstGeom prst="roundRect">
            <a:avLst>
              <a:gd name="adj" fmla="val 50000"/>
            </a:avLst>
          </a:prstGeom>
          <a:solidFill>
            <a:srgbClr val="D97757"/>
          </a:solidFill>
          <a:ln/>
        </p:spPr>
      </p:sp>
      <p:sp>
        <p:nvSpPr>
          <p:cNvPr id="7" name="Text 4"/>
          <p:cNvSpPr/>
          <p:nvPr/>
        </p:nvSpPr>
        <p:spPr>
          <a:xfrm>
            <a:off x="916686" y="4516090"/>
            <a:ext cx="2459228"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1E1D"/>
                </a:solidFill>
                <a:latin typeface="Inter" pitchFamily="34" charset="0"/>
                <a:ea typeface="Inter" pitchFamily="34" charset="-122"/>
                <a:cs typeface="Inter" pitchFamily="34" charset="-120"/>
              </a:rPr>
              <a:t>Live lab 2 · OHUB-302</a:t>
            </a:r>
            <a:endParaRPr lang="en-US" sz="1200" dirty="0"/>
          </a:p>
        </p:txBody>
      </p:sp>
      <p:sp>
        <p:nvSpPr>
          <p:cNvPr id="8" name="Text 5"/>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DB7AB"/>
                </a:solidFill>
                <a:latin typeface="Inter" pitchFamily="34" charset="0"/>
                <a:ea typeface="Inter" pitchFamily="34" charset="-122"/>
                <a:cs typeface="Inter" pitchFamily="34" charset="-120"/>
              </a:rPr>
              <a:t>Module 7 · Extending Claude Code</a:t>
            </a:r>
            <a:endParaRPr lang="en-US" sz="1200" dirty="0"/>
          </a:p>
        </p:txBody>
      </p:sp>
      <p:sp>
        <p:nvSpPr>
          <p:cNvPr id="9" name="Text 6"/>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DB7AB"/>
                </a:solidFill>
                <a:latin typeface="Inter" pitchFamily="34" charset="0"/>
                <a:ea typeface="Inter" pitchFamily="34" charset="-122"/>
                <a:cs typeface="Inter" pitchFamily="34" charset="-120"/>
              </a:rPr>
              <a:t>02 Skills</a:t>
            </a:r>
            <a:endParaRPr lang="en-US" sz="1200" dirty="0"/>
          </a:p>
        </p:txBody>
      </p:sp>
      <p:pic>
        <p:nvPicPr>
          <p:cNvPr id="10" name="Picture 9">
            <a:extLst>
              <a:ext uri="{FF2B5EF4-FFF2-40B4-BE49-F238E27FC236}">
                <a16:creationId xmlns:a16="http://schemas.microsoft.com/office/drawing/2014/main" id="{6792A88C-D38B-0D3D-81A8-48B486DB93AF}"/>
              </a:ext>
            </a:extLst>
          </p:cNvPr>
          <p:cNvPicPr>
            <a:picLocks noChangeAspect="1"/>
          </p:cNvPicPr>
          <p:nvPr/>
        </p:nvPicPr>
        <p:blipFill>
          <a:blip r:embed="rId4"/>
          <a:stretch>
            <a:fillRect/>
          </a:stretch>
        </p:blipFill>
        <p:spPr>
          <a:xfrm>
            <a:off x="8319198" y="304864"/>
            <a:ext cx="3497759" cy="7547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E1D"/>
                </a:solidFill>
                <a:latin typeface="Source Serif 4" pitchFamily="34" charset="0"/>
                <a:ea typeface="Source Serif 4" pitchFamily="34" charset="-122"/>
                <a:cs typeface="Source Serif 4" pitchFamily="34" charset="-120"/>
              </a:rPr>
              <a:t>Skills: expertise loaded on demand</a:t>
            </a:r>
            <a:endParaRPr lang="en-US" sz="3200" dirty="0"/>
          </a:p>
        </p:txBody>
      </p:sp>
      <p:sp>
        <p:nvSpPr>
          <p:cNvPr id="3" name="Shape 1"/>
          <p:cNvSpPr/>
          <p:nvPr/>
        </p:nvSpPr>
        <p:spPr>
          <a:xfrm>
            <a:off x="812800" y="1653530"/>
            <a:ext cx="88900" cy="88900"/>
          </a:xfrm>
          <a:prstGeom prst="roundRect">
            <a:avLst>
              <a:gd name="adj" fmla="val 21429"/>
            </a:avLst>
          </a:prstGeom>
          <a:solidFill>
            <a:srgbClr val="D97757"/>
          </a:solidFill>
          <a:ln/>
        </p:spPr>
      </p:sp>
      <p:sp>
        <p:nvSpPr>
          <p:cNvPr id="4" name="Text 2"/>
          <p:cNvSpPr/>
          <p:nvPr/>
        </p:nvSpPr>
        <p:spPr>
          <a:xfrm>
            <a:off x="1028700" y="1564630"/>
            <a:ext cx="461759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1E1D"/>
                </a:solidFill>
                <a:latin typeface="Inter" pitchFamily="34" charset="0"/>
                <a:ea typeface="Inter" pitchFamily="34" charset="-122"/>
                <a:cs typeface="Inter" pitchFamily="34" charset="-120"/>
              </a:rPr>
              <a:t>A skill is a folder with </a:t>
            </a:r>
            <a:r>
              <a:rPr lang="en-US" sz="1400" b="1" dirty="0">
                <a:solidFill>
                  <a:srgbClr val="1F1E1D"/>
                </a:solidFill>
                <a:latin typeface="Inter" pitchFamily="34" charset="0"/>
                <a:ea typeface="Inter" pitchFamily="34" charset="-122"/>
                <a:cs typeface="Inter" pitchFamily="34" charset="-120"/>
              </a:rPr>
              <a:t>SKILL.md</a:t>
            </a:r>
            <a:r>
              <a:rPr lang="en-US" sz="1400" dirty="0">
                <a:solidFill>
                  <a:srgbClr val="1F1E1D"/>
                </a:solidFill>
                <a:latin typeface="Inter" pitchFamily="34" charset="0"/>
                <a:ea typeface="Inter" pitchFamily="34" charset="-122"/>
                <a:cs typeface="Inter" pitchFamily="34" charset="-120"/>
              </a:rPr>
              <a:t>: YAML name and description, then instructions.</a:t>
            </a:r>
            <a:endParaRPr lang="en-US" sz="1400" dirty="0"/>
          </a:p>
        </p:txBody>
      </p:sp>
      <p:sp>
        <p:nvSpPr>
          <p:cNvPr id="5" name="Shape 3"/>
          <p:cNvSpPr/>
          <p:nvPr/>
        </p:nvSpPr>
        <p:spPr>
          <a:xfrm>
            <a:off x="812800" y="2329111"/>
            <a:ext cx="88900" cy="88900"/>
          </a:xfrm>
          <a:prstGeom prst="roundRect">
            <a:avLst>
              <a:gd name="adj" fmla="val 21429"/>
            </a:avLst>
          </a:prstGeom>
          <a:solidFill>
            <a:srgbClr val="D97757"/>
          </a:solidFill>
          <a:ln/>
        </p:spPr>
      </p:sp>
      <p:sp>
        <p:nvSpPr>
          <p:cNvPr id="6" name="Text 4"/>
          <p:cNvSpPr/>
          <p:nvPr/>
        </p:nvSpPr>
        <p:spPr>
          <a:xfrm>
            <a:off x="1028700" y="2240211"/>
            <a:ext cx="461759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1E1D"/>
                </a:solidFill>
                <a:latin typeface="Inter" pitchFamily="34" charset="0"/>
                <a:ea typeface="Inter" pitchFamily="34" charset="-122"/>
                <a:cs typeface="Inter" pitchFamily="34" charset="-120"/>
              </a:rPr>
              <a:t>Progressive disclosure: only the name and description sit in context until the skill is needed.</a:t>
            </a:r>
            <a:endParaRPr lang="en-US" sz="1400" dirty="0"/>
          </a:p>
        </p:txBody>
      </p:sp>
      <p:sp>
        <p:nvSpPr>
          <p:cNvPr id="7" name="Shape 5"/>
          <p:cNvSpPr/>
          <p:nvPr/>
        </p:nvSpPr>
        <p:spPr>
          <a:xfrm>
            <a:off x="812800" y="3004691"/>
            <a:ext cx="88900" cy="88900"/>
          </a:xfrm>
          <a:prstGeom prst="roundRect">
            <a:avLst>
              <a:gd name="adj" fmla="val 21429"/>
            </a:avLst>
          </a:prstGeom>
          <a:solidFill>
            <a:srgbClr val="D97757"/>
          </a:solidFill>
          <a:ln/>
        </p:spPr>
      </p:sp>
      <p:sp>
        <p:nvSpPr>
          <p:cNvPr id="8" name="Text 6"/>
          <p:cNvSpPr/>
          <p:nvPr/>
        </p:nvSpPr>
        <p:spPr>
          <a:xfrm>
            <a:off x="1028700" y="2915791"/>
            <a:ext cx="461759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1E1D"/>
                </a:solidFill>
                <a:latin typeface="Inter" pitchFamily="34" charset="0"/>
                <a:ea typeface="Inter" pitchFamily="34" charset="-122"/>
                <a:cs typeface="Inter" pitchFamily="34" charset="-120"/>
              </a:rPr>
              <a:t>Claude selects a skill from its description, or you run it as </a:t>
            </a:r>
            <a:r>
              <a:rPr lang="en-US" sz="1400" b="1" dirty="0">
                <a:solidFill>
                  <a:srgbClr val="1F1E1D"/>
                </a:solidFill>
                <a:latin typeface="Inter" pitchFamily="34" charset="0"/>
                <a:ea typeface="Inter" pitchFamily="34" charset="-122"/>
                <a:cs typeface="Inter" pitchFamily="34" charset="-120"/>
              </a:rPr>
              <a:t>/skill-name</a:t>
            </a:r>
            <a:r>
              <a:rPr lang="en-US" sz="1400" dirty="0">
                <a:solidFill>
                  <a:srgbClr val="1F1E1D"/>
                </a:solidFill>
                <a:latin typeface="Inter" pitchFamily="34" charset="0"/>
                <a:ea typeface="Inter" pitchFamily="34" charset="-122"/>
                <a:cs typeface="Inter" pitchFamily="34" charset="-120"/>
              </a:rPr>
              <a:t>.</a:t>
            </a:r>
            <a:endParaRPr lang="en-US" sz="1400" dirty="0"/>
          </a:p>
        </p:txBody>
      </p:sp>
      <p:sp>
        <p:nvSpPr>
          <p:cNvPr id="9" name="Shape 7"/>
          <p:cNvSpPr/>
          <p:nvPr/>
        </p:nvSpPr>
        <p:spPr>
          <a:xfrm>
            <a:off x="812800" y="3680271"/>
            <a:ext cx="88900" cy="88900"/>
          </a:xfrm>
          <a:prstGeom prst="roundRect">
            <a:avLst>
              <a:gd name="adj" fmla="val 21429"/>
            </a:avLst>
          </a:prstGeom>
          <a:solidFill>
            <a:srgbClr val="D97757"/>
          </a:solidFill>
          <a:ln/>
        </p:spPr>
      </p:sp>
      <p:sp>
        <p:nvSpPr>
          <p:cNvPr id="10" name="Text 8"/>
          <p:cNvSpPr/>
          <p:nvPr/>
        </p:nvSpPr>
        <p:spPr>
          <a:xfrm>
            <a:off x="1028700" y="3591371"/>
            <a:ext cx="461759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1E1D"/>
                </a:solidFill>
                <a:latin typeface="Inter" pitchFamily="34" charset="0"/>
                <a:ea typeface="Inter" pitchFamily="34" charset="-122"/>
                <a:cs typeface="Inter" pitchFamily="34" charset="-120"/>
              </a:rPr>
              <a:t>Bundle templates and scripts. Scope to </a:t>
            </a:r>
            <a:r>
              <a:rPr lang="en-US" sz="1400" b="1" dirty="0">
                <a:solidFill>
                  <a:srgbClr val="1F1E1D"/>
                </a:solidFill>
                <a:latin typeface="Inter" pitchFamily="34" charset="0"/>
                <a:ea typeface="Inter" pitchFamily="34" charset="-122"/>
                <a:cs typeface="Inter" pitchFamily="34" charset="-120"/>
              </a:rPr>
              <a:t>~/.claude/skills</a:t>
            </a:r>
            <a:r>
              <a:rPr lang="en-US" sz="1400" dirty="0">
                <a:solidFill>
                  <a:srgbClr val="1F1E1D"/>
                </a:solidFill>
                <a:latin typeface="Inter" pitchFamily="34" charset="0"/>
                <a:ea typeface="Inter" pitchFamily="34" charset="-122"/>
                <a:cs typeface="Inter" pitchFamily="34" charset="-120"/>
              </a:rPr>
              <a:t>, </a:t>
            </a:r>
            <a:r>
              <a:rPr lang="en-US" sz="1400" b="1" dirty="0">
                <a:solidFill>
                  <a:srgbClr val="1F1E1D"/>
                </a:solidFill>
                <a:latin typeface="Inter" pitchFamily="34" charset="0"/>
                <a:ea typeface="Inter" pitchFamily="34" charset="-122"/>
                <a:cs typeface="Inter" pitchFamily="34" charset="-120"/>
              </a:rPr>
              <a:t>.claude/skills</a:t>
            </a:r>
            <a:r>
              <a:rPr lang="en-US" sz="1400" dirty="0">
                <a:solidFill>
                  <a:srgbClr val="1F1E1D"/>
                </a:solidFill>
                <a:latin typeface="Inter" pitchFamily="34" charset="0"/>
                <a:ea typeface="Inter" pitchFamily="34" charset="-122"/>
                <a:cs typeface="Inter" pitchFamily="34" charset="-120"/>
              </a:rPr>
              <a:t> or a plugin.</a:t>
            </a:r>
            <a:endParaRPr lang="en-US" sz="1400" dirty="0"/>
          </a:p>
        </p:txBody>
      </p:sp>
      <p:sp>
        <p:nvSpPr>
          <p:cNvPr id="11" name="Shape 9"/>
          <p:cNvSpPr/>
          <p:nvPr/>
        </p:nvSpPr>
        <p:spPr>
          <a:xfrm>
            <a:off x="5918200" y="1564630"/>
            <a:ext cx="5461000" cy="3474442"/>
          </a:xfrm>
          <a:prstGeom prst="roundRect">
            <a:avLst>
              <a:gd name="adj" fmla="val 2924"/>
            </a:avLst>
          </a:prstGeom>
          <a:solidFill>
            <a:srgbClr val="262524"/>
          </a:solidFill>
          <a:ln/>
        </p:spPr>
      </p:sp>
      <p:sp>
        <p:nvSpPr>
          <p:cNvPr id="12" name="Text 10"/>
          <p:cNvSpPr/>
          <p:nvPr/>
        </p:nvSpPr>
        <p:spPr>
          <a:xfrm>
            <a:off x="6172200" y="1818630"/>
            <a:ext cx="510159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97757"/>
                </a:solidFill>
                <a:latin typeface="JetBrains Mono" pitchFamily="34" charset="0"/>
                <a:ea typeface="JetBrains Mono" pitchFamily="34" charset="-122"/>
                <a:cs typeface="JetBrains Mono" pitchFamily="34" charset="-120"/>
              </a:rPr>
              <a:t>.claude/skills/release-notes/SKILL.md</a:t>
            </a:r>
            <a:endParaRPr lang="en-US" sz="1200" dirty="0"/>
          </a:p>
        </p:txBody>
      </p:sp>
      <p:sp>
        <p:nvSpPr>
          <p:cNvPr id="13" name="Text 11"/>
          <p:cNvSpPr/>
          <p:nvPr/>
        </p:nvSpPr>
        <p:spPr>
          <a:xfrm>
            <a:off x="6172200" y="2133550"/>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a:t>
            </a:r>
            <a:endParaRPr lang="en-US" sz="1200" dirty="0"/>
          </a:p>
        </p:txBody>
      </p:sp>
      <p:sp>
        <p:nvSpPr>
          <p:cNvPr id="14" name="Text 12"/>
          <p:cNvSpPr/>
          <p:nvPr/>
        </p:nvSpPr>
        <p:spPr>
          <a:xfrm>
            <a:off x="6172200" y="235451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name: release-notes</a:t>
            </a:r>
            <a:endParaRPr lang="en-US" sz="1200" dirty="0"/>
          </a:p>
        </p:txBody>
      </p:sp>
      <p:sp>
        <p:nvSpPr>
          <p:cNvPr id="15" name="Text 13"/>
          <p:cNvSpPr/>
          <p:nvPr/>
        </p:nvSpPr>
        <p:spPr>
          <a:xfrm>
            <a:off x="6172200" y="257547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description: Generates release notes from</a:t>
            </a:r>
            <a:endParaRPr lang="en-US" sz="1200" dirty="0"/>
          </a:p>
        </p:txBody>
      </p:sp>
      <p:sp>
        <p:nvSpPr>
          <p:cNvPr id="16" name="Text 14"/>
          <p:cNvSpPr/>
          <p:nvPr/>
        </p:nvSpPr>
        <p:spPr>
          <a:xfrm>
            <a:off x="6172200" y="279643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Conventional Commits. Use when asked for</a:t>
            </a:r>
            <a:endParaRPr lang="en-US" sz="1200" dirty="0"/>
          </a:p>
        </p:txBody>
      </p:sp>
      <p:sp>
        <p:nvSpPr>
          <p:cNvPr id="17" name="Text 15"/>
          <p:cNvSpPr/>
          <p:nvPr/>
        </p:nvSpPr>
        <p:spPr>
          <a:xfrm>
            <a:off x="6172200" y="301739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release notes or a changelog.</a:t>
            </a:r>
            <a:endParaRPr lang="en-US" sz="1200" dirty="0"/>
          </a:p>
        </p:txBody>
      </p:sp>
      <p:sp>
        <p:nvSpPr>
          <p:cNvPr id="18" name="Text 16"/>
          <p:cNvSpPr/>
          <p:nvPr/>
        </p:nvSpPr>
        <p:spPr>
          <a:xfrm>
            <a:off x="6172200" y="323835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a:t>
            </a:r>
            <a:endParaRPr lang="en-US" sz="1200" dirty="0"/>
          </a:p>
        </p:txBody>
      </p:sp>
      <p:sp>
        <p:nvSpPr>
          <p:cNvPr id="19" name="Text 17"/>
          <p:cNvSpPr/>
          <p:nvPr/>
        </p:nvSpPr>
        <p:spPr>
          <a:xfrm>
            <a:off x="6172200" y="345931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Procedure</a:t>
            </a:r>
            <a:endParaRPr lang="en-US" sz="1200" dirty="0"/>
          </a:p>
        </p:txBody>
      </p:sp>
      <p:sp>
        <p:nvSpPr>
          <p:cNvPr id="20" name="Text 18"/>
          <p:cNvSpPr/>
          <p:nvPr/>
        </p:nvSpPr>
        <p:spPr>
          <a:xfrm>
            <a:off x="6172200" y="368027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1. Run scripts/commits.sh &lt;FROM&gt; &lt;TO&gt;</a:t>
            </a:r>
            <a:endParaRPr lang="en-US" sz="1200" dirty="0"/>
          </a:p>
        </p:txBody>
      </p:sp>
      <p:sp>
        <p:nvSpPr>
          <p:cNvPr id="21" name="Text 19"/>
          <p:cNvSpPr/>
          <p:nvPr/>
        </p:nvSpPr>
        <p:spPr>
          <a:xfrm>
            <a:off x="6172200" y="3901232"/>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2. Map feat / fix / perf to sections</a:t>
            </a:r>
            <a:endParaRPr lang="en-US" sz="1200" dirty="0"/>
          </a:p>
        </p:txBody>
      </p:sp>
      <p:sp>
        <p:nvSpPr>
          <p:cNvPr id="22" name="Text 20"/>
          <p:cNvSpPr/>
          <p:nvPr/>
        </p:nvSpPr>
        <p:spPr>
          <a:xfrm>
            <a:off x="6172200" y="4122192"/>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3. Fill template.md exactly</a:t>
            </a:r>
            <a:endParaRPr lang="en-US" sz="1200" dirty="0"/>
          </a:p>
        </p:txBody>
      </p:sp>
      <p:sp>
        <p:nvSpPr>
          <p:cNvPr id="23" name="Text 21"/>
          <p:cNvSpPr/>
          <p:nvPr/>
        </p:nvSpPr>
        <p:spPr>
          <a:xfrm>
            <a:off x="6172200" y="4343152"/>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Rules</a:t>
            </a:r>
            <a:endParaRPr lang="en-US" sz="1200" dirty="0"/>
          </a:p>
        </p:txBody>
      </p:sp>
      <p:sp>
        <p:nvSpPr>
          <p:cNvPr id="24" name="Text 22"/>
          <p:cNvSpPr/>
          <p:nvPr/>
        </p:nvSpPr>
        <p:spPr>
          <a:xfrm>
            <a:off x="6172200" y="4564112"/>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Never add items not in git history</a:t>
            </a:r>
            <a:endParaRPr lang="en-US" sz="1200" dirty="0"/>
          </a:p>
        </p:txBody>
      </p:sp>
      <p:sp>
        <p:nvSpPr>
          <p:cNvPr id="25" name="Text 2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Module 7 · Extending Claude Code</a:t>
            </a:r>
            <a:endParaRPr lang="en-US" sz="1200" dirty="0"/>
          </a:p>
        </p:txBody>
      </p:sp>
      <p:sp>
        <p:nvSpPr>
          <p:cNvPr id="26" name="Text 24"/>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5D59"/>
                </a:solidFill>
                <a:latin typeface="Inter" pitchFamily="34" charset="0"/>
                <a:ea typeface="Inter" pitchFamily="34" charset="-122"/>
                <a:cs typeface="Inter" pitchFamily="34" charset="-120"/>
              </a:rPr>
              <a:t>02 Skills · Concept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E1D"/>
                </a:solidFill>
                <a:latin typeface="Source Serif 4" pitchFamily="34" charset="0"/>
                <a:ea typeface="Source Serif 4" pitchFamily="34" charset="-122"/>
                <a:cs typeface="Source Serif 4" pitchFamily="34" charset="-120"/>
              </a:rPr>
              <a:t>Skills in practice with Claude Code</a:t>
            </a:r>
            <a:endParaRPr lang="en-US" sz="3200" dirty="0"/>
          </a:p>
        </p:txBody>
      </p:sp>
      <p:sp>
        <p:nvSpPr>
          <p:cNvPr id="3" name="Shape 1"/>
          <p:cNvSpPr/>
          <p:nvPr/>
        </p:nvSpPr>
        <p:spPr>
          <a:xfrm>
            <a:off x="815975" y="1567805"/>
            <a:ext cx="3380284" cy="4271020"/>
          </a:xfrm>
          <a:prstGeom prst="roundRect">
            <a:avLst>
              <a:gd name="adj" fmla="val 2912"/>
            </a:avLst>
          </a:prstGeom>
          <a:solidFill>
            <a:srgbClr val="FAF9F5"/>
          </a:solidFill>
          <a:ln w="6350">
            <a:solidFill>
              <a:srgbClr val="DEDBD2"/>
            </a:solidFill>
            <a:prstDash val="solid"/>
          </a:ln>
        </p:spPr>
      </p:sp>
      <p:sp>
        <p:nvSpPr>
          <p:cNvPr id="4" name="Text 2"/>
          <p:cNvSpPr/>
          <p:nvPr/>
        </p:nvSpPr>
        <p:spPr>
          <a:xfrm>
            <a:off x="1073150" y="1824980"/>
            <a:ext cx="295191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2F"/>
                </a:solidFill>
                <a:latin typeface="Inter" pitchFamily="34" charset="0"/>
                <a:ea typeface="Inter" pitchFamily="34" charset="-122"/>
                <a:cs typeface="Inter" pitchFamily="34" charset="-120"/>
              </a:rPr>
              <a:t>EXAMPLE 1</a:t>
            </a:r>
            <a:endParaRPr lang="en-US" sz="1200" dirty="0"/>
          </a:p>
        </p:txBody>
      </p:sp>
      <p:sp>
        <p:nvSpPr>
          <p:cNvPr id="5" name="Text 3"/>
          <p:cNvSpPr/>
          <p:nvPr/>
        </p:nvSpPr>
        <p:spPr>
          <a:xfrm>
            <a:off x="1073150" y="2165300"/>
            <a:ext cx="295191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1E1D"/>
                </a:solidFill>
                <a:latin typeface="Source Serif 4" pitchFamily="34" charset="0"/>
                <a:ea typeface="Source Serif 4" pitchFamily="34" charset="-122"/>
                <a:cs typeface="Source Serif 4" pitchFamily="34" charset="-120"/>
              </a:rPr>
              <a:t>Release notes</a:t>
            </a:r>
            <a:endParaRPr lang="en-US" sz="1800" dirty="0"/>
          </a:p>
        </p:txBody>
      </p:sp>
      <p:sp>
        <p:nvSpPr>
          <p:cNvPr id="6" name="Text 4"/>
          <p:cNvSpPr/>
          <p:nvPr/>
        </p:nvSpPr>
        <p:spPr>
          <a:xfrm>
            <a:off x="1073150" y="2566591"/>
            <a:ext cx="2951912" cy="98286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5E5D59"/>
                </a:solidFill>
                <a:latin typeface="Inter" pitchFamily="34" charset="0"/>
                <a:ea typeface="Inter" pitchFamily="34" charset="-122"/>
                <a:cs typeface="Inter" pitchFamily="34" charset="-120"/>
              </a:rPr>
              <a:t>Turns git history into customer-ready notes in the approved template, grouped by feature, fix and performance.</a:t>
            </a:r>
            <a:endParaRPr lang="en-US" sz="1300" dirty="0"/>
          </a:p>
        </p:txBody>
      </p:sp>
      <p:sp>
        <p:nvSpPr>
          <p:cNvPr id="7" name="Shape 5"/>
          <p:cNvSpPr/>
          <p:nvPr/>
        </p:nvSpPr>
        <p:spPr>
          <a:xfrm>
            <a:off x="1073150" y="5215930"/>
            <a:ext cx="2865934" cy="365720"/>
          </a:xfrm>
          <a:prstGeom prst="roundRect">
            <a:avLst>
              <a:gd name="adj" fmla="val 13890"/>
            </a:avLst>
          </a:prstGeom>
          <a:solidFill>
            <a:srgbClr val="1F1E1D"/>
          </a:solidFill>
          <a:ln/>
        </p:spPr>
      </p:sp>
      <p:sp>
        <p:nvSpPr>
          <p:cNvPr id="8" name="Text 6"/>
          <p:cNvSpPr/>
          <p:nvPr/>
        </p:nvSpPr>
        <p:spPr>
          <a:xfrm>
            <a:off x="1187450" y="5292130"/>
            <a:ext cx="271645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1EA"/>
                </a:solidFill>
                <a:latin typeface="JetBrains Mono" pitchFamily="34" charset="0"/>
                <a:ea typeface="JetBrains Mono" pitchFamily="34" charset="-122"/>
                <a:cs typeface="JetBrains Mono" pitchFamily="34" charset="-120"/>
              </a:rPr>
              <a:t>/release-notes v1.4.0</a:t>
            </a:r>
            <a:endParaRPr lang="en-US" sz="1200" dirty="0"/>
          </a:p>
        </p:txBody>
      </p:sp>
      <p:sp>
        <p:nvSpPr>
          <p:cNvPr id="9" name="Shape 7"/>
          <p:cNvSpPr/>
          <p:nvPr/>
        </p:nvSpPr>
        <p:spPr>
          <a:xfrm>
            <a:off x="4405809" y="1567805"/>
            <a:ext cx="3380333" cy="4271020"/>
          </a:xfrm>
          <a:prstGeom prst="roundRect">
            <a:avLst>
              <a:gd name="adj" fmla="val 2912"/>
            </a:avLst>
          </a:prstGeom>
          <a:solidFill>
            <a:srgbClr val="FAF9F5"/>
          </a:solidFill>
          <a:ln w="6350">
            <a:solidFill>
              <a:srgbClr val="DEDBD2"/>
            </a:solidFill>
            <a:prstDash val="solid"/>
          </a:ln>
        </p:spPr>
      </p:sp>
      <p:sp>
        <p:nvSpPr>
          <p:cNvPr id="10" name="Text 8"/>
          <p:cNvSpPr/>
          <p:nvPr/>
        </p:nvSpPr>
        <p:spPr>
          <a:xfrm>
            <a:off x="4662984" y="1824980"/>
            <a:ext cx="295196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2F"/>
                </a:solidFill>
                <a:latin typeface="Inter" pitchFamily="34" charset="0"/>
                <a:ea typeface="Inter" pitchFamily="34" charset="-122"/>
                <a:cs typeface="Inter" pitchFamily="34" charset="-120"/>
              </a:rPr>
              <a:t>EXAMPLE 2</a:t>
            </a:r>
            <a:endParaRPr lang="en-US" sz="1200" dirty="0"/>
          </a:p>
        </p:txBody>
      </p:sp>
      <p:sp>
        <p:nvSpPr>
          <p:cNvPr id="11" name="Text 9"/>
          <p:cNvSpPr/>
          <p:nvPr/>
        </p:nvSpPr>
        <p:spPr>
          <a:xfrm>
            <a:off x="4662984" y="2165300"/>
            <a:ext cx="29519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1E1D"/>
                </a:solidFill>
                <a:latin typeface="Source Serif 4" pitchFamily="34" charset="0"/>
                <a:ea typeface="Source Serif 4" pitchFamily="34" charset="-122"/>
                <a:cs typeface="Source Serif 4" pitchFamily="34" charset="-120"/>
              </a:rPr>
              <a:t>API endpoint scaffold</a:t>
            </a:r>
            <a:endParaRPr lang="en-US" sz="1800" dirty="0"/>
          </a:p>
        </p:txBody>
      </p:sp>
      <p:sp>
        <p:nvSpPr>
          <p:cNvPr id="12" name="Text 10"/>
          <p:cNvSpPr/>
          <p:nvPr/>
        </p:nvSpPr>
        <p:spPr>
          <a:xfrm>
            <a:off x="4662984" y="2566591"/>
            <a:ext cx="2951963" cy="98286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5E5D59"/>
                </a:solidFill>
                <a:latin typeface="Inter" pitchFamily="34" charset="0"/>
                <a:ea typeface="Inter" pitchFamily="34" charset="-122"/>
                <a:cs typeface="Inter" pitchFamily="34" charset="-120"/>
              </a:rPr>
              <a:t>Creates route, validator, handler and test from the squad template, so every new endpoint has the same shape.</a:t>
            </a:r>
            <a:endParaRPr lang="en-US" sz="1300" dirty="0"/>
          </a:p>
        </p:txBody>
      </p:sp>
      <p:sp>
        <p:nvSpPr>
          <p:cNvPr id="13" name="Shape 11"/>
          <p:cNvSpPr/>
          <p:nvPr/>
        </p:nvSpPr>
        <p:spPr>
          <a:xfrm>
            <a:off x="4662984" y="5215930"/>
            <a:ext cx="2865983" cy="365720"/>
          </a:xfrm>
          <a:prstGeom prst="roundRect">
            <a:avLst>
              <a:gd name="adj" fmla="val 13890"/>
            </a:avLst>
          </a:prstGeom>
          <a:solidFill>
            <a:srgbClr val="1F1E1D"/>
          </a:solidFill>
          <a:ln/>
        </p:spPr>
      </p:sp>
      <p:sp>
        <p:nvSpPr>
          <p:cNvPr id="14" name="Text 12"/>
          <p:cNvSpPr/>
          <p:nvPr/>
        </p:nvSpPr>
        <p:spPr>
          <a:xfrm>
            <a:off x="4777284" y="5292130"/>
            <a:ext cx="271650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1EA"/>
                </a:solidFill>
                <a:latin typeface="JetBrains Mono" pitchFamily="34" charset="0"/>
                <a:ea typeface="JetBrains Mono" pitchFamily="34" charset="-122"/>
                <a:cs typeface="JetBrains Mono" pitchFamily="34" charset="-120"/>
              </a:rPr>
              <a:t>/new-endpoint POST /refunds</a:t>
            </a:r>
            <a:endParaRPr lang="en-US" sz="1200" dirty="0"/>
          </a:p>
        </p:txBody>
      </p:sp>
      <p:sp>
        <p:nvSpPr>
          <p:cNvPr id="15" name="Shape 13"/>
          <p:cNvSpPr/>
          <p:nvPr/>
        </p:nvSpPr>
        <p:spPr>
          <a:xfrm>
            <a:off x="7995692" y="1567805"/>
            <a:ext cx="3380333" cy="4271020"/>
          </a:xfrm>
          <a:prstGeom prst="roundRect">
            <a:avLst>
              <a:gd name="adj" fmla="val 2912"/>
            </a:avLst>
          </a:prstGeom>
          <a:solidFill>
            <a:srgbClr val="FAF9F5"/>
          </a:solidFill>
          <a:ln w="6350">
            <a:solidFill>
              <a:srgbClr val="DEDBD2"/>
            </a:solidFill>
            <a:prstDash val="solid"/>
          </a:ln>
        </p:spPr>
      </p:sp>
      <p:sp>
        <p:nvSpPr>
          <p:cNvPr id="16" name="Text 14"/>
          <p:cNvSpPr/>
          <p:nvPr/>
        </p:nvSpPr>
        <p:spPr>
          <a:xfrm>
            <a:off x="8252867" y="1824980"/>
            <a:ext cx="295196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2F"/>
                </a:solidFill>
                <a:latin typeface="Inter" pitchFamily="34" charset="0"/>
                <a:ea typeface="Inter" pitchFamily="34" charset="-122"/>
                <a:cs typeface="Inter" pitchFamily="34" charset="-120"/>
              </a:rPr>
              <a:t>EXAMPLE 3</a:t>
            </a:r>
            <a:endParaRPr lang="en-US" sz="1200" dirty="0"/>
          </a:p>
        </p:txBody>
      </p:sp>
      <p:sp>
        <p:nvSpPr>
          <p:cNvPr id="17" name="Text 15"/>
          <p:cNvSpPr/>
          <p:nvPr/>
        </p:nvSpPr>
        <p:spPr>
          <a:xfrm>
            <a:off x="8252867" y="2165300"/>
            <a:ext cx="29519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1E1D"/>
                </a:solidFill>
                <a:latin typeface="Source Serif 4" pitchFamily="34" charset="0"/>
                <a:ea typeface="Source Serif 4" pitchFamily="34" charset="-122"/>
                <a:cs typeface="Source Serif 4" pitchFamily="34" charset="-120"/>
              </a:rPr>
              <a:t>Incident postmortem</a:t>
            </a:r>
            <a:endParaRPr lang="en-US" sz="1800" dirty="0"/>
          </a:p>
        </p:txBody>
      </p:sp>
      <p:sp>
        <p:nvSpPr>
          <p:cNvPr id="18" name="Text 16"/>
          <p:cNvSpPr/>
          <p:nvPr/>
        </p:nvSpPr>
        <p:spPr>
          <a:xfrm>
            <a:off x="8252867" y="2566591"/>
            <a:ext cx="2951963" cy="74349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5E5D59"/>
                </a:solidFill>
                <a:latin typeface="Inter" pitchFamily="34" charset="0"/>
                <a:ea typeface="Inter" pitchFamily="34" charset="-122"/>
                <a:cs typeface="Inter" pitchFamily="34" charset="-120"/>
              </a:rPr>
              <a:t>Pulls the timeline from logs and commits, then drafts a blameless postmortem in the SRE template.</a:t>
            </a:r>
            <a:endParaRPr lang="en-US" sz="1300" dirty="0"/>
          </a:p>
        </p:txBody>
      </p:sp>
      <p:sp>
        <p:nvSpPr>
          <p:cNvPr id="19" name="Shape 17"/>
          <p:cNvSpPr/>
          <p:nvPr/>
        </p:nvSpPr>
        <p:spPr>
          <a:xfrm>
            <a:off x="8252867" y="5215930"/>
            <a:ext cx="2865983" cy="365720"/>
          </a:xfrm>
          <a:prstGeom prst="roundRect">
            <a:avLst>
              <a:gd name="adj" fmla="val 13890"/>
            </a:avLst>
          </a:prstGeom>
          <a:solidFill>
            <a:srgbClr val="1F1E1D"/>
          </a:solidFill>
          <a:ln/>
        </p:spPr>
      </p:sp>
      <p:sp>
        <p:nvSpPr>
          <p:cNvPr id="20" name="Text 18"/>
          <p:cNvSpPr/>
          <p:nvPr/>
        </p:nvSpPr>
        <p:spPr>
          <a:xfrm>
            <a:off x="8367167" y="5292130"/>
            <a:ext cx="271650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1EA"/>
                </a:solidFill>
                <a:latin typeface="JetBrains Mono" pitchFamily="34" charset="0"/>
                <a:ea typeface="JetBrains Mono" pitchFamily="34" charset="-122"/>
                <a:cs typeface="JetBrains Mono" pitchFamily="34" charset="-120"/>
              </a:rPr>
              <a:t>Draft the INC-482 postmortem</a:t>
            </a:r>
            <a:endParaRPr lang="en-US" sz="1200" dirty="0"/>
          </a:p>
        </p:txBody>
      </p:sp>
      <p:sp>
        <p:nvSpPr>
          <p:cNvPr id="21" name="Text 1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Module 7 · Extending Claude Code</a:t>
            </a:r>
            <a:endParaRPr lang="en-US" sz="1200" dirty="0"/>
          </a:p>
        </p:txBody>
      </p:sp>
      <p:sp>
        <p:nvSpPr>
          <p:cNvPr id="22" name="Text 20"/>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5D59"/>
                </a:solidFill>
                <a:latin typeface="Inter" pitchFamily="34" charset="0"/>
                <a:ea typeface="Inter" pitchFamily="34" charset="-122"/>
                <a:cs typeface="Inter" pitchFamily="34" charset="-120"/>
              </a:rPr>
              <a:t>02 Skills · Examples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E1D"/>
                </a:solidFill>
                <a:latin typeface="Source Serif 4" pitchFamily="34" charset="0"/>
                <a:ea typeface="Source Serif 4" pitchFamily="34" charset="-122"/>
                <a:cs typeface="Source Serif 4" pitchFamily="34" charset="-120"/>
              </a:rPr>
              <a:t>Use case: one release-notes procedure for six squads</a:t>
            </a:r>
            <a:endParaRPr lang="en-US" sz="3200" dirty="0"/>
          </a:p>
        </p:txBody>
      </p:sp>
      <p:sp>
        <p:nvSpPr>
          <p:cNvPr id="3" name="Shape 1"/>
          <p:cNvSpPr/>
          <p:nvPr/>
        </p:nvSpPr>
        <p:spPr>
          <a:xfrm>
            <a:off x="812800" y="1564630"/>
            <a:ext cx="4318000" cy="4277370"/>
          </a:xfrm>
          <a:prstGeom prst="roundRect">
            <a:avLst>
              <a:gd name="adj" fmla="val 2375"/>
            </a:avLst>
          </a:prstGeom>
          <a:solidFill>
            <a:srgbClr val="1F1E1D"/>
          </a:solidFill>
          <a:ln/>
        </p:spPr>
      </p:sp>
      <p:sp>
        <p:nvSpPr>
          <p:cNvPr id="4" name="Text 2"/>
          <p:cNvSpPr/>
          <p:nvPr/>
        </p:nvSpPr>
        <p:spPr>
          <a:xfrm>
            <a:off x="1117600" y="1869430"/>
            <a:ext cx="381965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97757"/>
                </a:solidFill>
                <a:latin typeface="Inter" pitchFamily="34" charset="0"/>
                <a:ea typeface="Inter" pitchFamily="34" charset="-122"/>
                <a:cs typeface="Inter" pitchFamily="34" charset="-120"/>
              </a:rPr>
              <a:t>THE PROBLEM</a:t>
            </a:r>
            <a:endParaRPr lang="en-US" sz="1200" dirty="0"/>
          </a:p>
        </p:txBody>
      </p:sp>
      <p:sp>
        <p:nvSpPr>
          <p:cNvPr id="5" name="Text 3"/>
          <p:cNvSpPr/>
          <p:nvPr/>
        </p:nvSpPr>
        <p:spPr>
          <a:xfrm>
            <a:off x="1117600" y="2260550"/>
            <a:ext cx="3819652" cy="1838722"/>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F4F1EA"/>
                </a:solidFill>
                <a:latin typeface="Source Serif 4" pitchFamily="34" charset="0"/>
                <a:ea typeface="Source Serif 4" pitchFamily="34" charset="-122"/>
                <a:cs typeface="Source Serif 4" pitchFamily="34" charset="-120"/>
              </a:rPr>
              <a:t>Release notes take about an hour per deploy, differ by squad, and sometimes list work that never shipped. Product wants one repeatable, template-exact procedure.</a:t>
            </a:r>
            <a:endParaRPr lang="en-US" sz="1700" dirty="0"/>
          </a:p>
        </p:txBody>
      </p:sp>
      <p:sp>
        <p:nvSpPr>
          <p:cNvPr id="6" name="Text 4"/>
          <p:cNvSpPr/>
          <p:nvPr/>
        </p:nvSpPr>
        <p:spPr>
          <a:xfrm>
            <a:off x="1117600" y="5110559"/>
            <a:ext cx="381965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DB7AB"/>
                </a:solidFill>
                <a:latin typeface="Inter" pitchFamily="34" charset="0"/>
                <a:ea typeface="Inter" pitchFamily="34" charset="-122"/>
                <a:cs typeface="Inter" pitchFamily="34" charset="-120"/>
              </a:rPr>
              <a:t>Requested by: Product Manager, Checkout · OHUB-302</a:t>
            </a:r>
            <a:endParaRPr lang="en-US" sz="1200" dirty="0"/>
          </a:p>
        </p:txBody>
      </p:sp>
      <p:sp>
        <p:nvSpPr>
          <p:cNvPr id="7" name="Text 5"/>
          <p:cNvSpPr/>
          <p:nvPr/>
        </p:nvSpPr>
        <p:spPr>
          <a:xfrm>
            <a:off x="5537200" y="1564630"/>
            <a:ext cx="601726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B4532F"/>
                </a:solidFill>
                <a:latin typeface="Source Serif 4" pitchFamily="34" charset="0"/>
                <a:ea typeface="Source Serif 4" pitchFamily="34" charset="-122"/>
                <a:cs typeface="Source Serif 4" pitchFamily="34" charset="-120"/>
              </a:rPr>
              <a:t>Why we need it</a:t>
            </a:r>
            <a:endParaRPr lang="en-US" sz="2000" dirty="0"/>
          </a:p>
        </p:txBody>
      </p:sp>
      <p:sp>
        <p:nvSpPr>
          <p:cNvPr id="8" name="Shape 6"/>
          <p:cNvSpPr/>
          <p:nvPr/>
        </p:nvSpPr>
        <p:spPr>
          <a:xfrm>
            <a:off x="5537200" y="2136130"/>
            <a:ext cx="88900" cy="88900"/>
          </a:xfrm>
          <a:prstGeom prst="roundRect">
            <a:avLst>
              <a:gd name="adj" fmla="val 21429"/>
            </a:avLst>
          </a:prstGeom>
          <a:solidFill>
            <a:srgbClr val="D97757"/>
          </a:solidFill>
          <a:ln/>
        </p:spPr>
      </p:sp>
      <p:sp>
        <p:nvSpPr>
          <p:cNvPr id="9" name="Text 7"/>
          <p:cNvSpPr/>
          <p:nvPr/>
        </p:nvSpPr>
        <p:spPr>
          <a:xfrm>
            <a:off x="5753100" y="2047230"/>
            <a:ext cx="4795617"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Repeatability:</a:t>
            </a:r>
            <a:r>
              <a:rPr lang="en-US" sz="1400" dirty="0">
                <a:solidFill>
                  <a:srgbClr val="1F1E1D"/>
                </a:solidFill>
                <a:latin typeface="Inter" pitchFamily="34" charset="0"/>
                <a:ea typeface="Inter" pitchFamily="34" charset="-122"/>
                <a:cs typeface="Inter" pitchFamily="34" charset="-120"/>
              </a:rPr>
              <a:t> the same steps and format on every run.</a:t>
            </a:r>
            <a:endParaRPr lang="en-US" sz="1400" dirty="0"/>
          </a:p>
        </p:txBody>
      </p:sp>
      <p:sp>
        <p:nvSpPr>
          <p:cNvPr id="10" name="Shape 8"/>
          <p:cNvSpPr/>
          <p:nvPr/>
        </p:nvSpPr>
        <p:spPr>
          <a:xfrm>
            <a:off x="5537200" y="2524720"/>
            <a:ext cx="88900" cy="88900"/>
          </a:xfrm>
          <a:prstGeom prst="roundRect">
            <a:avLst>
              <a:gd name="adj" fmla="val 21429"/>
            </a:avLst>
          </a:prstGeom>
          <a:solidFill>
            <a:srgbClr val="D97757"/>
          </a:solidFill>
          <a:ln/>
        </p:spPr>
      </p:sp>
      <p:sp>
        <p:nvSpPr>
          <p:cNvPr id="11" name="Text 9"/>
          <p:cNvSpPr/>
          <p:nvPr/>
        </p:nvSpPr>
        <p:spPr>
          <a:xfrm>
            <a:off x="5753100" y="2435820"/>
            <a:ext cx="5246554"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Context efficiency:</a:t>
            </a:r>
            <a:r>
              <a:rPr lang="en-US" sz="1400" dirty="0">
                <a:solidFill>
                  <a:srgbClr val="1F1E1D"/>
                </a:solidFill>
                <a:latin typeface="Inter" pitchFamily="34" charset="0"/>
                <a:ea typeface="Inter" pitchFamily="34" charset="-122"/>
                <a:cs typeface="Inter" pitchFamily="34" charset="-120"/>
              </a:rPr>
              <a:t> full instructions load only when relevant.</a:t>
            </a:r>
            <a:endParaRPr lang="en-US" sz="1400" dirty="0"/>
          </a:p>
        </p:txBody>
      </p:sp>
      <p:sp>
        <p:nvSpPr>
          <p:cNvPr id="12" name="Shape 10"/>
          <p:cNvSpPr/>
          <p:nvPr/>
        </p:nvSpPr>
        <p:spPr>
          <a:xfrm>
            <a:off x="5537200" y="2913311"/>
            <a:ext cx="88900" cy="88900"/>
          </a:xfrm>
          <a:prstGeom prst="roundRect">
            <a:avLst>
              <a:gd name="adj" fmla="val 21429"/>
            </a:avLst>
          </a:prstGeom>
          <a:solidFill>
            <a:srgbClr val="D97757"/>
          </a:solidFill>
          <a:ln/>
        </p:spPr>
      </p:sp>
      <p:sp>
        <p:nvSpPr>
          <p:cNvPr id="13" name="Text 11"/>
          <p:cNvSpPr/>
          <p:nvPr/>
        </p:nvSpPr>
        <p:spPr>
          <a:xfrm>
            <a:off x="5753100" y="2824411"/>
            <a:ext cx="5794883" cy="52318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Determinism:</a:t>
            </a:r>
            <a:r>
              <a:rPr lang="en-US" sz="1400" dirty="0">
                <a:solidFill>
                  <a:srgbClr val="1F1E1D"/>
                </a:solidFill>
                <a:latin typeface="Inter" pitchFamily="34" charset="0"/>
                <a:ea typeface="Inter" pitchFamily="34" charset="-122"/>
                <a:cs typeface="Inter" pitchFamily="34" charset="-120"/>
              </a:rPr>
              <a:t> scripts do the mechanical work; Claude does the writing.</a:t>
            </a:r>
            <a:endParaRPr lang="en-US" sz="1400" dirty="0"/>
          </a:p>
        </p:txBody>
      </p:sp>
      <p:sp>
        <p:nvSpPr>
          <p:cNvPr id="14" name="Shape 12"/>
          <p:cNvSpPr/>
          <p:nvPr/>
        </p:nvSpPr>
        <p:spPr>
          <a:xfrm>
            <a:off x="5537200" y="3550791"/>
            <a:ext cx="88900" cy="88900"/>
          </a:xfrm>
          <a:prstGeom prst="roundRect">
            <a:avLst>
              <a:gd name="adj" fmla="val 21429"/>
            </a:avLst>
          </a:prstGeom>
          <a:solidFill>
            <a:srgbClr val="D97757"/>
          </a:solidFill>
          <a:ln/>
        </p:spPr>
      </p:sp>
      <p:sp>
        <p:nvSpPr>
          <p:cNvPr id="15" name="Text 13"/>
          <p:cNvSpPr/>
          <p:nvPr/>
        </p:nvSpPr>
        <p:spPr>
          <a:xfrm>
            <a:off x="5753100" y="3461891"/>
            <a:ext cx="5486815"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Shareable:</a:t>
            </a:r>
            <a:r>
              <a:rPr lang="en-US" sz="1400" dirty="0">
                <a:solidFill>
                  <a:srgbClr val="1F1E1D"/>
                </a:solidFill>
                <a:latin typeface="Inter" pitchFamily="34" charset="0"/>
                <a:ea typeface="Inter" pitchFamily="34" charset="-122"/>
                <a:cs typeface="Inter" pitchFamily="34" charset="-120"/>
              </a:rPr>
              <a:t> commit once and every teammate gets it on git pull.</a:t>
            </a:r>
            <a:endParaRPr lang="en-US" sz="1400" dirty="0"/>
          </a:p>
        </p:txBody>
      </p:sp>
      <p:sp>
        <p:nvSpPr>
          <p:cNvPr id="16" name="Shape 14"/>
          <p:cNvSpPr/>
          <p:nvPr/>
        </p:nvSpPr>
        <p:spPr>
          <a:xfrm>
            <a:off x="5537200" y="3939381"/>
            <a:ext cx="88900" cy="88900"/>
          </a:xfrm>
          <a:prstGeom prst="roundRect">
            <a:avLst>
              <a:gd name="adj" fmla="val 21429"/>
            </a:avLst>
          </a:prstGeom>
          <a:solidFill>
            <a:srgbClr val="D97757"/>
          </a:solidFill>
          <a:ln/>
        </p:spPr>
      </p:sp>
      <p:sp>
        <p:nvSpPr>
          <p:cNvPr id="17" name="Text 15"/>
          <p:cNvSpPr/>
          <p:nvPr/>
        </p:nvSpPr>
        <p:spPr>
          <a:xfrm>
            <a:off x="5753100" y="3850481"/>
            <a:ext cx="562145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Composable:</a:t>
            </a:r>
            <a:r>
              <a:rPr lang="en-US" sz="1400" dirty="0">
                <a:solidFill>
                  <a:srgbClr val="1F1E1D"/>
                </a:solidFill>
                <a:latin typeface="Inter" pitchFamily="34" charset="0"/>
                <a:ea typeface="Inter" pitchFamily="34" charset="-122"/>
                <a:cs typeface="Inter" pitchFamily="34" charset="-120"/>
              </a:rPr>
              <a:t> a skill can run inside a subagent with context: fork.</a:t>
            </a:r>
            <a:endParaRPr lang="en-US" sz="1400" dirty="0"/>
          </a:p>
        </p:txBody>
      </p:sp>
      <p:sp>
        <p:nvSpPr>
          <p:cNvPr id="18" name="Text 16"/>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Module 7 · Extending Claude Code</a:t>
            </a:r>
            <a:endParaRPr lang="en-US" sz="1200" dirty="0"/>
          </a:p>
        </p:txBody>
      </p:sp>
      <p:sp>
        <p:nvSpPr>
          <p:cNvPr id="19" name="Text 17"/>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5D59"/>
                </a:solidFill>
                <a:latin typeface="Inter" pitchFamily="34" charset="0"/>
                <a:ea typeface="Inter" pitchFamily="34" charset="-122"/>
                <a:cs typeface="Inter" pitchFamily="34" charset="-120"/>
              </a:rPr>
              <a:t>02 Skills · Use case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5"/>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D97757"/>
          </a:solidFill>
          <a:ln/>
        </p:spPr>
      </p:sp>
      <p:sp>
        <p:nvSpPr>
          <p:cNvPr id="3" name="Text 1"/>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B4532F"/>
                </a:solidFill>
                <a:latin typeface="Inter" pitchFamily="34" charset="0"/>
                <a:ea typeface="Inter" pitchFamily="34" charset="-122"/>
                <a:cs typeface="Inter" pitchFamily="34" charset="-120"/>
              </a:rPr>
              <a:t>LIVE DEMO · LAB 2 · OHUB-302</a:t>
            </a:r>
            <a:endParaRPr lang="en-US" sz="1300" dirty="0"/>
          </a:p>
        </p:txBody>
      </p:sp>
      <p:sp>
        <p:nvSpPr>
          <p:cNvPr id="4" name="Text 2"/>
          <p:cNvSpPr/>
          <p:nvPr/>
        </p:nvSpPr>
        <p:spPr>
          <a:xfrm>
            <a:off x="812800" y="1120130"/>
            <a:ext cx="10883392" cy="91946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E1D"/>
                </a:solidFill>
                <a:latin typeface="Source Serif 4" pitchFamily="34" charset="0"/>
                <a:ea typeface="Source Serif 4" pitchFamily="34" charset="-122"/>
                <a:cs typeface="Source Serif 4" pitchFamily="34" charset="-120"/>
              </a:rPr>
              <a:t>Build a release-notes skill with a template and helper script</a:t>
            </a:r>
            <a:endParaRPr lang="en-US" sz="3200" dirty="0"/>
          </a:p>
        </p:txBody>
      </p:sp>
      <p:sp>
        <p:nvSpPr>
          <p:cNvPr id="5" name="Shape 3"/>
          <p:cNvSpPr/>
          <p:nvPr/>
        </p:nvSpPr>
        <p:spPr>
          <a:xfrm>
            <a:off x="812800" y="2318990"/>
            <a:ext cx="330200" cy="332730"/>
          </a:xfrm>
          <a:prstGeom prst="roundRect">
            <a:avLst>
              <a:gd name="adj" fmla="val 50000"/>
            </a:avLst>
          </a:prstGeom>
          <a:solidFill>
            <a:srgbClr val="D97757"/>
          </a:solidFill>
          <a:ln/>
        </p:spPr>
      </p:sp>
      <p:sp>
        <p:nvSpPr>
          <p:cNvPr id="6" name="Text 4"/>
          <p:cNvSpPr/>
          <p:nvPr/>
        </p:nvSpPr>
        <p:spPr>
          <a:xfrm>
            <a:off x="787400" y="2369790"/>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1</a:t>
            </a:r>
            <a:endParaRPr lang="en-US" sz="1300" dirty="0"/>
          </a:p>
        </p:txBody>
      </p:sp>
      <p:sp>
        <p:nvSpPr>
          <p:cNvPr id="7" name="Text 5"/>
          <p:cNvSpPr/>
          <p:nvPr/>
        </p:nvSpPr>
        <p:spPr>
          <a:xfrm>
            <a:off x="1295400" y="2365325"/>
            <a:ext cx="3079758"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Create .claude/skills/release-notes/</a:t>
            </a:r>
            <a:endParaRPr lang="en-US" sz="1400" dirty="0"/>
          </a:p>
        </p:txBody>
      </p:sp>
      <p:sp>
        <p:nvSpPr>
          <p:cNvPr id="8" name="Shape 6"/>
          <p:cNvSpPr/>
          <p:nvPr/>
        </p:nvSpPr>
        <p:spPr>
          <a:xfrm>
            <a:off x="812800" y="2766020"/>
            <a:ext cx="330200" cy="332730"/>
          </a:xfrm>
          <a:prstGeom prst="roundRect">
            <a:avLst>
              <a:gd name="adj" fmla="val 50000"/>
            </a:avLst>
          </a:prstGeom>
          <a:solidFill>
            <a:srgbClr val="D97757"/>
          </a:solidFill>
          <a:ln/>
        </p:spPr>
      </p:sp>
      <p:sp>
        <p:nvSpPr>
          <p:cNvPr id="9" name="Text 7"/>
          <p:cNvSpPr/>
          <p:nvPr/>
        </p:nvSpPr>
        <p:spPr>
          <a:xfrm>
            <a:off x="787400" y="2816820"/>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2</a:t>
            </a:r>
            <a:endParaRPr lang="en-US" sz="1300" dirty="0"/>
          </a:p>
        </p:txBody>
      </p:sp>
      <p:sp>
        <p:nvSpPr>
          <p:cNvPr id="10" name="Text 8"/>
          <p:cNvSpPr/>
          <p:nvPr/>
        </p:nvSpPr>
        <p:spPr>
          <a:xfrm>
            <a:off x="1295400" y="2812355"/>
            <a:ext cx="3949133"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Write SKILL.md with a trigger-rich description</a:t>
            </a:r>
            <a:endParaRPr lang="en-US" sz="1400" dirty="0"/>
          </a:p>
        </p:txBody>
      </p:sp>
      <p:sp>
        <p:nvSpPr>
          <p:cNvPr id="11" name="Shape 9"/>
          <p:cNvSpPr/>
          <p:nvPr/>
        </p:nvSpPr>
        <p:spPr>
          <a:xfrm>
            <a:off x="812800" y="3213050"/>
            <a:ext cx="330200" cy="332730"/>
          </a:xfrm>
          <a:prstGeom prst="roundRect">
            <a:avLst>
              <a:gd name="adj" fmla="val 50000"/>
            </a:avLst>
          </a:prstGeom>
          <a:solidFill>
            <a:srgbClr val="D97757"/>
          </a:solidFill>
          <a:ln/>
        </p:spPr>
      </p:sp>
      <p:sp>
        <p:nvSpPr>
          <p:cNvPr id="12" name="Text 10"/>
          <p:cNvSpPr/>
          <p:nvPr/>
        </p:nvSpPr>
        <p:spPr>
          <a:xfrm>
            <a:off x="787400" y="3263850"/>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3</a:t>
            </a:r>
            <a:endParaRPr lang="en-US" sz="1300" dirty="0"/>
          </a:p>
        </p:txBody>
      </p:sp>
      <p:sp>
        <p:nvSpPr>
          <p:cNvPr id="13" name="Text 11"/>
          <p:cNvSpPr/>
          <p:nvPr/>
        </p:nvSpPr>
        <p:spPr>
          <a:xfrm>
            <a:off x="1295400" y="3259386"/>
            <a:ext cx="3544593"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Add template.md and scripts/commits.sh</a:t>
            </a:r>
            <a:endParaRPr lang="en-US" sz="1400" dirty="0"/>
          </a:p>
        </p:txBody>
      </p:sp>
      <p:sp>
        <p:nvSpPr>
          <p:cNvPr id="14" name="Shape 12"/>
          <p:cNvSpPr/>
          <p:nvPr/>
        </p:nvSpPr>
        <p:spPr>
          <a:xfrm>
            <a:off x="812800" y="3660080"/>
            <a:ext cx="330200" cy="332730"/>
          </a:xfrm>
          <a:prstGeom prst="roundRect">
            <a:avLst>
              <a:gd name="adj" fmla="val 50000"/>
            </a:avLst>
          </a:prstGeom>
          <a:solidFill>
            <a:srgbClr val="D97757"/>
          </a:solidFill>
          <a:ln/>
        </p:spPr>
      </p:sp>
      <p:sp>
        <p:nvSpPr>
          <p:cNvPr id="15" name="Text 13"/>
          <p:cNvSpPr/>
          <p:nvPr/>
        </p:nvSpPr>
        <p:spPr>
          <a:xfrm>
            <a:off x="787400" y="3710880"/>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4</a:t>
            </a:r>
            <a:endParaRPr lang="en-US" sz="1300" dirty="0"/>
          </a:p>
        </p:txBody>
      </p:sp>
      <p:sp>
        <p:nvSpPr>
          <p:cNvPr id="16" name="Text 14"/>
          <p:cNvSpPr/>
          <p:nvPr/>
        </p:nvSpPr>
        <p:spPr>
          <a:xfrm>
            <a:off x="1295400" y="3706416"/>
            <a:ext cx="3047924"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Ask for v1.4.0 notes in plain English</a:t>
            </a:r>
            <a:endParaRPr lang="en-US" sz="1400" dirty="0"/>
          </a:p>
        </p:txBody>
      </p:sp>
      <p:sp>
        <p:nvSpPr>
          <p:cNvPr id="17" name="Shape 15"/>
          <p:cNvSpPr/>
          <p:nvPr/>
        </p:nvSpPr>
        <p:spPr>
          <a:xfrm>
            <a:off x="812800" y="4107111"/>
            <a:ext cx="330200" cy="332730"/>
          </a:xfrm>
          <a:prstGeom prst="roundRect">
            <a:avLst>
              <a:gd name="adj" fmla="val 50000"/>
            </a:avLst>
          </a:prstGeom>
          <a:solidFill>
            <a:srgbClr val="D97757"/>
          </a:solidFill>
          <a:ln/>
        </p:spPr>
      </p:sp>
      <p:sp>
        <p:nvSpPr>
          <p:cNvPr id="18" name="Text 16"/>
          <p:cNvSpPr/>
          <p:nvPr/>
        </p:nvSpPr>
        <p:spPr>
          <a:xfrm>
            <a:off x="787400" y="4157911"/>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5</a:t>
            </a:r>
            <a:endParaRPr lang="en-US" sz="1300" dirty="0"/>
          </a:p>
        </p:txBody>
      </p:sp>
      <p:sp>
        <p:nvSpPr>
          <p:cNvPr id="19" name="Text 17"/>
          <p:cNvSpPr/>
          <p:nvPr/>
        </p:nvSpPr>
        <p:spPr>
          <a:xfrm>
            <a:off x="1295400" y="4153446"/>
            <a:ext cx="4165072"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Re-run via /release-notes with a keyless commit</a:t>
            </a:r>
            <a:endParaRPr lang="en-US" sz="1400" dirty="0"/>
          </a:p>
        </p:txBody>
      </p:sp>
      <p:sp>
        <p:nvSpPr>
          <p:cNvPr id="20" name="Shape 18"/>
          <p:cNvSpPr/>
          <p:nvPr/>
        </p:nvSpPr>
        <p:spPr>
          <a:xfrm>
            <a:off x="812800" y="4554141"/>
            <a:ext cx="330200" cy="332730"/>
          </a:xfrm>
          <a:prstGeom prst="roundRect">
            <a:avLst>
              <a:gd name="adj" fmla="val 50000"/>
            </a:avLst>
          </a:prstGeom>
          <a:solidFill>
            <a:srgbClr val="D97757"/>
          </a:solidFill>
          <a:ln/>
        </p:spPr>
      </p:sp>
      <p:sp>
        <p:nvSpPr>
          <p:cNvPr id="21" name="Text 19"/>
          <p:cNvSpPr/>
          <p:nvPr/>
        </p:nvSpPr>
        <p:spPr>
          <a:xfrm>
            <a:off x="787400" y="4604941"/>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6</a:t>
            </a:r>
            <a:endParaRPr lang="en-US" sz="1300" dirty="0"/>
          </a:p>
        </p:txBody>
      </p:sp>
      <p:sp>
        <p:nvSpPr>
          <p:cNvPr id="22" name="Text 20"/>
          <p:cNvSpPr/>
          <p:nvPr/>
        </p:nvSpPr>
        <p:spPr>
          <a:xfrm>
            <a:off x="1295400" y="4600476"/>
            <a:ext cx="2393261"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Commit as feat(OHUB-302)</a:t>
            </a:r>
            <a:endParaRPr lang="en-US" sz="1400" dirty="0"/>
          </a:p>
        </p:txBody>
      </p:sp>
      <p:sp>
        <p:nvSpPr>
          <p:cNvPr id="23" name="Shape 21"/>
          <p:cNvSpPr/>
          <p:nvPr/>
        </p:nvSpPr>
        <p:spPr>
          <a:xfrm>
            <a:off x="7442200" y="2318990"/>
            <a:ext cx="3937000" cy="2491631"/>
          </a:xfrm>
          <a:prstGeom prst="roundRect">
            <a:avLst>
              <a:gd name="adj" fmla="val 4078"/>
            </a:avLst>
          </a:prstGeom>
          <a:solidFill>
            <a:srgbClr val="F0EEE6"/>
          </a:solidFill>
          <a:ln/>
        </p:spPr>
      </p:sp>
      <p:sp>
        <p:nvSpPr>
          <p:cNvPr id="24" name="Text 22"/>
          <p:cNvSpPr/>
          <p:nvPr/>
        </p:nvSpPr>
        <p:spPr>
          <a:xfrm>
            <a:off x="7696200" y="2572990"/>
            <a:ext cx="353187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1E1D"/>
                </a:solidFill>
                <a:latin typeface="Source Serif 4" pitchFamily="34" charset="0"/>
                <a:ea typeface="Source Serif 4" pitchFamily="34" charset="-122"/>
                <a:cs typeface="Source Serif 4" pitchFamily="34" charset="-120"/>
              </a:rPr>
              <a:t>Acceptance criteria</a:t>
            </a:r>
            <a:endParaRPr lang="en-US" sz="1800" dirty="0"/>
          </a:p>
        </p:txBody>
      </p:sp>
      <p:sp>
        <p:nvSpPr>
          <p:cNvPr id="25" name="Text 23"/>
          <p:cNvSpPr/>
          <p:nvPr/>
        </p:nvSpPr>
        <p:spPr>
          <a:xfrm>
            <a:off x="7696200" y="2961580"/>
            <a:ext cx="353187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2F"/>
                </a:solidFill>
                <a:latin typeface="Inter" pitchFamily="34" charset="0"/>
                <a:ea typeface="Inter" pitchFamily="34" charset="-122"/>
                <a:cs typeface="Inter" pitchFamily="34" charset="-120"/>
              </a:rPr>
              <a:t>✓</a:t>
            </a:r>
            <a:r>
              <a:rPr lang="en-US" sz="1300" dirty="0">
                <a:solidFill>
                  <a:srgbClr val="1F1E1D"/>
                </a:solidFill>
                <a:latin typeface="Inter" pitchFamily="34" charset="0"/>
                <a:ea typeface="Inter" pitchFamily="34" charset="-122"/>
                <a:cs typeface="Inter" pitchFamily="34" charset="-120"/>
              </a:rPr>
              <a:t> Auto-selected from natural language</a:t>
            </a:r>
            <a:endParaRPr lang="en-US" sz="1300" dirty="0"/>
          </a:p>
        </p:txBody>
      </p:sp>
      <p:sp>
        <p:nvSpPr>
          <p:cNvPr id="26" name="Text 24"/>
          <p:cNvSpPr/>
          <p:nvPr/>
        </p:nvSpPr>
        <p:spPr>
          <a:xfrm>
            <a:off x="7696200" y="3307011"/>
            <a:ext cx="353187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2F"/>
                </a:solidFill>
                <a:latin typeface="Inter" pitchFamily="34" charset="0"/>
                <a:ea typeface="Inter" pitchFamily="34" charset="-122"/>
                <a:cs typeface="Inter" pitchFamily="34" charset="-120"/>
              </a:rPr>
              <a:t>✓</a:t>
            </a:r>
            <a:r>
              <a:rPr lang="en-US" sz="1300" dirty="0">
                <a:solidFill>
                  <a:srgbClr val="1F1E1D"/>
                </a:solidFill>
                <a:latin typeface="Inter" pitchFamily="34" charset="0"/>
                <a:ea typeface="Inter" pitchFamily="34" charset="-122"/>
                <a:cs typeface="Inter" pitchFamily="34" charset="-120"/>
              </a:rPr>
              <a:t> Output matches the template exactly</a:t>
            </a:r>
            <a:endParaRPr lang="en-US" sz="1300" dirty="0"/>
          </a:p>
        </p:txBody>
      </p:sp>
      <p:sp>
        <p:nvSpPr>
          <p:cNvPr id="27" name="Text 25"/>
          <p:cNvSpPr/>
          <p:nvPr/>
        </p:nvSpPr>
        <p:spPr>
          <a:xfrm>
            <a:off x="7696200" y="3652441"/>
            <a:ext cx="353187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2F"/>
                </a:solidFill>
                <a:latin typeface="Inter" pitchFamily="34" charset="0"/>
                <a:ea typeface="Inter" pitchFamily="34" charset="-122"/>
                <a:cs typeface="Inter" pitchFamily="34" charset="-120"/>
              </a:rPr>
              <a:t>✓</a:t>
            </a:r>
            <a:r>
              <a:rPr lang="en-US" sz="1300" dirty="0">
                <a:solidFill>
                  <a:srgbClr val="1F1E1D"/>
                </a:solidFill>
                <a:latin typeface="Inter" pitchFamily="34" charset="0"/>
                <a:ea typeface="Inter" pitchFamily="34" charset="-122"/>
                <a:cs typeface="Inter" pitchFamily="34" charset="-120"/>
              </a:rPr>
              <a:t> chore commits excluded</a:t>
            </a:r>
            <a:endParaRPr lang="en-US" sz="1300" dirty="0"/>
          </a:p>
        </p:txBody>
      </p:sp>
      <p:sp>
        <p:nvSpPr>
          <p:cNvPr id="28" name="Text 26"/>
          <p:cNvSpPr/>
          <p:nvPr/>
        </p:nvSpPr>
        <p:spPr>
          <a:xfrm>
            <a:off x="7696200" y="3997871"/>
            <a:ext cx="353187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2F"/>
                </a:solidFill>
                <a:latin typeface="Inter" pitchFamily="34" charset="0"/>
                <a:ea typeface="Inter" pitchFamily="34" charset="-122"/>
                <a:cs typeface="Inter" pitchFamily="34" charset="-120"/>
              </a:rPr>
              <a:t>✓</a:t>
            </a:r>
            <a:r>
              <a:rPr lang="en-US" sz="1300" dirty="0">
                <a:solidFill>
                  <a:srgbClr val="1F1E1D"/>
                </a:solidFill>
                <a:latin typeface="Inter" pitchFamily="34" charset="0"/>
                <a:ea typeface="Inter" pitchFamily="34" charset="-122"/>
                <a:cs typeface="Inter" pitchFamily="34" charset="-120"/>
              </a:rPr>
              <a:t> Keyless commit only under Needs triage</a:t>
            </a:r>
            <a:endParaRPr lang="en-US" sz="1300" dirty="0"/>
          </a:p>
        </p:txBody>
      </p:sp>
      <p:sp>
        <p:nvSpPr>
          <p:cNvPr id="29" name="Text 27"/>
          <p:cNvSpPr/>
          <p:nvPr/>
        </p:nvSpPr>
        <p:spPr>
          <a:xfrm>
            <a:off x="7696200" y="4343301"/>
            <a:ext cx="35318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Full steps: Lab Guide, Lab 2</a:t>
            </a:r>
            <a:endParaRPr lang="en-US" sz="1200" dirty="0"/>
          </a:p>
        </p:txBody>
      </p:sp>
      <p:sp>
        <p:nvSpPr>
          <p:cNvPr id="30" name="Text 28"/>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Module 7 · Extending Claude Code</a:t>
            </a:r>
            <a:endParaRPr lang="en-US" sz="1200" dirty="0"/>
          </a:p>
        </p:txBody>
      </p:sp>
      <p:sp>
        <p:nvSpPr>
          <p:cNvPr id="31" name="Text 29"/>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5D59"/>
                </a:solidFill>
                <a:latin typeface="Inter" pitchFamily="34" charset="0"/>
                <a:ea typeface="Inter" pitchFamily="34" charset="-122"/>
                <a:cs typeface="Inter" pitchFamily="34" charset="-120"/>
              </a:rPr>
              <a:t>02 Skills · Live demo</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1E1D"/>
        </a:solidFill>
        <a:effectLst/>
      </p:bgPr>
    </p:bg>
    <p:spTree>
      <p:nvGrpSpPr>
        <p:cNvPr id="1" name=""/>
        <p:cNvGrpSpPr/>
        <p:nvPr/>
      </p:nvGrpSpPr>
      <p:grpSpPr>
        <a:xfrm>
          <a:off x="0" y="0"/>
          <a:ext cx="0" cy="0"/>
          <a:chOff x="0" y="0"/>
          <a:chExt cx="0" cy="0"/>
        </a:xfrm>
      </p:grpSpPr>
      <p:pic>
        <p:nvPicPr>
          <p:cNvPr id="2" name="Image 0" descr="Decorative starburst"/>
          <p:cNvPicPr>
            <a:picLocks noChangeAspect="1"/>
          </p:cNvPicPr>
          <p:nvPr/>
        </p:nvPicPr>
        <p:blipFill>
          <a:blip r:embed="rId3"/>
          <a:srcRect/>
          <a:stretch/>
        </p:blipFill>
        <p:spPr>
          <a:xfrm>
            <a:off x="8458200" y="1587500"/>
            <a:ext cx="2921000" cy="2921000"/>
          </a:xfrm>
          <a:prstGeom prst="rect">
            <a:avLst/>
          </a:prstGeom>
        </p:spPr>
      </p:pic>
      <p:sp>
        <p:nvSpPr>
          <p:cNvPr id="3" name="Text 0"/>
          <p:cNvSpPr/>
          <p:nvPr/>
        </p:nvSpPr>
        <p:spPr>
          <a:xfrm>
            <a:off x="812800" y="170185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300" dirty="0">
                <a:solidFill>
                  <a:srgbClr val="D97757"/>
                </a:solidFill>
                <a:latin typeface="Inter" pitchFamily="34" charset="0"/>
                <a:ea typeface="Inter" pitchFamily="34" charset="-122"/>
                <a:cs typeface="Inter" pitchFamily="34" charset="-120"/>
              </a:rPr>
              <a:t>MODULE 7 · TOPIC 03</a:t>
            </a:r>
            <a:endParaRPr lang="en-US" sz="1400" dirty="0"/>
          </a:p>
        </p:txBody>
      </p:sp>
      <p:sp>
        <p:nvSpPr>
          <p:cNvPr id="4" name="Text 1"/>
          <p:cNvSpPr/>
          <p:nvPr/>
        </p:nvSpPr>
        <p:spPr>
          <a:xfrm>
            <a:off x="812800" y="2179340"/>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F4F1EA"/>
                </a:solidFill>
                <a:latin typeface="Source Serif 4" pitchFamily="34" charset="0"/>
                <a:ea typeface="Source Serif 4" pitchFamily="34" charset="-122"/>
                <a:cs typeface="Source Serif 4" pitchFamily="34" charset="-120"/>
              </a:rPr>
              <a:t>Subagents</a:t>
            </a:r>
            <a:endParaRPr lang="en-US" sz="8000" dirty="0"/>
          </a:p>
        </p:txBody>
      </p:sp>
      <p:sp>
        <p:nvSpPr>
          <p:cNvPr id="5" name="Text 2"/>
          <p:cNvSpPr/>
          <p:nvPr/>
        </p:nvSpPr>
        <p:spPr>
          <a:xfrm>
            <a:off x="812800" y="3423940"/>
            <a:ext cx="7063740" cy="98549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DB7AB"/>
                </a:solidFill>
                <a:latin typeface="Inter" pitchFamily="34" charset="0"/>
                <a:ea typeface="Inter" pitchFamily="34" charset="-122"/>
                <a:cs typeface="Inter" pitchFamily="34" charset="-120"/>
              </a:rPr>
              <a:t>Specialised assistants with their own context window, system prompt and tool allowlist, to which Claude delegates focused work.</a:t>
            </a:r>
            <a:endParaRPr lang="en-US" sz="1800" dirty="0"/>
          </a:p>
        </p:txBody>
      </p:sp>
      <p:sp>
        <p:nvSpPr>
          <p:cNvPr id="6" name="Shape 3"/>
          <p:cNvSpPr/>
          <p:nvPr/>
        </p:nvSpPr>
        <p:spPr>
          <a:xfrm>
            <a:off x="812800" y="4612630"/>
            <a:ext cx="2667000" cy="340320"/>
          </a:xfrm>
          <a:prstGeom prst="roundRect">
            <a:avLst>
              <a:gd name="adj" fmla="val 50000"/>
            </a:avLst>
          </a:prstGeom>
          <a:solidFill>
            <a:srgbClr val="D97757"/>
          </a:solidFill>
          <a:ln/>
        </p:spPr>
      </p:sp>
      <p:sp>
        <p:nvSpPr>
          <p:cNvPr id="7" name="Text 4"/>
          <p:cNvSpPr/>
          <p:nvPr/>
        </p:nvSpPr>
        <p:spPr>
          <a:xfrm>
            <a:off x="916686" y="4676130"/>
            <a:ext cx="2459228"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1E1D"/>
                </a:solidFill>
                <a:latin typeface="Inter" pitchFamily="34" charset="0"/>
                <a:ea typeface="Inter" pitchFamily="34" charset="-122"/>
                <a:cs typeface="Inter" pitchFamily="34" charset="-120"/>
              </a:rPr>
              <a:t>Live lab 3 · OHUB-303</a:t>
            </a:r>
            <a:endParaRPr lang="en-US" sz="1200" dirty="0"/>
          </a:p>
        </p:txBody>
      </p:sp>
      <p:sp>
        <p:nvSpPr>
          <p:cNvPr id="8" name="Text 5"/>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DB7AB"/>
                </a:solidFill>
                <a:latin typeface="Inter" pitchFamily="34" charset="0"/>
                <a:ea typeface="Inter" pitchFamily="34" charset="-122"/>
                <a:cs typeface="Inter" pitchFamily="34" charset="-120"/>
              </a:rPr>
              <a:t>Module 7 · Extending Claude Code</a:t>
            </a:r>
            <a:endParaRPr lang="en-US" sz="1200" dirty="0"/>
          </a:p>
        </p:txBody>
      </p:sp>
      <p:sp>
        <p:nvSpPr>
          <p:cNvPr id="9" name="Text 6"/>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DB7AB"/>
                </a:solidFill>
                <a:latin typeface="Inter" pitchFamily="34" charset="0"/>
                <a:ea typeface="Inter" pitchFamily="34" charset="-122"/>
                <a:cs typeface="Inter" pitchFamily="34" charset="-120"/>
              </a:rPr>
              <a:t>03 Subagents</a:t>
            </a:r>
            <a:endParaRPr lang="en-US" sz="1200" dirty="0"/>
          </a:p>
        </p:txBody>
      </p:sp>
      <p:pic>
        <p:nvPicPr>
          <p:cNvPr id="10" name="Picture 9">
            <a:extLst>
              <a:ext uri="{FF2B5EF4-FFF2-40B4-BE49-F238E27FC236}">
                <a16:creationId xmlns:a16="http://schemas.microsoft.com/office/drawing/2014/main" id="{2BCF414A-5BF9-843A-9102-BD128FF7E4F0}"/>
              </a:ext>
            </a:extLst>
          </p:cNvPr>
          <p:cNvPicPr>
            <a:picLocks noChangeAspect="1"/>
          </p:cNvPicPr>
          <p:nvPr/>
        </p:nvPicPr>
        <p:blipFill>
          <a:blip r:embed="rId4"/>
          <a:stretch>
            <a:fillRect/>
          </a:stretch>
        </p:blipFill>
        <p:spPr>
          <a:xfrm>
            <a:off x="8319198" y="304864"/>
            <a:ext cx="3497759" cy="7547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E1D"/>
                </a:solidFill>
                <a:latin typeface="Source Serif 4" pitchFamily="34" charset="0"/>
                <a:ea typeface="Source Serif 4" pitchFamily="34" charset="-122"/>
                <a:cs typeface="Source Serif 4" pitchFamily="34" charset="-120"/>
              </a:rPr>
              <a:t>Subagents: delegate to isolated specialists</a:t>
            </a:r>
            <a:endParaRPr lang="en-US" sz="3200" dirty="0"/>
          </a:p>
        </p:txBody>
      </p:sp>
      <p:sp>
        <p:nvSpPr>
          <p:cNvPr id="3" name="Shape 1"/>
          <p:cNvSpPr/>
          <p:nvPr/>
        </p:nvSpPr>
        <p:spPr>
          <a:xfrm>
            <a:off x="812800" y="1653530"/>
            <a:ext cx="88900" cy="88900"/>
          </a:xfrm>
          <a:prstGeom prst="roundRect">
            <a:avLst>
              <a:gd name="adj" fmla="val 21429"/>
            </a:avLst>
          </a:prstGeom>
          <a:solidFill>
            <a:srgbClr val="D97757"/>
          </a:solidFill>
          <a:ln/>
        </p:spPr>
      </p:sp>
      <p:sp>
        <p:nvSpPr>
          <p:cNvPr id="4" name="Text 2"/>
          <p:cNvSpPr/>
          <p:nvPr/>
        </p:nvSpPr>
        <p:spPr>
          <a:xfrm>
            <a:off x="1028700" y="1564630"/>
            <a:ext cx="461759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1E1D"/>
                </a:solidFill>
                <a:latin typeface="Inter" pitchFamily="34" charset="0"/>
                <a:ea typeface="Inter" pitchFamily="34" charset="-122"/>
                <a:cs typeface="Inter" pitchFamily="34" charset="-120"/>
              </a:rPr>
              <a:t>Defined as Markdown with YAML in </a:t>
            </a:r>
            <a:r>
              <a:rPr lang="en-US" sz="1400" b="1" dirty="0">
                <a:solidFill>
                  <a:srgbClr val="1F1E1D"/>
                </a:solidFill>
                <a:latin typeface="Inter" pitchFamily="34" charset="0"/>
                <a:ea typeface="Inter" pitchFamily="34" charset="-122"/>
                <a:cs typeface="Inter" pitchFamily="34" charset="-120"/>
              </a:rPr>
              <a:t>.claude/agents/</a:t>
            </a:r>
            <a:r>
              <a:rPr lang="en-US" sz="1400" dirty="0">
                <a:solidFill>
                  <a:srgbClr val="1F1E1D"/>
                </a:solidFill>
                <a:latin typeface="Inter" pitchFamily="34" charset="0"/>
                <a:ea typeface="Inter" pitchFamily="34" charset="-122"/>
                <a:cs typeface="Inter" pitchFamily="34" charset="-120"/>
              </a:rPr>
              <a:t> (project) or </a:t>
            </a:r>
            <a:r>
              <a:rPr lang="en-US" sz="1400" b="1" dirty="0">
                <a:solidFill>
                  <a:srgbClr val="1F1E1D"/>
                </a:solidFill>
                <a:latin typeface="Inter" pitchFamily="34" charset="0"/>
                <a:ea typeface="Inter" pitchFamily="34" charset="-122"/>
                <a:cs typeface="Inter" pitchFamily="34" charset="-120"/>
              </a:rPr>
              <a:t>~/.claude/agents/</a:t>
            </a:r>
            <a:r>
              <a:rPr lang="en-US" sz="1400" dirty="0">
                <a:solidFill>
                  <a:srgbClr val="1F1E1D"/>
                </a:solidFill>
                <a:latin typeface="Inter" pitchFamily="34" charset="0"/>
                <a:ea typeface="Inter" pitchFamily="34" charset="-122"/>
                <a:cs typeface="Inter" pitchFamily="34" charset="-120"/>
              </a:rPr>
              <a:t> (user).</a:t>
            </a:r>
            <a:endParaRPr lang="en-US" sz="1400" dirty="0"/>
          </a:p>
        </p:txBody>
      </p:sp>
      <p:sp>
        <p:nvSpPr>
          <p:cNvPr id="5" name="Shape 3"/>
          <p:cNvSpPr/>
          <p:nvPr/>
        </p:nvSpPr>
        <p:spPr>
          <a:xfrm>
            <a:off x="812800" y="2329111"/>
            <a:ext cx="88900" cy="88900"/>
          </a:xfrm>
          <a:prstGeom prst="roundRect">
            <a:avLst>
              <a:gd name="adj" fmla="val 21429"/>
            </a:avLst>
          </a:prstGeom>
          <a:solidFill>
            <a:srgbClr val="D97757"/>
          </a:solidFill>
          <a:ln/>
        </p:spPr>
      </p:sp>
      <p:sp>
        <p:nvSpPr>
          <p:cNvPr id="6" name="Text 4"/>
          <p:cNvSpPr/>
          <p:nvPr/>
        </p:nvSpPr>
        <p:spPr>
          <a:xfrm>
            <a:off x="1028700" y="2240211"/>
            <a:ext cx="461759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1E1D"/>
                </a:solidFill>
                <a:latin typeface="Inter" pitchFamily="34" charset="0"/>
                <a:ea typeface="Inter" pitchFamily="34" charset="-122"/>
                <a:cs typeface="Inter" pitchFamily="34" charset="-120"/>
              </a:rPr>
              <a:t>Own context window: exploration noise stays out of the main session.</a:t>
            </a:r>
            <a:endParaRPr lang="en-US" sz="1400" dirty="0"/>
          </a:p>
        </p:txBody>
      </p:sp>
      <p:sp>
        <p:nvSpPr>
          <p:cNvPr id="7" name="Shape 5"/>
          <p:cNvSpPr/>
          <p:nvPr/>
        </p:nvSpPr>
        <p:spPr>
          <a:xfrm>
            <a:off x="812800" y="3004691"/>
            <a:ext cx="88900" cy="88900"/>
          </a:xfrm>
          <a:prstGeom prst="roundRect">
            <a:avLst>
              <a:gd name="adj" fmla="val 21429"/>
            </a:avLst>
          </a:prstGeom>
          <a:solidFill>
            <a:srgbClr val="D97757"/>
          </a:solidFill>
          <a:ln/>
        </p:spPr>
      </p:sp>
      <p:sp>
        <p:nvSpPr>
          <p:cNvPr id="8" name="Text 6"/>
          <p:cNvSpPr/>
          <p:nvPr/>
        </p:nvSpPr>
        <p:spPr>
          <a:xfrm>
            <a:off x="1028700" y="2915791"/>
            <a:ext cx="461759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1E1D"/>
                </a:solidFill>
                <a:latin typeface="Inter" pitchFamily="34" charset="0"/>
                <a:ea typeface="Inter" pitchFamily="34" charset="-122"/>
                <a:cs typeface="Inter" pitchFamily="34" charset="-120"/>
              </a:rPr>
              <a:t>Least privilege through a </a:t>
            </a:r>
            <a:r>
              <a:rPr lang="en-US" sz="1400" b="1" dirty="0">
                <a:solidFill>
                  <a:srgbClr val="1F1E1D"/>
                </a:solidFill>
                <a:latin typeface="Inter" pitchFamily="34" charset="0"/>
                <a:ea typeface="Inter" pitchFamily="34" charset="-122"/>
                <a:cs typeface="Inter" pitchFamily="34" charset="-120"/>
              </a:rPr>
              <a:t>tools</a:t>
            </a:r>
            <a:r>
              <a:rPr lang="en-US" sz="1400" dirty="0">
                <a:solidFill>
                  <a:srgbClr val="1F1E1D"/>
                </a:solidFill>
                <a:latin typeface="Inter" pitchFamily="34" charset="0"/>
                <a:ea typeface="Inter" pitchFamily="34" charset="-122"/>
                <a:cs typeface="Inter" pitchFamily="34" charset="-120"/>
              </a:rPr>
              <a:t> allowlist, plus an optional model per agent.</a:t>
            </a:r>
            <a:endParaRPr lang="en-US" sz="1400" dirty="0"/>
          </a:p>
        </p:txBody>
      </p:sp>
      <p:sp>
        <p:nvSpPr>
          <p:cNvPr id="9" name="Shape 7"/>
          <p:cNvSpPr/>
          <p:nvPr/>
        </p:nvSpPr>
        <p:spPr>
          <a:xfrm>
            <a:off x="812800" y="3680271"/>
            <a:ext cx="88900" cy="88900"/>
          </a:xfrm>
          <a:prstGeom prst="roundRect">
            <a:avLst>
              <a:gd name="adj" fmla="val 21429"/>
            </a:avLst>
          </a:prstGeom>
          <a:solidFill>
            <a:srgbClr val="D97757"/>
          </a:solidFill>
          <a:ln/>
        </p:spPr>
      </p:sp>
      <p:sp>
        <p:nvSpPr>
          <p:cNvPr id="10" name="Text 8"/>
          <p:cNvSpPr/>
          <p:nvPr/>
        </p:nvSpPr>
        <p:spPr>
          <a:xfrm>
            <a:off x="1028700" y="3591371"/>
            <a:ext cx="461759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1E1D"/>
                </a:solidFill>
                <a:latin typeface="Inter" pitchFamily="34" charset="0"/>
                <a:ea typeface="Inter" pitchFamily="34" charset="-122"/>
                <a:cs typeface="Inter" pitchFamily="34" charset="-120"/>
              </a:rPr>
              <a:t>Invoked automatically from the description or explicitly by name. Manage with </a:t>
            </a:r>
            <a:r>
              <a:rPr lang="en-US" sz="1400" b="1" dirty="0">
                <a:solidFill>
                  <a:srgbClr val="1F1E1D"/>
                </a:solidFill>
                <a:latin typeface="Inter" pitchFamily="34" charset="0"/>
                <a:ea typeface="Inter" pitchFamily="34" charset="-122"/>
                <a:cs typeface="Inter" pitchFamily="34" charset="-120"/>
              </a:rPr>
              <a:t>/agents</a:t>
            </a:r>
            <a:r>
              <a:rPr lang="en-US" sz="1400" dirty="0">
                <a:solidFill>
                  <a:srgbClr val="1F1E1D"/>
                </a:solidFill>
                <a:latin typeface="Inter" pitchFamily="34" charset="0"/>
                <a:ea typeface="Inter" pitchFamily="34" charset="-122"/>
                <a:cs typeface="Inter" pitchFamily="34" charset="-120"/>
              </a:rPr>
              <a:t>.</a:t>
            </a:r>
            <a:endParaRPr lang="en-US" sz="1400" dirty="0"/>
          </a:p>
        </p:txBody>
      </p:sp>
      <p:sp>
        <p:nvSpPr>
          <p:cNvPr id="11" name="Shape 9"/>
          <p:cNvSpPr/>
          <p:nvPr/>
        </p:nvSpPr>
        <p:spPr>
          <a:xfrm>
            <a:off x="5918200" y="1564630"/>
            <a:ext cx="5461000" cy="3253482"/>
          </a:xfrm>
          <a:prstGeom prst="roundRect">
            <a:avLst>
              <a:gd name="adj" fmla="val 3123"/>
            </a:avLst>
          </a:prstGeom>
          <a:solidFill>
            <a:srgbClr val="262524"/>
          </a:solidFill>
          <a:ln/>
        </p:spPr>
      </p:sp>
      <p:sp>
        <p:nvSpPr>
          <p:cNvPr id="12" name="Text 10"/>
          <p:cNvSpPr/>
          <p:nvPr/>
        </p:nvSpPr>
        <p:spPr>
          <a:xfrm>
            <a:off x="6172200" y="1818630"/>
            <a:ext cx="510159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97757"/>
                </a:solidFill>
                <a:latin typeface="JetBrains Mono" pitchFamily="34" charset="0"/>
                <a:ea typeface="JetBrains Mono" pitchFamily="34" charset="-122"/>
                <a:cs typeface="JetBrains Mono" pitchFamily="34" charset="-120"/>
              </a:rPr>
              <a:t>.claude/agents/security-reviewer.md</a:t>
            </a:r>
            <a:endParaRPr lang="en-US" sz="1200" dirty="0"/>
          </a:p>
        </p:txBody>
      </p:sp>
      <p:sp>
        <p:nvSpPr>
          <p:cNvPr id="13" name="Text 11"/>
          <p:cNvSpPr/>
          <p:nvPr/>
        </p:nvSpPr>
        <p:spPr>
          <a:xfrm>
            <a:off x="6172200" y="2133550"/>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a:t>
            </a:r>
            <a:endParaRPr lang="en-US" sz="1200" dirty="0"/>
          </a:p>
        </p:txBody>
      </p:sp>
      <p:sp>
        <p:nvSpPr>
          <p:cNvPr id="14" name="Text 12"/>
          <p:cNvSpPr/>
          <p:nvPr/>
        </p:nvSpPr>
        <p:spPr>
          <a:xfrm>
            <a:off x="6172200" y="235451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name: security-reviewer</a:t>
            </a:r>
            <a:endParaRPr lang="en-US" sz="1200" dirty="0"/>
          </a:p>
        </p:txBody>
      </p:sp>
      <p:sp>
        <p:nvSpPr>
          <p:cNvPr id="15" name="Text 13"/>
          <p:cNvSpPr/>
          <p:nvPr/>
        </p:nvSpPr>
        <p:spPr>
          <a:xfrm>
            <a:off x="6172200" y="257547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description: AppSec reviewer. Use</a:t>
            </a:r>
            <a:endParaRPr lang="en-US" sz="1200" dirty="0"/>
          </a:p>
        </p:txBody>
      </p:sp>
      <p:sp>
        <p:nvSpPr>
          <p:cNvPr id="16" name="Text 14"/>
          <p:cNvSpPr/>
          <p:nvPr/>
        </p:nvSpPr>
        <p:spPr>
          <a:xfrm>
            <a:off x="6172200" y="279643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PROACTIVELY after changes in src/.</a:t>
            </a:r>
            <a:endParaRPr lang="en-US" sz="1200" dirty="0"/>
          </a:p>
        </p:txBody>
      </p:sp>
      <p:sp>
        <p:nvSpPr>
          <p:cNvPr id="17" name="Text 15"/>
          <p:cNvSpPr/>
          <p:nvPr/>
        </p:nvSpPr>
        <p:spPr>
          <a:xfrm>
            <a:off x="6172200" y="301739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tools: Read, Grep, Glob</a:t>
            </a:r>
            <a:endParaRPr lang="en-US" sz="1200" dirty="0"/>
          </a:p>
        </p:txBody>
      </p:sp>
      <p:sp>
        <p:nvSpPr>
          <p:cNvPr id="18" name="Text 16"/>
          <p:cNvSpPr/>
          <p:nvPr/>
        </p:nvSpPr>
        <p:spPr>
          <a:xfrm>
            <a:off x="6172200" y="323835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model: sonnet</a:t>
            </a:r>
            <a:endParaRPr lang="en-US" sz="1200" dirty="0"/>
          </a:p>
        </p:txBody>
      </p:sp>
      <p:sp>
        <p:nvSpPr>
          <p:cNvPr id="19" name="Text 17"/>
          <p:cNvSpPr/>
          <p:nvPr/>
        </p:nvSpPr>
        <p:spPr>
          <a:xfrm>
            <a:off x="6172200" y="345931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a:t>
            </a:r>
            <a:endParaRPr lang="en-US" sz="1200" dirty="0"/>
          </a:p>
        </p:txBody>
      </p:sp>
      <p:sp>
        <p:nvSpPr>
          <p:cNvPr id="20" name="Text 18"/>
          <p:cNvSpPr/>
          <p:nvPr/>
        </p:nvSpPr>
        <p:spPr>
          <a:xfrm>
            <a:off x="6172200" y="368027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You are a senior AppSec engineer.</a:t>
            </a:r>
            <a:endParaRPr lang="en-US" sz="1200" dirty="0"/>
          </a:p>
        </p:txBody>
      </p:sp>
      <p:sp>
        <p:nvSpPr>
          <p:cNvPr id="21" name="Text 19"/>
          <p:cNvSpPr/>
          <p:nvPr/>
        </p:nvSpPr>
        <p:spPr>
          <a:xfrm>
            <a:off x="6172200" y="3901232"/>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Report: severity, OWASP, file:line, fix.</a:t>
            </a:r>
            <a:endParaRPr lang="en-US" sz="1200" dirty="0"/>
          </a:p>
        </p:txBody>
      </p:sp>
      <p:sp>
        <p:nvSpPr>
          <p:cNvPr id="22" name="Text 20"/>
          <p:cNvSpPr/>
          <p:nvPr/>
        </p:nvSpPr>
        <p:spPr>
          <a:xfrm>
            <a:off x="6172200" y="4122192"/>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Verdict: BLOCK MERGE or PASS.</a:t>
            </a:r>
            <a:endParaRPr lang="en-US" sz="1200" dirty="0"/>
          </a:p>
        </p:txBody>
      </p:sp>
      <p:sp>
        <p:nvSpPr>
          <p:cNvPr id="23" name="Text 21"/>
          <p:cNvSpPr/>
          <p:nvPr/>
        </p:nvSpPr>
        <p:spPr>
          <a:xfrm>
            <a:off x="6172200" y="4343152"/>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You cannot edit files.</a:t>
            </a:r>
            <a:endParaRPr lang="en-US" sz="1200" dirty="0"/>
          </a:p>
        </p:txBody>
      </p:sp>
      <p:sp>
        <p:nvSpPr>
          <p:cNvPr id="24" name="Text 22"/>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Module 7 · Extending Claude Code</a:t>
            </a:r>
            <a:endParaRPr lang="en-US" sz="1200" dirty="0"/>
          </a:p>
        </p:txBody>
      </p:sp>
      <p:sp>
        <p:nvSpPr>
          <p:cNvPr id="25" name="Text 23"/>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5D59"/>
                </a:solidFill>
                <a:latin typeface="Inter" pitchFamily="34" charset="0"/>
                <a:ea typeface="Inter" pitchFamily="34" charset="-122"/>
                <a:cs typeface="Inter" pitchFamily="34" charset="-120"/>
              </a:rPr>
              <a:t>03 Subagents · Concept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E1D"/>
                </a:solidFill>
                <a:latin typeface="Source Serif 4" pitchFamily="34" charset="0"/>
                <a:ea typeface="Source Serif 4" pitchFamily="34" charset="-122"/>
                <a:cs typeface="Source Serif 4" pitchFamily="34" charset="-120"/>
              </a:rPr>
              <a:t>Subagents in practice with Claude Code</a:t>
            </a:r>
            <a:endParaRPr lang="en-US" sz="3200" dirty="0"/>
          </a:p>
        </p:txBody>
      </p:sp>
      <p:sp>
        <p:nvSpPr>
          <p:cNvPr id="3" name="Shape 1"/>
          <p:cNvSpPr/>
          <p:nvPr/>
        </p:nvSpPr>
        <p:spPr>
          <a:xfrm>
            <a:off x="815975" y="1567805"/>
            <a:ext cx="3380284" cy="4271020"/>
          </a:xfrm>
          <a:prstGeom prst="roundRect">
            <a:avLst>
              <a:gd name="adj" fmla="val 2912"/>
            </a:avLst>
          </a:prstGeom>
          <a:solidFill>
            <a:srgbClr val="FAF9F5"/>
          </a:solidFill>
          <a:ln w="6350">
            <a:solidFill>
              <a:srgbClr val="DEDBD2"/>
            </a:solidFill>
            <a:prstDash val="solid"/>
          </a:ln>
        </p:spPr>
      </p:sp>
      <p:sp>
        <p:nvSpPr>
          <p:cNvPr id="4" name="Text 2"/>
          <p:cNvSpPr/>
          <p:nvPr/>
        </p:nvSpPr>
        <p:spPr>
          <a:xfrm>
            <a:off x="1073150" y="1824980"/>
            <a:ext cx="295191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2F"/>
                </a:solidFill>
                <a:latin typeface="Inter" pitchFamily="34" charset="0"/>
                <a:ea typeface="Inter" pitchFamily="34" charset="-122"/>
                <a:cs typeface="Inter" pitchFamily="34" charset="-120"/>
              </a:rPr>
              <a:t>EXAMPLE 1</a:t>
            </a:r>
            <a:endParaRPr lang="en-US" sz="1200" dirty="0"/>
          </a:p>
        </p:txBody>
      </p:sp>
      <p:sp>
        <p:nvSpPr>
          <p:cNvPr id="5" name="Text 3"/>
          <p:cNvSpPr/>
          <p:nvPr/>
        </p:nvSpPr>
        <p:spPr>
          <a:xfrm>
            <a:off x="1073150" y="2165300"/>
            <a:ext cx="2951912" cy="57398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1E1D"/>
                </a:solidFill>
                <a:latin typeface="Source Serif 4" pitchFamily="34" charset="0"/>
                <a:ea typeface="Source Serif 4" pitchFamily="34" charset="-122"/>
                <a:cs typeface="Source Serif 4" pitchFamily="34" charset="-120"/>
              </a:rPr>
              <a:t>Read-only security reviewer</a:t>
            </a:r>
            <a:endParaRPr lang="en-US" sz="1800" dirty="0"/>
          </a:p>
        </p:txBody>
      </p:sp>
      <p:sp>
        <p:nvSpPr>
          <p:cNvPr id="6" name="Text 4"/>
          <p:cNvSpPr/>
          <p:nvPr/>
        </p:nvSpPr>
        <p:spPr>
          <a:xfrm>
            <a:off x="1073150" y="2840881"/>
            <a:ext cx="2951912" cy="98286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5E5D59"/>
                </a:solidFill>
                <a:latin typeface="Inter" pitchFamily="34" charset="0"/>
                <a:ea typeface="Inter" pitchFamily="34" charset="-122"/>
                <a:cs typeface="Inter" pitchFamily="34" charset="-120"/>
              </a:rPr>
              <a:t>Checks changes against the OWASP Top 10 with Read, Grep and Glob only, so findings stay independent of the fix.</a:t>
            </a:r>
            <a:endParaRPr lang="en-US" sz="1300" dirty="0"/>
          </a:p>
        </p:txBody>
      </p:sp>
      <p:sp>
        <p:nvSpPr>
          <p:cNvPr id="7" name="Shape 5"/>
          <p:cNvSpPr/>
          <p:nvPr/>
        </p:nvSpPr>
        <p:spPr>
          <a:xfrm>
            <a:off x="1073150" y="5215930"/>
            <a:ext cx="2865934" cy="365720"/>
          </a:xfrm>
          <a:prstGeom prst="roundRect">
            <a:avLst>
              <a:gd name="adj" fmla="val 13890"/>
            </a:avLst>
          </a:prstGeom>
          <a:solidFill>
            <a:srgbClr val="1F1E1D"/>
          </a:solidFill>
          <a:ln/>
        </p:spPr>
      </p:sp>
      <p:sp>
        <p:nvSpPr>
          <p:cNvPr id="8" name="Text 6"/>
          <p:cNvSpPr/>
          <p:nvPr/>
        </p:nvSpPr>
        <p:spPr>
          <a:xfrm>
            <a:off x="1187450" y="5292130"/>
            <a:ext cx="271645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1EA"/>
                </a:solidFill>
                <a:latin typeface="JetBrains Mono" pitchFamily="34" charset="0"/>
                <a:ea typeface="JetBrains Mono" pitchFamily="34" charset="-122"/>
                <a:cs typeface="JetBrains Mono" pitchFamily="34" charset="-120"/>
              </a:rPr>
              <a:t>tools: Read, Grep, Glob</a:t>
            </a:r>
            <a:endParaRPr lang="en-US" sz="1200" dirty="0"/>
          </a:p>
        </p:txBody>
      </p:sp>
      <p:sp>
        <p:nvSpPr>
          <p:cNvPr id="9" name="Shape 7"/>
          <p:cNvSpPr/>
          <p:nvPr/>
        </p:nvSpPr>
        <p:spPr>
          <a:xfrm>
            <a:off x="4405809" y="1567805"/>
            <a:ext cx="3380333" cy="4271020"/>
          </a:xfrm>
          <a:prstGeom prst="roundRect">
            <a:avLst>
              <a:gd name="adj" fmla="val 2912"/>
            </a:avLst>
          </a:prstGeom>
          <a:solidFill>
            <a:srgbClr val="FAF9F5"/>
          </a:solidFill>
          <a:ln w="6350">
            <a:solidFill>
              <a:srgbClr val="DEDBD2"/>
            </a:solidFill>
            <a:prstDash val="solid"/>
          </a:ln>
        </p:spPr>
      </p:sp>
      <p:sp>
        <p:nvSpPr>
          <p:cNvPr id="10" name="Text 8"/>
          <p:cNvSpPr/>
          <p:nvPr/>
        </p:nvSpPr>
        <p:spPr>
          <a:xfrm>
            <a:off x="4662984" y="1824980"/>
            <a:ext cx="295196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2F"/>
                </a:solidFill>
                <a:latin typeface="Inter" pitchFamily="34" charset="0"/>
                <a:ea typeface="Inter" pitchFamily="34" charset="-122"/>
                <a:cs typeface="Inter" pitchFamily="34" charset="-120"/>
              </a:rPr>
              <a:t>EXAMPLE 2</a:t>
            </a:r>
            <a:endParaRPr lang="en-US" sz="1200" dirty="0"/>
          </a:p>
        </p:txBody>
      </p:sp>
      <p:sp>
        <p:nvSpPr>
          <p:cNvPr id="11" name="Text 9"/>
          <p:cNvSpPr/>
          <p:nvPr/>
        </p:nvSpPr>
        <p:spPr>
          <a:xfrm>
            <a:off x="4662984" y="2165300"/>
            <a:ext cx="29519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1E1D"/>
                </a:solidFill>
                <a:latin typeface="Source Serif 4" pitchFamily="34" charset="0"/>
                <a:ea typeface="Source Serif 4" pitchFamily="34" charset="-122"/>
                <a:cs typeface="Source Serif 4" pitchFamily="34" charset="-120"/>
              </a:rPr>
              <a:t>Test writer</a:t>
            </a:r>
            <a:endParaRPr lang="en-US" sz="1800" dirty="0"/>
          </a:p>
        </p:txBody>
      </p:sp>
      <p:sp>
        <p:nvSpPr>
          <p:cNvPr id="12" name="Text 10"/>
          <p:cNvSpPr/>
          <p:nvPr/>
        </p:nvSpPr>
        <p:spPr>
          <a:xfrm>
            <a:off x="4662984" y="2566591"/>
            <a:ext cx="2951963" cy="98286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5E5D59"/>
                </a:solidFill>
                <a:latin typeface="Inter" pitchFamily="34" charset="0"/>
                <a:ea typeface="Inter" pitchFamily="34" charset="-122"/>
                <a:cs typeface="Inter" pitchFamily="34" charset="-120"/>
              </a:rPr>
              <a:t>Given a module, writes and runs Jest tests until they pass while the main session continues on feature work.</a:t>
            </a:r>
            <a:endParaRPr lang="en-US" sz="1300" dirty="0"/>
          </a:p>
        </p:txBody>
      </p:sp>
      <p:sp>
        <p:nvSpPr>
          <p:cNvPr id="13" name="Shape 11"/>
          <p:cNvSpPr/>
          <p:nvPr/>
        </p:nvSpPr>
        <p:spPr>
          <a:xfrm>
            <a:off x="4662984" y="5215930"/>
            <a:ext cx="2865983" cy="365720"/>
          </a:xfrm>
          <a:prstGeom prst="roundRect">
            <a:avLst>
              <a:gd name="adj" fmla="val 13890"/>
            </a:avLst>
          </a:prstGeom>
          <a:solidFill>
            <a:srgbClr val="1F1E1D"/>
          </a:solidFill>
          <a:ln/>
        </p:spPr>
      </p:sp>
      <p:sp>
        <p:nvSpPr>
          <p:cNvPr id="14" name="Text 12"/>
          <p:cNvSpPr/>
          <p:nvPr/>
        </p:nvSpPr>
        <p:spPr>
          <a:xfrm>
            <a:off x="4777284" y="5292130"/>
            <a:ext cx="271650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1EA"/>
                </a:solidFill>
                <a:latin typeface="JetBrains Mono" pitchFamily="34" charset="0"/>
                <a:ea typeface="JetBrains Mono" pitchFamily="34" charset="-122"/>
                <a:cs typeface="JetBrains Mono" pitchFamily="34" charset="-120"/>
              </a:rPr>
              <a:t>tools: Read, Edit, Bash</a:t>
            </a:r>
            <a:endParaRPr lang="en-US" sz="1200" dirty="0"/>
          </a:p>
        </p:txBody>
      </p:sp>
      <p:sp>
        <p:nvSpPr>
          <p:cNvPr id="15" name="Shape 13"/>
          <p:cNvSpPr/>
          <p:nvPr/>
        </p:nvSpPr>
        <p:spPr>
          <a:xfrm>
            <a:off x="7995692" y="1567805"/>
            <a:ext cx="3380333" cy="4271020"/>
          </a:xfrm>
          <a:prstGeom prst="roundRect">
            <a:avLst>
              <a:gd name="adj" fmla="val 2912"/>
            </a:avLst>
          </a:prstGeom>
          <a:solidFill>
            <a:srgbClr val="FAF9F5"/>
          </a:solidFill>
          <a:ln w="6350">
            <a:solidFill>
              <a:srgbClr val="DEDBD2"/>
            </a:solidFill>
            <a:prstDash val="solid"/>
          </a:ln>
        </p:spPr>
      </p:sp>
      <p:sp>
        <p:nvSpPr>
          <p:cNvPr id="16" name="Text 14"/>
          <p:cNvSpPr/>
          <p:nvPr/>
        </p:nvSpPr>
        <p:spPr>
          <a:xfrm>
            <a:off x="8252867" y="1824980"/>
            <a:ext cx="295196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2F"/>
                </a:solidFill>
                <a:latin typeface="Inter" pitchFamily="34" charset="0"/>
                <a:ea typeface="Inter" pitchFamily="34" charset="-122"/>
                <a:cs typeface="Inter" pitchFamily="34" charset="-120"/>
              </a:rPr>
              <a:t>EXAMPLE 3</a:t>
            </a:r>
            <a:endParaRPr lang="en-US" sz="1200" dirty="0"/>
          </a:p>
        </p:txBody>
      </p:sp>
      <p:sp>
        <p:nvSpPr>
          <p:cNvPr id="17" name="Text 15"/>
          <p:cNvSpPr/>
          <p:nvPr/>
        </p:nvSpPr>
        <p:spPr>
          <a:xfrm>
            <a:off x="8252867" y="2165300"/>
            <a:ext cx="29519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1E1D"/>
                </a:solidFill>
                <a:latin typeface="Source Serif 4" pitchFamily="34" charset="0"/>
                <a:ea typeface="Source Serif 4" pitchFamily="34" charset="-122"/>
                <a:cs typeface="Source Serif 4" pitchFamily="34" charset="-120"/>
              </a:rPr>
              <a:t>Log investigator</a:t>
            </a:r>
            <a:endParaRPr lang="en-US" sz="1800" dirty="0"/>
          </a:p>
        </p:txBody>
      </p:sp>
      <p:sp>
        <p:nvSpPr>
          <p:cNvPr id="18" name="Text 16"/>
          <p:cNvSpPr/>
          <p:nvPr/>
        </p:nvSpPr>
        <p:spPr>
          <a:xfrm>
            <a:off x="8252867" y="2566591"/>
            <a:ext cx="2951963" cy="98286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5E5D59"/>
                </a:solidFill>
                <a:latin typeface="Inter" pitchFamily="34" charset="0"/>
                <a:ea typeface="Inter" pitchFamily="34" charset="-122"/>
                <a:cs typeface="Inter" pitchFamily="34" charset="-120"/>
              </a:rPr>
              <a:t>Searches large log exports for an incident's root cause and returns a short summary instead of flooding the main context.</a:t>
            </a:r>
            <a:endParaRPr lang="en-US" sz="1300" dirty="0"/>
          </a:p>
        </p:txBody>
      </p:sp>
      <p:sp>
        <p:nvSpPr>
          <p:cNvPr id="19" name="Shape 17"/>
          <p:cNvSpPr/>
          <p:nvPr/>
        </p:nvSpPr>
        <p:spPr>
          <a:xfrm>
            <a:off x="8252867" y="5002609"/>
            <a:ext cx="2865983" cy="579041"/>
          </a:xfrm>
          <a:prstGeom prst="roundRect">
            <a:avLst>
              <a:gd name="adj" fmla="val 8773"/>
            </a:avLst>
          </a:prstGeom>
          <a:solidFill>
            <a:srgbClr val="1F1E1D"/>
          </a:solidFill>
          <a:ln/>
        </p:spPr>
      </p:sp>
      <p:sp>
        <p:nvSpPr>
          <p:cNvPr id="20" name="Text 18"/>
          <p:cNvSpPr/>
          <p:nvPr/>
        </p:nvSpPr>
        <p:spPr>
          <a:xfrm>
            <a:off x="8367167" y="5078809"/>
            <a:ext cx="271650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1EA"/>
                </a:solidFill>
                <a:latin typeface="JetBrains Mono" pitchFamily="34" charset="0"/>
                <a:ea typeface="JetBrains Mono" pitchFamily="34" charset="-122"/>
                <a:cs typeface="JetBrains Mono" pitchFamily="34" charset="-120"/>
              </a:rPr>
              <a:t>Use log-investigator on INC-482</a:t>
            </a:r>
            <a:endParaRPr lang="en-US" sz="1200" dirty="0"/>
          </a:p>
        </p:txBody>
      </p:sp>
      <p:sp>
        <p:nvSpPr>
          <p:cNvPr id="21" name="Text 1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Module 7 · Extending Claude Code</a:t>
            </a:r>
            <a:endParaRPr lang="en-US" sz="1200" dirty="0"/>
          </a:p>
        </p:txBody>
      </p:sp>
      <p:sp>
        <p:nvSpPr>
          <p:cNvPr id="22" name="Text 20"/>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5D59"/>
                </a:solidFill>
                <a:latin typeface="Inter" pitchFamily="34" charset="0"/>
                <a:ea typeface="Inter" pitchFamily="34" charset="-122"/>
                <a:cs typeface="Inter" pitchFamily="34" charset="-120"/>
              </a:rPr>
              <a:t>03 Subagents · Examples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E1D"/>
                </a:solidFill>
                <a:latin typeface="Source Serif 4" pitchFamily="34" charset="0"/>
                <a:ea typeface="Source Serif 4" pitchFamily="34" charset="-122"/>
                <a:cs typeface="Source Serif 4" pitchFamily="34" charset="-120"/>
              </a:rPr>
              <a:t>Use case: removing the AppSec review bottleneck</a:t>
            </a:r>
            <a:endParaRPr lang="en-US" sz="3200" dirty="0"/>
          </a:p>
        </p:txBody>
      </p:sp>
      <p:sp>
        <p:nvSpPr>
          <p:cNvPr id="3" name="Shape 1"/>
          <p:cNvSpPr/>
          <p:nvPr/>
        </p:nvSpPr>
        <p:spPr>
          <a:xfrm>
            <a:off x="812800" y="1564630"/>
            <a:ext cx="4318000" cy="4277370"/>
          </a:xfrm>
          <a:prstGeom prst="roundRect">
            <a:avLst>
              <a:gd name="adj" fmla="val 2375"/>
            </a:avLst>
          </a:prstGeom>
          <a:solidFill>
            <a:srgbClr val="1F1E1D"/>
          </a:solidFill>
          <a:ln/>
        </p:spPr>
      </p:sp>
      <p:sp>
        <p:nvSpPr>
          <p:cNvPr id="4" name="Text 2"/>
          <p:cNvSpPr/>
          <p:nvPr/>
        </p:nvSpPr>
        <p:spPr>
          <a:xfrm>
            <a:off x="1117600" y="1869430"/>
            <a:ext cx="381965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97757"/>
                </a:solidFill>
                <a:latin typeface="Inter" pitchFamily="34" charset="0"/>
                <a:ea typeface="Inter" pitchFamily="34" charset="-122"/>
                <a:cs typeface="Inter" pitchFamily="34" charset="-120"/>
              </a:rPr>
              <a:t>THE PROBLEM</a:t>
            </a:r>
            <a:endParaRPr lang="en-US" sz="1200" dirty="0"/>
          </a:p>
        </p:txBody>
      </p:sp>
      <p:sp>
        <p:nvSpPr>
          <p:cNvPr id="5" name="Text 3"/>
          <p:cNvSpPr/>
          <p:nvPr/>
        </p:nvSpPr>
        <p:spPr>
          <a:xfrm>
            <a:off x="1117600" y="2260550"/>
            <a:ext cx="3819652" cy="1536502"/>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F4F1EA"/>
                </a:solidFill>
                <a:latin typeface="Source Serif 4" pitchFamily="34" charset="0"/>
                <a:ea typeface="Source Serif 4" pitchFamily="34" charset="-122"/>
                <a:cs typeface="Source Serif 4" pitchFamily="34" charset="-120"/>
              </a:rPr>
              <a:t>AppSec manually reviews every PR that touches request handling and is now a two-day bottleneck. They need a consistent first pass that cannot alter the code it reviews.</a:t>
            </a:r>
            <a:endParaRPr lang="en-US" sz="1700" dirty="0"/>
          </a:p>
        </p:txBody>
      </p:sp>
      <p:sp>
        <p:nvSpPr>
          <p:cNvPr id="6" name="Text 4"/>
          <p:cNvSpPr/>
          <p:nvPr/>
        </p:nvSpPr>
        <p:spPr>
          <a:xfrm>
            <a:off x="1117600" y="5323880"/>
            <a:ext cx="381965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DB7AB"/>
                </a:solidFill>
                <a:latin typeface="Inter" pitchFamily="34" charset="0"/>
                <a:ea typeface="Inter" pitchFamily="34" charset="-122"/>
                <a:cs typeface="Inter" pitchFamily="34" charset="-120"/>
              </a:rPr>
              <a:t>Requested by: AppSec Lead · OHUB-303</a:t>
            </a:r>
            <a:endParaRPr lang="en-US" sz="1200" dirty="0"/>
          </a:p>
        </p:txBody>
      </p:sp>
      <p:sp>
        <p:nvSpPr>
          <p:cNvPr id="7" name="Text 5"/>
          <p:cNvSpPr/>
          <p:nvPr/>
        </p:nvSpPr>
        <p:spPr>
          <a:xfrm>
            <a:off x="5537200" y="1564630"/>
            <a:ext cx="601726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B4532F"/>
                </a:solidFill>
                <a:latin typeface="Source Serif 4" pitchFamily="34" charset="0"/>
                <a:ea typeface="Source Serif 4" pitchFamily="34" charset="-122"/>
                <a:cs typeface="Source Serif 4" pitchFamily="34" charset="-120"/>
              </a:rPr>
              <a:t>Why we need it</a:t>
            </a:r>
            <a:endParaRPr lang="en-US" sz="2000" dirty="0"/>
          </a:p>
        </p:txBody>
      </p:sp>
      <p:sp>
        <p:nvSpPr>
          <p:cNvPr id="8" name="Shape 6"/>
          <p:cNvSpPr/>
          <p:nvPr/>
        </p:nvSpPr>
        <p:spPr>
          <a:xfrm>
            <a:off x="5537200" y="2136130"/>
            <a:ext cx="88900" cy="88900"/>
          </a:xfrm>
          <a:prstGeom prst="roundRect">
            <a:avLst>
              <a:gd name="adj" fmla="val 21429"/>
            </a:avLst>
          </a:prstGeom>
          <a:solidFill>
            <a:srgbClr val="D97757"/>
          </a:solidFill>
          <a:ln/>
        </p:spPr>
      </p:sp>
      <p:sp>
        <p:nvSpPr>
          <p:cNvPr id="9" name="Text 7"/>
          <p:cNvSpPr/>
          <p:nvPr/>
        </p:nvSpPr>
        <p:spPr>
          <a:xfrm>
            <a:off x="5753100" y="2047230"/>
            <a:ext cx="5430557"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Isolation:</a:t>
            </a:r>
            <a:r>
              <a:rPr lang="en-US" sz="1400" dirty="0">
                <a:solidFill>
                  <a:srgbClr val="1F1E1D"/>
                </a:solidFill>
                <a:latin typeface="Inter" pitchFamily="34" charset="0"/>
                <a:ea typeface="Inter" pitchFamily="34" charset="-122"/>
                <a:cs typeface="Inter" pitchFamily="34" charset="-120"/>
              </a:rPr>
              <a:t> a clean context gives focused, reproducible reviews.</a:t>
            </a:r>
            <a:endParaRPr lang="en-US" sz="1400" dirty="0"/>
          </a:p>
        </p:txBody>
      </p:sp>
      <p:sp>
        <p:nvSpPr>
          <p:cNvPr id="10" name="Shape 8"/>
          <p:cNvSpPr/>
          <p:nvPr/>
        </p:nvSpPr>
        <p:spPr>
          <a:xfrm>
            <a:off x="5537200" y="2524720"/>
            <a:ext cx="88900" cy="88900"/>
          </a:xfrm>
          <a:prstGeom prst="roundRect">
            <a:avLst>
              <a:gd name="adj" fmla="val 21429"/>
            </a:avLst>
          </a:prstGeom>
          <a:solidFill>
            <a:srgbClr val="D97757"/>
          </a:solidFill>
          <a:ln/>
        </p:spPr>
      </p:sp>
      <p:sp>
        <p:nvSpPr>
          <p:cNvPr id="11" name="Text 9"/>
          <p:cNvSpPr/>
          <p:nvPr/>
        </p:nvSpPr>
        <p:spPr>
          <a:xfrm>
            <a:off x="5753100" y="2435820"/>
            <a:ext cx="48633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Least privilege:</a:t>
            </a:r>
            <a:r>
              <a:rPr lang="en-US" sz="1400" dirty="0">
                <a:solidFill>
                  <a:srgbClr val="1F1E1D"/>
                </a:solidFill>
                <a:latin typeface="Inter" pitchFamily="34" charset="0"/>
                <a:ea typeface="Inter" pitchFamily="34" charset="-122"/>
                <a:cs typeface="Inter" pitchFamily="34" charset="-120"/>
              </a:rPr>
              <a:t> reviewers read, fixers write; never both.</a:t>
            </a:r>
            <a:endParaRPr lang="en-US" sz="1400" dirty="0"/>
          </a:p>
        </p:txBody>
      </p:sp>
      <p:sp>
        <p:nvSpPr>
          <p:cNvPr id="12" name="Shape 10"/>
          <p:cNvSpPr/>
          <p:nvPr/>
        </p:nvSpPr>
        <p:spPr>
          <a:xfrm>
            <a:off x="5537200" y="2913311"/>
            <a:ext cx="88900" cy="88900"/>
          </a:xfrm>
          <a:prstGeom prst="roundRect">
            <a:avLst>
              <a:gd name="adj" fmla="val 21429"/>
            </a:avLst>
          </a:prstGeom>
          <a:solidFill>
            <a:srgbClr val="D97757"/>
          </a:solidFill>
          <a:ln/>
        </p:spPr>
      </p:sp>
      <p:sp>
        <p:nvSpPr>
          <p:cNvPr id="13" name="Text 11"/>
          <p:cNvSpPr/>
          <p:nvPr/>
        </p:nvSpPr>
        <p:spPr>
          <a:xfrm>
            <a:off x="5753100" y="2824411"/>
            <a:ext cx="5439499"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Parallelism:</a:t>
            </a:r>
            <a:r>
              <a:rPr lang="en-US" sz="1400" dirty="0">
                <a:solidFill>
                  <a:srgbClr val="1F1E1D"/>
                </a:solidFill>
                <a:latin typeface="Inter" pitchFamily="34" charset="0"/>
                <a:ea typeface="Inter" pitchFamily="34" charset="-122"/>
                <a:cs typeface="Inter" pitchFamily="34" charset="-120"/>
              </a:rPr>
              <a:t> specialists work while the main session continues.</a:t>
            </a:r>
            <a:endParaRPr lang="en-US" sz="1400" dirty="0"/>
          </a:p>
        </p:txBody>
      </p:sp>
      <p:sp>
        <p:nvSpPr>
          <p:cNvPr id="14" name="Shape 12"/>
          <p:cNvSpPr/>
          <p:nvPr/>
        </p:nvSpPr>
        <p:spPr>
          <a:xfrm>
            <a:off x="5537200" y="3301901"/>
            <a:ext cx="88900" cy="88900"/>
          </a:xfrm>
          <a:prstGeom prst="roundRect">
            <a:avLst>
              <a:gd name="adj" fmla="val 21429"/>
            </a:avLst>
          </a:prstGeom>
          <a:solidFill>
            <a:srgbClr val="D97757"/>
          </a:solidFill>
          <a:ln/>
        </p:spPr>
      </p:sp>
      <p:sp>
        <p:nvSpPr>
          <p:cNvPr id="15" name="Text 13"/>
          <p:cNvSpPr/>
          <p:nvPr/>
        </p:nvSpPr>
        <p:spPr>
          <a:xfrm>
            <a:off x="5753100" y="3213001"/>
            <a:ext cx="5794883" cy="52318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Consistency:</a:t>
            </a:r>
            <a:r>
              <a:rPr lang="en-US" sz="1400" dirty="0">
                <a:solidFill>
                  <a:srgbClr val="1F1E1D"/>
                </a:solidFill>
                <a:latin typeface="Inter" pitchFamily="34" charset="0"/>
                <a:ea typeface="Inter" pitchFamily="34" charset="-122"/>
                <a:cs typeface="Inter" pitchFamily="34" charset="-120"/>
              </a:rPr>
              <a:t> the checklist lives in the system prompt, not in memory.</a:t>
            </a:r>
            <a:endParaRPr lang="en-US" sz="1400" dirty="0"/>
          </a:p>
        </p:txBody>
      </p:sp>
      <p:sp>
        <p:nvSpPr>
          <p:cNvPr id="16" name="Shape 14"/>
          <p:cNvSpPr/>
          <p:nvPr/>
        </p:nvSpPr>
        <p:spPr>
          <a:xfrm>
            <a:off x="5537200" y="3939381"/>
            <a:ext cx="88900" cy="88900"/>
          </a:xfrm>
          <a:prstGeom prst="roundRect">
            <a:avLst>
              <a:gd name="adj" fmla="val 21429"/>
            </a:avLst>
          </a:prstGeom>
          <a:solidFill>
            <a:srgbClr val="D97757"/>
          </a:solidFill>
          <a:ln/>
        </p:spPr>
      </p:sp>
      <p:sp>
        <p:nvSpPr>
          <p:cNvPr id="17" name="Text 15"/>
          <p:cNvSpPr/>
          <p:nvPr/>
        </p:nvSpPr>
        <p:spPr>
          <a:xfrm>
            <a:off x="5753100" y="3850481"/>
            <a:ext cx="4978496"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Cost control:</a:t>
            </a:r>
            <a:r>
              <a:rPr lang="en-US" sz="1400" dirty="0">
                <a:solidFill>
                  <a:srgbClr val="1F1E1D"/>
                </a:solidFill>
                <a:latin typeface="Inter" pitchFamily="34" charset="0"/>
                <a:ea typeface="Inter" pitchFamily="34" charset="-122"/>
                <a:cs typeface="Inter" pitchFamily="34" charset="-120"/>
              </a:rPr>
              <a:t> a smaller model for narrow, repetitive tasks.</a:t>
            </a:r>
            <a:endParaRPr lang="en-US" sz="1400" dirty="0"/>
          </a:p>
        </p:txBody>
      </p:sp>
      <p:sp>
        <p:nvSpPr>
          <p:cNvPr id="18" name="Text 16"/>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Module 7 · Extending Claude Code</a:t>
            </a:r>
            <a:endParaRPr lang="en-US" sz="1200" dirty="0"/>
          </a:p>
        </p:txBody>
      </p:sp>
      <p:sp>
        <p:nvSpPr>
          <p:cNvPr id="19" name="Text 17"/>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5D59"/>
                </a:solidFill>
                <a:latin typeface="Inter" pitchFamily="34" charset="0"/>
                <a:ea typeface="Inter" pitchFamily="34" charset="-122"/>
                <a:cs typeface="Inter" pitchFamily="34" charset="-120"/>
              </a:rPr>
              <a:t>03 Subagents · Use case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9F5"/>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D97757"/>
          </a:solidFill>
          <a:ln/>
        </p:spPr>
      </p:sp>
      <p:sp>
        <p:nvSpPr>
          <p:cNvPr id="3" name="Text 1"/>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B4532F"/>
                </a:solidFill>
                <a:latin typeface="Inter" pitchFamily="34" charset="0"/>
                <a:ea typeface="Inter" pitchFamily="34" charset="-122"/>
                <a:cs typeface="Inter" pitchFamily="34" charset="-120"/>
              </a:rPr>
              <a:t>LIVE DEMO · LAB 3 · OHUB-303</a:t>
            </a:r>
            <a:endParaRPr lang="en-US" sz="1300" dirty="0"/>
          </a:p>
        </p:txBody>
      </p:sp>
      <p:sp>
        <p:nvSpPr>
          <p:cNvPr id="4" name="Text 2"/>
          <p:cNvSpPr/>
          <p:nvPr/>
        </p:nvSpPr>
        <p:spPr>
          <a:xfrm>
            <a:off x="812800" y="112013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E1D"/>
                </a:solidFill>
                <a:latin typeface="Source Serif 4" pitchFamily="34" charset="0"/>
                <a:ea typeface="Source Serif 4" pitchFamily="34" charset="-122"/>
                <a:cs typeface="Source Serif 4" pitchFamily="34" charset="-120"/>
              </a:rPr>
              <a:t>Create a read-only security-reviewer subagent</a:t>
            </a:r>
            <a:endParaRPr lang="en-US" sz="3200" dirty="0"/>
          </a:p>
        </p:txBody>
      </p:sp>
      <p:sp>
        <p:nvSpPr>
          <p:cNvPr id="5" name="Shape 3"/>
          <p:cNvSpPr/>
          <p:nvPr/>
        </p:nvSpPr>
        <p:spPr>
          <a:xfrm>
            <a:off x="812800" y="1871960"/>
            <a:ext cx="330200" cy="332730"/>
          </a:xfrm>
          <a:prstGeom prst="roundRect">
            <a:avLst>
              <a:gd name="adj" fmla="val 50000"/>
            </a:avLst>
          </a:prstGeom>
          <a:solidFill>
            <a:srgbClr val="D97757"/>
          </a:solidFill>
          <a:ln/>
        </p:spPr>
      </p:sp>
      <p:sp>
        <p:nvSpPr>
          <p:cNvPr id="6" name="Text 4"/>
          <p:cNvSpPr/>
          <p:nvPr/>
        </p:nvSpPr>
        <p:spPr>
          <a:xfrm>
            <a:off x="787400" y="1922760"/>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1</a:t>
            </a:r>
            <a:endParaRPr lang="en-US" sz="1300" dirty="0"/>
          </a:p>
        </p:txBody>
      </p:sp>
      <p:sp>
        <p:nvSpPr>
          <p:cNvPr id="7" name="Text 5"/>
          <p:cNvSpPr/>
          <p:nvPr/>
        </p:nvSpPr>
        <p:spPr>
          <a:xfrm>
            <a:off x="1295400" y="1918295"/>
            <a:ext cx="3880714"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Open /agents → Create new agent → Project</a:t>
            </a:r>
            <a:endParaRPr lang="en-US" sz="1400" dirty="0"/>
          </a:p>
        </p:txBody>
      </p:sp>
      <p:sp>
        <p:nvSpPr>
          <p:cNvPr id="8" name="Shape 6"/>
          <p:cNvSpPr/>
          <p:nvPr/>
        </p:nvSpPr>
        <p:spPr>
          <a:xfrm>
            <a:off x="812800" y="2318990"/>
            <a:ext cx="330200" cy="332730"/>
          </a:xfrm>
          <a:prstGeom prst="roundRect">
            <a:avLst>
              <a:gd name="adj" fmla="val 50000"/>
            </a:avLst>
          </a:prstGeom>
          <a:solidFill>
            <a:srgbClr val="D97757"/>
          </a:solidFill>
          <a:ln/>
        </p:spPr>
      </p:sp>
      <p:sp>
        <p:nvSpPr>
          <p:cNvPr id="9" name="Text 7"/>
          <p:cNvSpPr/>
          <p:nvPr/>
        </p:nvSpPr>
        <p:spPr>
          <a:xfrm>
            <a:off x="787400" y="2369790"/>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2</a:t>
            </a:r>
            <a:endParaRPr lang="en-US" sz="1300" dirty="0"/>
          </a:p>
        </p:txBody>
      </p:sp>
      <p:sp>
        <p:nvSpPr>
          <p:cNvPr id="10" name="Text 8"/>
          <p:cNvSpPr/>
          <p:nvPr/>
        </p:nvSpPr>
        <p:spPr>
          <a:xfrm>
            <a:off x="1295400" y="2365325"/>
            <a:ext cx="385307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Set tools: Read, Grep, Glob and the checklist</a:t>
            </a:r>
            <a:endParaRPr lang="en-US" sz="1400" dirty="0"/>
          </a:p>
        </p:txBody>
      </p:sp>
      <p:sp>
        <p:nvSpPr>
          <p:cNvPr id="11" name="Shape 9"/>
          <p:cNvSpPr/>
          <p:nvPr/>
        </p:nvSpPr>
        <p:spPr>
          <a:xfrm>
            <a:off x="812800" y="2766020"/>
            <a:ext cx="330200" cy="332730"/>
          </a:xfrm>
          <a:prstGeom prst="roundRect">
            <a:avLst>
              <a:gd name="adj" fmla="val 50000"/>
            </a:avLst>
          </a:prstGeom>
          <a:solidFill>
            <a:srgbClr val="D97757"/>
          </a:solidFill>
          <a:ln/>
        </p:spPr>
      </p:sp>
      <p:sp>
        <p:nvSpPr>
          <p:cNvPr id="12" name="Text 10"/>
          <p:cNvSpPr/>
          <p:nvPr/>
        </p:nvSpPr>
        <p:spPr>
          <a:xfrm>
            <a:off x="787400" y="2816820"/>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3</a:t>
            </a:r>
            <a:endParaRPr lang="en-US" sz="1300" dirty="0"/>
          </a:p>
        </p:txBody>
      </p:sp>
      <p:sp>
        <p:nvSpPr>
          <p:cNvPr id="13" name="Text 11"/>
          <p:cNvSpPr/>
          <p:nvPr/>
        </p:nvSpPr>
        <p:spPr>
          <a:xfrm>
            <a:off x="1295400" y="2812355"/>
            <a:ext cx="4205593"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Review src/ → 3 seeded defects, BLOCK MERGE</a:t>
            </a:r>
            <a:endParaRPr lang="en-US" sz="1400" dirty="0"/>
          </a:p>
        </p:txBody>
      </p:sp>
      <p:sp>
        <p:nvSpPr>
          <p:cNvPr id="14" name="Shape 12"/>
          <p:cNvSpPr/>
          <p:nvPr/>
        </p:nvSpPr>
        <p:spPr>
          <a:xfrm>
            <a:off x="812800" y="3213050"/>
            <a:ext cx="330200" cy="332730"/>
          </a:xfrm>
          <a:prstGeom prst="roundRect">
            <a:avLst>
              <a:gd name="adj" fmla="val 50000"/>
            </a:avLst>
          </a:prstGeom>
          <a:solidFill>
            <a:srgbClr val="D97757"/>
          </a:solidFill>
          <a:ln/>
        </p:spPr>
      </p:sp>
      <p:sp>
        <p:nvSpPr>
          <p:cNvPr id="15" name="Text 13"/>
          <p:cNvSpPr/>
          <p:nvPr/>
        </p:nvSpPr>
        <p:spPr>
          <a:xfrm>
            <a:off x="787400" y="3263850"/>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4</a:t>
            </a:r>
            <a:endParaRPr lang="en-US" sz="1300" dirty="0"/>
          </a:p>
        </p:txBody>
      </p:sp>
      <p:sp>
        <p:nvSpPr>
          <p:cNvPr id="16" name="Text 14"/>
          <p:cNvSpPr/>
          <p:nvPr/>
        </p:nvSpPr>
        <p:spPr>
          <a:xfrm>
            <a:off x="1295400" y="3259386"/>
            <a:ext cx="293321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Ask it to fix → it has no write tools</a:t>
            </a:r>
            <a:endParaRPr lang="en-US" sz="1400" dirty="0"/>
          </a:p>
        </p:txBody>
      </p:sp>
      <p:sp>
        <p:nvSpPr>
          <p:cNvPr id="17" name="Shape 15"/>
          <p:cNvSpPr/>
          <p:nvPr/>
        </p:nvSpPr>
        <p:spPr>
          <a:xfrm>
            <a:off x="812800" y="3660080"/>
            <a:ext cx="330200" cy="332730"/>
          </a:xfrm>
          <a:prstGeom prst="roundRect">
            <a:avLst>
              <a:gd name="adj" fmla="val 50000"/>
            </a:avLst>
          </a:prstGeom>
          <a:solidFill>
            <a:srgbClr val="D97757"/>
          </a:solidFill>
          <a:ln/>
        </p:spPr>
      </p:sp>
      <p:sp>
        <p:nvSpPr>
          <p:cNvPr id="18" name="Text 16"/>
          <p:cNvSpPr/>
          <p:nvPr/>
        </p:nvSpPr>
        <p:spPr>
          <a:xfrm>
            <a:off x="787400" y="3710880"/>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5</a:t>
            </a:r>
            <a:endParaRPr lang="en-US" sz="1300" dirty="0"/>
          </a:p>
        </p:txBody>
      </p:sp>
      <p:sp>
        <p:nvSpPr>
          <p:cNvPr id="19" name="Text 17"/>
          <p:cNvSpPr/>
          <p:nvPr/>
        </p:nvSpPr>
        <p:spPr>
          <a:xfrm>
            <a:off x="1295400" y="3706416"/>
            <a:ext cx="3158346"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Fix in the main session; run npm test</a:t>
            </a:r>
            <a:endParaRPr lang="en-US" sz="1400" dirty="0"/>
          </a:p>
        </p:txBody>
      </p:sp>
      <p:sp>
        <p:nvSpPr>
          <p:cNvPr id="20" name="Shape 18"/>
          <p:cNvSpPr/>
          <p:nvPr/>
        </p:nvSpPr>
        <p:spPr>
          <a:xfrm>
            <a:off x="812800" y="4107111"/>
            <a:ext cx="330200" cy="332730"/>
          </a:xfrm>
          <a:prstGeom prst="roundRect">
            <a:avLst>
              <a:gd name="adj" fmla="val 50000"/>
            </a:avLst>
          </a:prstGeom>
          <a:solidFill>
            <a:srgbClr val="D97757"/>
          </a:solidFill>
          <a:ln/>
        </p:spPr>
      </p:sp>
      <p:sp>
        <p:nvSpPr>
          <p:cNvPr id="21" name="Text 19"/>
          <p:cNvSpPr/>
          <p:nvPr/>
        </p:nvSpPr>
        <p:spPr>
          <a:xfrm>
            <a:off x="787400" y="4157911"/>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6</a:t>
            </a:r>
            <a:endParaRPr lang="en-US" sz="1300" dirty="0"/>
          </a:p>
        </p:txBody>
      </p:sp>
      <p:sp>
        <p:nvSpPr>
          <p:cNvPr id="22" name="Text 20"/>
          <p:cNvSpPr/>
          <p:nvPr/>
        </p:nvSpPr>
        <p:spPr>
          <a:xfrm>
            <a:off x="1295400" y="4153446"/>
            <a:ext cx="3983471"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Ask “safe to merge?” → auto-delegates, PASS</a:t>
            </a:r>
            <a:endParaRPr lang="en-US" sz="1400" dirty="0"/>
          </a:p>
        </p:txBody>
      </p:sp>
      <p:sp>
        <p:nvSpPr>
          <p:cNvPr id="23" name="Shape 21"/>
          <p:cNvSpPr/>
          <p:nvPr/>
        </p:nvSpPr>
        <p:spPr>
          <a:xfrm>
            <a:off x="7442200" y="1871960"/>
            <a:ext cx="3937000" cy="2491631"/>
          </a:xfrm>
          <a:prstGeom prst="roundRect">
            <a:avLst>
              <a:gd name="adj" fmla="val 4078"/>
            </a:avLst>
          </a:prstGeom>
          <a:solidFill>
            <a:srgbClr val="F0EEE6"/>
          </a:solidFill>
          <a:ln/>
        </p:spPr>
      </p:sp>
      <p:sp>
        <p:nvSpPr>
          <p:cNvPr id="24" name="Text 22"/>
          <p:cNvSpPr/>
          <p:nvPr/>
        </p:nvSpPr>
        <p:spPr>
          <a:xfrm>
            <a:off x="7696200" y="2125960"/>
            <a:ext cx="353187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1E1D"/>
                </a:solidFill>
                <a:latin typeface="Source Serif 4" pitchFamily="34" charset="0"/>
                <a:ea typeface="Source Serif 4" pitchFamily="34" charset="-122"/>
                <a:cs typeface="Source Serif 4" pitchFamily="34" charset="-120"/>
              </a:rPr>
              <a:t>Acceptance criteria</a:t>
            </a:r>
            <a:endParaRPr lang="en-US" sz="1800" dirty="0"/>
          </a:p>
        </p:txBody>
      </p:sp>
      <p:sp>
        <p:nvSpPr>
          <p:cNvPr id="25" name="Text 23"/>
          <p:cNvSpPr/>
          <p:nvPr/>
        </p:nvSpPr>
        <p:spPr>
          <a:xfrm>
            <a:off x="7696200" y="2514550"/>
            <a:ext cx="353187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2F"/>
                </a:solidFill>
                <a:latin typeface="Inter" pitchFamily="34" charset="0"/>
                <a:ea typeface="Inter" pitchFamily="34" charset="-122"/>
                <a:cs typeface="Inter" pitchFamily="34" charset="-120"/>
              </a:rPr>
              <a:t>✓</a:t>
            </a:r>
            <a:r>
              <a:rPr lang="en-US" sz="1300" dirty="0">
                <a:solidFill>
                  <a:srgbClr val="1F1E1D"/>
                </a:solidFill>
                <a:latin typeface="Inter" pitchFamily="34" charset="0"/>
                <a:ea typeface="Inter" pitchFamily="34" charset="-122"/>
                <a:cs typeface="Inter" pitchFamily="34" charset="-120"/>
              </a:rPr>
              <a:t> Listed in /agents with 3 tools</a:t>
            </a:r>
            <a:endParaRPr lang="en-US" sz="1300" dirty="0"/>
          </a:p>
        </p:txBody>
      </p:sp>
      <p:sp>
        <p:nvSpPr>
          <p:cNvPr id="26" name="Text 24"/>
          <p:cNvSpPr/>
          <p:nvPr/>
        </p:nvSpPr>
        <p:spPr>
          <a:xfrm>
            <a:off x="7696200" y="2859980"/>
            <a:ext cx="353187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2F"/>
                </a:solidFill>
                <a:latin typeface="Inter" pitchFamily="34" charset="0"/>
                <a:ea typeface="Inter" pitchFamily="34" charset="-122"/>
                <a:cs typeface="Inter" pitchFamily="34" charset="-120"/>
              </a:rPr>
              <a:t>✓</a:t>
            </a:r>
            <a:r>
              <a:rPr lang="en-US" sz="1300" dirty="0">
                <a:solidFill>
                  <a:srgbClr val="1F1E1D"/>
                </a:solidFill>
                <a:latin typeface="Inter" pitchFamily="34" charset="0"/>
                <a:ea typeface="Inter" pitchFamily="34" charset="-122"/>
                <a:cs typeface="Inter" pitchFamily="34" charset="-120"/>
              </a:rPr>
              <a:t> All three defects cited by file:line</a:t>
            </a:r>
            <a:endParaRPr lang="en-US" sz="1300" dirty="0"/>
          </a:p>
        </p:txBody>
      </p:sp>
      <p:sp>
        <p:nvSpPr>
          <p:cNvPr id="27" name="Text 25"/>
          <p:cNvSpPr/>
          <p:nvPr/>
        </p:nvSpPr>
        <p:spPr>
          <a:xfrm>
            <a:off x="7696200" y="3205411"/>
            <a:ext cx="353187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2F"/>
                </a:solidFill>
                <a:latin typeface="Inter" pitchFamily="34" charset="0"/>
                <a:ea typeface="Inter" pitchFamily="34" charset="-122"/>
                <a:cs typeface="Inter" pitchFamily="34" charset="-120"/>
              </a:rPr>
              <a:t>✓</a:t>
            </a:r>
            <a:r>
              <a:rPr lang="en-US" sz="1300" dirty="0">
                <a:solidFill>
                  <a:srgbClr val="1F1E1D"/>
                </a:solidFill>
                <a:latin typeface="Inter" pitchFamily="34" charset="0"/>
                <a:ea typeface="Inter" pitchFamily="34" charset="-122"/>
                <a:cs typeface="Inter" pitchFamily="34" charset="-120"/>
              </a:rPr>
              <a:t> No edits made by the subagent</a:t>
            </a:r>
            <a:endParaRPr lang="en-US" sz="1300" dirty="0"/>
          </a:p>
        </p:txBody>
      </p:sp>
      <p:sp>
        <p:nvSpPr>
          <p:cNvPr id="28" name="Text 26"/>
          <p:cNvSpPr/>
          <p:nvPr/>
        </p:nvSpPr>
        <p:spPr>
          <a:xfrm>
            <a:off x="7696200" y="3550841"/>
            <a:ext cx="353187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2F"/>
                </a:solidFill>
                <a:latin typeface="Inter" pitchFamily="34" charset="0"/>
                <a:ea typeface="Inter" pitchFamily="34" charset="-122"/>
                <a:cs typeface="Inter" pitchFamily="34" charset="-120"/>
              </a:rPr>
              <a:t>✓</a:t>
            </a:r>
            <a:r>
              <a:rPr lang="en-US" sz="1300" dirty="0">
                <a:solidFill>
                  <a:srgbClr val="1F1E1D"/>
                </a:solidFill>
                <a:latin typeface="Inter" pitchFamily="34" charset="0"/>
                <a:ea typeface="Inter" pitchFamily="34" charset="-122"/>
                <a:cs typeface="Inter" pitchFamily="34" charset="-120"/>
              </a:rPr>
              <a:t> Re-review returns PASS</a:t>
            </a:r>
            <a:endParaRPr lang="en-US" sz="1300" dirty="0"/>
          </a:p>
        </p:txBody>
      </p:sp>
      <p:sp>
        <p:nvSpPr>
          <p:cNvPr id="29" name="Text 27"/>
          <p:cNvSpPr/>
          <p:nvPr/>
        </p:nvSpPr>
        <p:spPr>
          <a:xfrm>
            <a:off x="7696200" y="3896271"/>
            <a:ext cx="35318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Full steps: Lab Guide, Lab 3</a:t>
            </a:r>
            <a:endParaRPr lang="en-US" sz="1200" dirty="0"/>
          </a:p>
        </p:txBody>
      </p:sp>
      <p:sp>
        <p:nvSpPr>
          <p:cNvPr id="30" name="Text 28"/>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Module 7 · Extending Claude Code</a:t>
            </a:r>
            <a:endParaRPr lang="en-US" sz="1200" dirty="0"/>
          </a:p>
        </p:txBody>
      </p:sp>
      <p:sp>
        <p:nvSpPr>
          <p:cNvPr id="31" name="Text 29"/>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5D59"/>
                </a:solidFill>
                <a:latin typeface="Inter" pitchFamily="34" charset="0"/>
                <a:ea typeface="Inter" pitchFamily="34" charset="-122"/>
                <a:cs typeface="Inter" pitchFamily="34" charset="-120"/>
              </a:rPr>
              <a:t>03 Subagents · Live demo</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F1E1D"/>
        </a:solidFill>
        <a:effectLst/>
      </p:bgPr>
    </p:bg>
    <p:spTree>
      <p:nvGrpSpPr>
        <p:cNvPr id="1" name=""/>
        <p:cNvGrpSpPr/>
        <p:nvPr/>
      </p:nvGrpSpPr>
      <p:grpSpPr>
        <a:xfrm>
          <a:off x="0" y="0"/>
          <a:ext cx="0" cy="0"/>
          <a:chOff x="0" y="0"/>
          <a:chExt cx="0" cy="0"/>
        </a:xfrm>
      </p:grpSpPr>
      <p:pic>
        <p:nvPicPr>
          <p:cNvPr id="2" name="Image 0" descr="Decorative starburst"/>
          <p:cNvPicPr>
            <a:picLocks noChangeAspect="1"/>
          </p:cNvPicPr>
          <p:nvPr/>
        </p:nvPicPr>
        <p:blipFill>
          <a:blip r:embed="rId3"/>
          <a:srcRect/>
          <a:stretch/>
        </p:blipFill>
        <p:spPr>
          <a:xfrm>
            <a:off x="8458200" y="1587500"/>
            <a:ext cx="2921000" cy="2921000"/>
          </a:xfrm>
          <a:prstGeom prst="rect">
            <a:avLst/>
          </a:prstGeom>
        </p:spPr>
      </p:pic>
      <p:sp>
        <p:nvSpPr>
          <p:cNvPr id="3" name="Text 0"/>
          <p:cNvSpPr/>
          <p:nvPr/>
        </p:nvSpPr>
        <p:spPr>
          <a:xfrm>
            <a:off x="812800" y="170185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300" dirty="0">
                <a:solidFill>
                  <a:srgbClr val="D97757"/>
                </a:solidFill>
                <a:latin typeface="Inter" pitchFamily="34" charset="0"/>
                <a:ea typeface="Inter" pitchFamily="34" charset="-122"/>
                <a:cs typeface="Inter" pitchFamily="34" charset="-120"/>
              </a:rPr>
              <a:t>MODULE 7 · TOPIC 04</a:t>
            </a:r>
            <a:endParaRPr lang="en-US" sz="1400" dirty="0"/>
          </a:p>
        </p:txBody>
      </p:sp>
      <p:sp>
        <p:nvSpPr>
          <p:cNvPr id="4" name="Text 1"/>
          <p:cNvSpPr/>
          <p:nvPr/>
        </p:nvSpPr>
        <p:spPr>
          <a:xfrm>
            <a:off x="812800" y="2179340"/>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F4F1EA"/>
                </a:solidFill>
                <a:latin typeface="Source Serif 4" pitchFamily="34" charset="0"/>
                <a:ea typeface="Source Serif 4" pitchFamily="34" charset="-122"/>
                <a:cs typeface="Source Serif 4" pitchFamily="34" charset="-120"/>
              </a:rPr>
              <a:t>MCP</a:t>
            </a:r>
            <a:endParaRPr lang="en-US" sz="8000" dirty="0"/>
          </a:p>
        </p:txBody>
      </p:sp>
      <p:sp>
        <p:nvSpPr>
          <p:cNvPr id="5" name="Text 2"/>
          <p:cNvSpPr/>
          <p:nvPr/>
        </p:nvSpPr>
        <p:spPr>
          <a:xfrm>
            <a:off x="812800" y="3423940"/>
            <a:ext cx="7063740" cy="98549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DB7AB"/>
                </a:solidFill>
                <a:latin typeface="Inter" pitchFamily="34" charset="0"/>
                <a:ea typeface="Inter" pitchFamily="34" charset="-122"/>
                <a:cs typeface="Inter" pitchFamily="34" charset="-120"/>
              </a:rPr>
              <a:t>The Model Context Protocol: an open standard that connects Claude Code to external tools and data such as tickets, repositories and databases.</a:t>
            </a:r>
            <a:endParaRPr lang="en-US" sz="1800" dirty="0"/>
          </a:p>
        </p:txBody>
      </p:sp>
      <p:sp>
        <p:nvSpPr>
          <p:cNvPr id="6" name="Shape 3"/>
          <p:cNvSpPr/>
          <p:nvPr/>
        </p:nvSpPr>
        <p:spPr>
          <a:xfrm>
            <a:off x="812800" y="4612630"/>
            <a:ext cx="2667000" cy="340320"/>
          </a:xfrm>
          <a:prstGeom prst="roundRect">
            <a:avLst>
              <a:gd name="adj" fmla="val 50000"/>
            </a:avLst>
          </a:prstGeom>
          <a:solidFill>
            <a:srgbClr val="D97757"/>
          </a:solidFill>
          <a:ln/>
        </p:spPr>
      </p:sp>
      <p:sp>
        <p:nvSpPr>
          <p:cNvPr id="7" name="Text 4"/>
          <p:cNvSpPr/>
          <p:nvPr/>
        </p:nvSpPr>
        <p:spPr>
          <a:xfrm>
            <a:off x="916686" y="4676130"/>
            <a:ext cx="2459228"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1E1D"/>
                </a:solidFill>
                <a:latin typeface="Inter" pitchFamily="34" charset="0"/>
                <a:ea typeface="Inter" pitchFamily="34" charset="-122"/>
                <a:cs typeface="Inter" pitchFamily="34" charset="-120"/>
              </a:rPr>
              <a:t>Live lab 4 · OHUB-304</a:t>
            </a:r>
            <a:endParaRPr lang="en-US" sz="1200" dirty="0"/>
          </a:p>
        </p:txBody>
      </p:sp>
      <p:sp>
        <p:nvSpPr>
          <p:cNvPr id="8" name="Text 5"/>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DB7AB"/>
                </a:solidFill>
                <a:latin typeface="Inter" pitchFamily="34" charset="0"/>
                <a:ea typeface="Inter" pitchFamily="34" charset="-122"/>
                <a:cs typeface="Inter" pitchFamily="34" charset="-120"/>
              </a:rPr>
              <a:t>Module 7 · Extending Claude Code</a:t>
            </a:r>
            <a:endParaRPr lang="en-US" sz="1200" dirty="0"/>
          </a:p>
        </p:txBody>
      </p:sp>
      <p:sp>
        <p:nvSpPr>
          <p:cNvPr id="9" name="Text 6"/>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DB7AB"/>
                </a:solidFill>
                <a:latin typeface="Inter" pitchFamily="34" charset="0"/>
                <a:ea typeface="Inter" pitchFamily="34" charset="-122"/>
                <a:cs typeface="Inter" pitchFamily="34" charset="-120"/>
              </a:rPr>
              <a:t>04 MCP</a:t>
            </a:r>
            <a:endParaRPr lang="en-US" sz="1200" dirty="0"/>
          </a:p>
        </p:txBody>
      </p:sp>
      <p:pic>
        <p:nvPicPr>
          <p:cNvPr id="10" name="Picture 9">
            <a:extLst>
              <a:ext uri="{FF2B5EF4-FFF2-40B4-BE49-F238E27FC236}">
                <a16:creationId xmlns:a16="http://schemas.microsoft.com/office/drawing/2014/main" id="{7F930F2B-0697-5CFD-2FB9-B35C523F28DC}"/>
              </a:ext>
            </a:extLst>
          </p:cNvPr>
          <p:cNvPicPr>
            <a:picLocks noChangeAspect="1"/>
          </p:cNvPicPr>
          <p:nvPr/>
        </p:nvPicPr>
        <p:blipFill>
          <a:blip r:embed="rId4"/>
          <a:stretch>
            <a:fillRect/>
          </a:stretch>
        </p:blipFill>
        <p:spPr>
          <a:xfrm>
            <a:off x="8319198" y="304864"/>
            <a:ext cx="3497759" cy="75476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E1D"/>
                </a:solidFill>
                <a:latin typeface="Source Serif 4" pitchFamily="34" charset="0"/>
                <a:ea typeface="Source Serif 4" pitchFamily="34" charset="-122"/>
                <a:cs typeface="Source Serif 4" pitchFamily="34" charset="-120"/>
              </a:rPr>
              <a:t>MCP: connect Claude Code to your systems</a:t>
            </a:r>
            <a:endParaRPr lang="en-US" sz="3200" dirty="0"/>
          </a:p>
        </p:txBody>
      </p:sp>
      <p:sp>
        <p:nvSpPr>
          <p:cNvPr id="3" name="Shape 1"/>
          <p:cNvSpPr/>
          <p:nvPr/>
        </p:nvSpPr>
        <p:spPr>
          <a:xfrm>
            <a:off x="812800" y="1653530"/>
            <a:ext cx="88900" cy="88900"/>
          </a:xfrm>
          <a:prstGeom prst="roundRect">
            <a:avLst>
              <a:gd name="adj" fmla="val 21429"/>
            </a:avLst>
          </a:prstGeom>
          <a:solidFill>
            <a:srgbClr val="D97757"/>
          </a:solidFill>
          <a:ln/>
        </p:spPr>
      </p:sp>
      <p:sp>
        <p:nvSpPr>
          <p:cNvPr id="4" name="Text 2"/>
          <p:cNvSpPr/>
          <p:nvPr/>
        </p:nvSpPr>
        <p:spPr>
          <a:xfrm>
            <a:off x="1028700" y="1564630"/>
            <a:ext cx="461759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1E1D"/>
                </a:solidFill>
                <a:latin typeface="Inter" pitchFamily="34" charset="0"/>
                <a:ea typeface="Inter" pitchFamily="34" charset="-122"/>
                <a:cs typeface="Inter" pitchFamily="34" charset="-120"/>
              </a:rPr>
              <a:t>An MCP server exposes tools; Claude calls them as </a:t>
            </a:r>
            <a:r>
              <a:rPr lang="en-US" sz="1400" b="1" dirty="0">
                <a:solidFill>
                  <a:srgbClr val="1F1E1D"/>
                </a:solidFill>
                <a:latin typeface="Inter" pitchFamily="34" charset="0"/>
                <a:ea typeface="Inter" pitchFamily="34" charset="-122"/>
                <a:cs typeface="Inter" pitchFamily="34" charset="-120"/>
              </a:rPr>
              <a:t>mcp__server__tool</a:t>
            </a:r>
            <a:r>
              <a:rPr lang="en-US" sz="1400" dirty="0">
                <a:solidFill>
                  <a:srgbClr val="1F1E1D"/>
                </a:solidFill>
                <a:latin typeface="Inter" pitchFamily="34" charset="0"/>
                <a:ea typeface="Inter" pitchFamily="34" charset="-122"/>
                <a:cs typeface="Inter" pitchFamily="34" charset="-120"/>
              </a:rPr>
              <a:t>.</a:t>
            </a:r>
            <a:endParaRPr lang="en-US" sz="1400" dirty="0"/>
          </a:p>
        </p:txBody>
      </p:sp>
      <p:sp>
        <p:nvSpPr>
          <p:cNvPr id="5" name="Shape 3"/>
          <p:cNvSpPr/>
          <p:nvPr/>
        </p:nvSpPr>
        <p:spPr>
          <a:xfrm>
            <a:off x="812800" y="2329111"/>
            <a:ext cx="88900" cy="88900"/>
          </a:xfrm>
          <a:prstGeom prst="roundRect">
            <a:avLst>
              <a:gd name="adj" fmla="val 21429"/>
            </a:avLst>
          </a:prstGeom>
          <a:solidFill>
            <a:srgbClr val="D97757"/>
          </a:solidFill>
          <a:ln/>
        </p:spPr>
      </p:sp>
      <p:sp>
        <p:nvSpPr>
          <p:cNvPr id="6" name="Text 4"/>
          <p:cNvSpPr/>
          <p:nvPr/>
        </p:nvSpPr>
        <p:spPr>
          <a:xfrm>
            <a:off x="1028700" y="2240211"/>
            <a:ext cx="461759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1E1D"/>
                </a:solidFill>
                <a:latin typeface="Inter" pitchFamily="34" charset="0"/>
                <a:ea typeface="Inter" pitchFamily="34" charset="-122"/>
                <a:cs typeface="Inter" pitchFamily="34" charset="-120"/>
              </a:rPr>
              <a:t>Transports: </a:t>
            </a:r>
            <a:r>
              <a:rPr lang="en-US" sz="1400" b="1" dirty="0">
                <a:solidFill>
                  <a:srgbClr val="1F1E1D"/>
                </a:solidFill>
                <a:latin typeface="Inter" pitchFamily="34" charset="0"/>
                <a:ea typeface="Inter" pitchFamily="34" charset="-122"/>
                <a:cs typeface="Inter" pitchFamily="34" charset="-120"/>
              </a:rPr>
              <a:t>stdio</a:t>
            </a:r>
            <a:r>
              <a:rPr lang="en-US" sz="1400" dirty="0">
                <a:solidFill>
                  <a:srgbClr val="1F1E1D"/>
                </a:solidFill>
                <a:latin typeface="Inter" pitchFamily="34" charset="0"/>
                <a:ea typeface="Inter" pitchFamily="34" charset="-122"/>
                <a:cs typeface="Inter" pitchFamily="34" charset="-120"/>
              </a:rPr>
              <a:t> for local processes, </a:t>
            </a:r>
            <a:r>
              <a:rPr lang="en-US" sz="1400" b="1" dirty="0">
                <a:solidFill>
                  <a:srgbClr val="1F1E1D"/>
                </a:solidFill>
                <a:latin typeface="Inter" pitchFamily="34" charset="0"/>
                <a:ea typeface="Inter" pitchFamily="34" charset="-122"/>
                <a:cs typeface="Inter" pitchFamily="34" charset="-120"/>
              </a:rPr>
              <a:t>HTTP</a:t>
            </a:r>
            <a:r>
              <a:rPr lang="en-US" sz="1400" dirty="0">
                <a:solidFill>
                  <a:srgbClr val="1F1E1D"/>
                </a:solidFill>
                <a:latin typeface="Inter" pitchFamily="34" charset="0"/>
                <a:ea typeface="Inter" pitchFamily="34" charset="-122"/>
                <a:cs typeface="Inter" pitchFamily="34" charset="-120"/>
              </a:rPr>
              <a:t> for remote services.</a:t>
            </a:r>
            <a:endParaRPr lang="en-US" sz="1400" dirty="0"/>
          </a:p>
        </p:txBody>
      </p:sp>
      <p:sp>
        <p:nvSpPr>
          <p:cNvPr id="7" name="Shape 5"/>
          <p:cNvSpPr/>
          <p:nvPr/>
        </p:nvSpPr>
        <p:spPr>
          <a:xfrm>
            <a:off x="812800" y="3004691"/>
            <a:ext cx="88900" cy="88900"/>
          </a:xfrm>
          <a:prstGeom prst="roundRect">
            <a:avLst>
              <a:gd name="adj" fmla="val 21429"/>
            </a:avLst>
          </a:prstGeom>
          <a:solidFill>
            <a:srgbClr val="D97757"/>
          </a:solidFill>
          <a:ln/>
        </p:spPr>
      </p:sp>
      <p:sp>
        <p:nvSpPr>
          <p:cNvPr id="8" name="Text 6"/>
          <p:cNvSpPr/>
          <p:nvPr/>
        </p:nvSpPr>
        <p:spPr>
          <a:xfrm>
            <a:off x="1028700" y="2915791"/>
            <a:ext cx="461759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1E1D"/>
                </a:solidFill>
                <a:latin typeface="Inter" pitchFamily="34" charset="0"/>
                <a:ea typeface="Inter" pitchFamily="34" charset="-122"/>
                <a:cs typeface="Inter" pitchFamily="34" charset="-120"/>
              </a:rPr>
              <a:t>Scopes: local (you, this repo), project (</a:t>
            </a:r>
            <a:r>
              <a:rPr lang="en-US" sz="1400" b="1" dirty="0">
                <a:solidFill>
                  <a:srgbClr val="1F1E1D"/>
                </a:solidFill>
                <a:latin typeface="Inter" pitchFamily="34" charset="0"/>
                <a:ea typeface="Inter" pitchFamily="34" charset="-122"/>
                <a:cs typeface="Inter" pitchFamily="34" charset="-120"/>
              </a:rPr>
              <a:t>.mcp.json</a:t>
            </a:r>
            <a:r>
              <a:rPr lang="en-US" sz="1400" dirty="0">
                <a:solidFill>
                  <a:srgbClr val="1F1E1D"/>
                </a:solidFill>
                <a:latin typeface="Inter" pitchFamily="34" charset="0"/>
                <a:ea typeface="Inter" pitchFamily="34" charset="-122"/>
                <a:cs typeface="Inter" pitchFamily="34" charset="-120"/>
              </a:rPr>
              <a:t>, committed), user (all repos).</a:t>
            </a:r>
            <a:endParaRPr lang="en-US" sz="1400" dirty="0"/>
          </a:p>
        </p:txBody>
      </p:sp>
      <p:sp>
        <p:nvSpPr>
          <p:cNvPr id="9" name="Shape 7"/>
          <p:cNvSpPr/>
          <p:nvPr/>
        </p:nvSpPr>
        <p:spPr>
          <a:xfrm>
            <a:off x="812800" y="3680271"/>
            <a:ext cx="88900" cy="88900"/>
          </a:xfrm>
          <a:prstGeom prst="roundRect">
            <a:avLst>
              <a:gd name="adj" fmla="val 21429"/>
            </a:avLst>
          </a:prstGeom>
          <a:solidFill>
            <a:srgbClr val="D97757"/>
          </a:solidFill>
          <a:ln/>
        </p:spPr>
      </p:sp>
      <p:sp>
        <p:nvSpPr>
          <p:cNvPr id="10" name="Text 8"/>
          <p:cNvSpPr/>
          <p:nvPr/>
        </p:nvSpPr>
        <p:spPr>
          <a:xfrm>
            <a:off x="1028700" y="3591371"/>
            <a:ext cx="461759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1E1D"/>
                </a:solidFill>
                <a:latin typeface="Inter" pitchFamily="34" charset="0"/>
                <a:ea typeface="Inter" pitchFamily="34" charset="-122"/>
                <a:cs typeface="Inter" pitchFamily="34" charset="-120"/>
              </a:rPr>
              <a:t>Add with </a:t>
            </a:r>
            <a:r>
              <a:rPr lang="en-US" sz="1400" b="1" dirty="0">
                <a:solidFill>
                  <a:srgbClr val="1F1E1D"/>
                </a:solidFill>
                <a:latin typeface="Inter" pitchFamily="34" charset="0"/>
                <a:ea typeface="Inter" pitchFamily="34" charset="-122"/>
                <a:cs typeface="Inter" pitchFamily="34" charset="-120"/>
              </a:rPr>
              <a:t>claude mcp add</a:t>
            </a:r>
            <a:r>
              <a:rPr lang="en-US" sz="1400" dirty="0">
                <a:solidFill>
                  <a:srgbClr val="1F1E1D"/>
                </a:solidFill>
                <a:latin typeface="Inter" pitchFamily="34" charset="0"/>
                <a:ea typeface="Inter" pitchFamily="34" charset="-122"/>
                <a:cs typeface="Inter" pitchFamily="34" charset="-120"/>
              </a:rPr>
              <a:t>. Inspect, approve and authenticate with </a:t>
            </a:r>
            <a:r>
              <a:rPr lang="en-US" sz="1400" b="1" dirty="0">
                <a:solidFill>
                  <a:srgbClr val="1F1E1D"/>
                </a:solidFill>
                <a:latin typeface="Inter" pitchFamily="34" charset="0"/>
                <a:ea typeface="Inter" pitchFamily="34" charset="-122"/>
                <a:cs typeface="Inter" pitchFamily="34" charset="-120"/>
              </a:rPr>
              <a:t>/mcp</a:t>
            </a:r>
            <a:r>
              <a:rPr lang="en-US" sz="1400" dirty="0">
                <a:solidFill>
                  <a:srgbClr val="1F1E1D"/>
                </a:solidFill>
                <a:latin typeface="Inter" pitchFamily="34" charset="0"/>
                <a:ea typeface="Inter" pitchFamily="34" charset="-122"/>
                <a:cs typeface="Inter" pitchFamily="34" charset="-120"/>
              </a:rPr>
              <a:t>.</a:t>
            </a:r>
            <a:endParaRPr lang="en-US" sz="1400" dirty="0"/>
          </a:p>
        </p:txBody>
      </p:sp>
      <p:sp>
        <p:nvSpPr>
          <p:cNvPr id="11" name="Shape 9"/>
          <p:cNvSpPr/>
          <p:nvPr/>
        </p:nvSpPr>
        <p:spPr>
          <a:xfrm>
            <a:off x="5918200" y="1564630"/>
            <a:ext cx="5461000" cy="3032522"/>
          </a:xfrm>
          <a:prstGeom prst="roundRect">
            <a:avLst>
              <a:gd name="adj" fmla="val 3350"/>
            </a:avLst>
          </a:prstGeom>
          <a:solidFill>
            <a:srgbClr val="262524"/>
          </a:solidFill>
          <a:ln/>
        </p:spPr>
      </p:sp>
      <p:sp>
        <p:nvSpPr>
          <p:cNvPr id="12" name="Text 10"/>
          <p:cNvSpPr/>
          <p:nvPr/>
        </p:nvSpPr>
        <p:spPr>
          <a:xfrm>
            <a:off x="6172200" y="1818630"/>
            <a:ext cx="510159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97757"/>
                </a:solidFill>
                <a:latin typeface="JetBrains Mono" pitchFamily="34" charset="0"/>
                <a:ea typeface="JetBrains Mono" pitchFamily="34" charset="-122"/>
                <a:cs typeface="JetBrains Mono" pitchFamily="34" charset="-120"/>
              </a:rPr>
              <a:t>Terminal + .mcp.json</a:t>
            </a:r>
            <a:endParaRPr lang="en-US" sz="1200" dirty="0"/>
          </a:p>
        </p:txBody>
      </p:sp>
      <p:sp>
        <p:nvSpPr>
          <p:cNvPr id="13" name="Text 11"/>
          <p:cNvSpPr/>
          <p:nvPr/>
        </p:nvSpPr>
        <p:spPr>
          <a:xfrm>
            <a:off x="6172200" y="2133550"/>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claude mcp add --transport stdio \</a:t>
            </a:r>
            <a:endParaRPr lang="en-US" sz="1200" dirty="0"/>
          </a:p>
        </p:txBody>
      </p:sp>
      <p:sp>
        <p:nvSpPr>
          <p:cNvPr id="14" name="Text 12"/>
          <p:cNvSpPr/>
          <p:nvPr/>
        </p:nvSpPr>
        <p:spPr>
          <a:xfrm>
            <a:off x="6172200" y="235451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--scope project ticket-desk \</a:t>
            </a:r>
            <a:endParaRPr lang="en-US" sz="1200" dirty="0"/>
          </a:p>
        </p:txBody>
      </p:sp>
      <p:sp>
        <p:nvSpPr>
          <p:cNvPr id="15" name="Text 13"/>
          <p:cNvSpPr/>
          <p:nvPr/>
        </p:nvSpPr>
        <p:spPr>
          <a:xfrm>
            <a:off x="6172200" y="257547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 node mcp-servers/ticket-desk/server.mjs</a:t>
            </a:r>
            <a:endParaRPr lang="en-US" sz="1200" dirty="0"/>
          </a:p>
        </p:txBody>
      </p:sp>
      <p:sp>
        <p:nvSpPr>
          <p:cNvPr id="16" name="Text 14"/>
          <p:cNvSpPr/>
          <p:nvPr/>
        </p:nvSpPr>
        <p:spPr>
          <a:xfrm>
            <a:off x="6172200" y="301739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.mcp.json (committed, shared)</a:t>
            </a:r>
            <a:endParaRPr lang="en-US" sz="1200" dirty="0"/>
          </a:p>
        </p:txBody>
      </p:sp>
      <p:sp>
        <p:nvSpPr>
          <p:cNvPr id="17" name="Text 15"/>
          <p:cNvSpPr/>
          <p:nvPr/>
        </p:nvSpPr>
        <p:spPr>
          <a:xfrm>
            <a:off x="6172200" y="323835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"mcpServers": {</a:t>
            </a:r>
            <a:endParaRPr lang="en-US" sz="1200" dirty="0"/>
          </a:p>
        </p:txBody>
      </p:sp>
      <p:sp>
        <p:nvSpPr>
          <p:cNvPr id="18" name="Text 16"/>
          <p:cNvSpPr/>
          <p:nvPr/>
        </p:nvSpPr>
        <p:spPr>
          <a:xfrm>
            <a:off x="6172200" y="345931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"ticket-desk": {</a:t>
            </a:r>
            <a:endParaRPr lang="en-US" sz="1200" dirty="0"/>
          </a:p>
        </p:txBody>
      </p:sp>
      <p:sp>
        <p:nvSpPr>
          <p:cNvPr id="19" name="Text 17"/>
          <p:cNvSpPr/>
          <p:nvPr/>
        </p:nvSpPr>
        <p:spPr>
          <a:xfrm>
            <a:off x="6172200" y="368027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"command": "node",</a:t>
            </a:r>
            <a:endParaRPr lang="en-US" sz="1200" dirty="0"/>
          </a:p>
        </p:txBody>
      </p:sp>
      <p:sp>
        <p:nvSpPr>
          <p:cNvPr id="20" name="Text 18"/>
          <p:cNvSpPr/>
          <p:nvPr/>
        </p:nvSpPr>
        <p:spPr>
          <a:xfrm>
            <a:off x="6172200" y="3901232"/>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"args": ["mcp-servers/ticket-desk/server.mjs"]</a:t>
            </a:r>
            <a:endParaRPr lang="en-US" sz="1200" dirty="0"/>
          </a:p>
        </p:txBody>
      </p:sp>
      <p:sp>
        <p:nvSpPr>
          <p:cNvPr id="21" name="Text 19"/>
          <p:cNvSpPr/>
          <p:nvPr/>
        </p:nvSpPr>
        <p:spPr>
          <a:xfrm>
            <a:off x="6172200" y="4122192"/>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 }</a:t>
            </a:r>
            <a:endParaRPr lang="en-US" sz="1200" dirty="0"/>
          </a:p>
        </p:txBody>
      </p:sp>
      <p:sp>
        <p:nvSpPr>
          <p:cNvPr id="22" name="Text 20"/>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Module 7 · Extending Claude Code</a:t>
            </a:r>
            <a:endParaRPr lang="en-US" sz="1200" dirty="0"/>
          </a:p>
        </p:txBody>
      </p:sp>
      <p:sp>
        <p:nvSpPr>
          <p:cNvPr id="23" name="Text 21"/>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5D59"/>
                </a:solidFill>
                <a:latin typeface="Inter" pitchFamily="34" charset="0"/>
                <a:ea typeface="Inter" pitchFamily="34" charset="-122"/>
                <a:cs typeface="Inter" pitchFamily="34" charset="-120"/>
              </a:rPr>
              <a:t>04 MCP · Concept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E1D"/>
                </a:solidFill>
                <a:latin typeface="Source Serif 4" pitchFamily="34" charset="0"/>
                <a:ea typeface="Source Serif 4" pitchFamily="34" charset="-122"/>
                <a:cs typeface="Source Serif 4" pitchFamily="34" charset="-120"/>
              </a:rPr>
              <a:t>MCP in practice with Claude Code</a:t>
            </a:r>
            <a:endParaRPr lang="en-US" sz="3200" dirty="0"/>
          </a:p>
        </p:txBody>
      </p:sp>
      <p:sp>
        <p:nvSpPr>
          <p:cNvPr id="3" name="Shape 1"/>
          <p:cNvSpPr/>
          <p:nvPr/>
        </p:nvSpPr>
        <p:spPr>
          <a:xfrm>
            <a:off x="815975" y="1567805"/>
            <a:ext cx="3380284" cy="4271020"/>
          </a:xfrm>
          <a:prstGeom prst="roundRect">
            <a:avLst>
              <a:gd name="adj" fmla="val 2912"/>
            </a:avLst>
          </a:prstGeom>
          <a:solidFill>
            <a:srgbClr val="FAF9F5"/>
          </a:solidFill>
          <a:ln w="6350">
            <a:solidFill>
              <a:srgbClr val="DEDBD2"/>
            </a:solidFill>
            <a:prstDash val="solid"/>
          </a:ln>
        </p:spPr>
      </p:sp>
      <p:sp>
        <p:nvSpPr>
          <p:cNvPr id="4" name="Text 2"/>
          <p:cNvSpPr/>
          <p:nvPr/>
        </p:nvSpPr>
        <p:spPr>
          <a:xfrm>
            <a:off x="1073150" y="1824980"/>
            <a:ext cx="295191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2F"/>
                </a:solidFill>
                <a:latin typeface="Inter" pitchFamily="34" charset="0"/>
                <a:ea typeface="Inter" pitchFamily="34" charset="-122"/>
                <a:cs typeface="Inter" pitchFamily="34" charset="-120"/>
              </a:rPr>
              <a:t>EXAMPLE 1</a:t>
            </a:r>
            <a:endParaRPr lang="en-US" sz="1200" dirty="0"/>
          </a:p>
        </p:txBody>
      </p:sp>
      <p:sp>
        <p:nvSpPr>
          <p:cNvPr id="5" name="Text 3"/>
          <p:cNvSpPr/>
          <p:nvPr/>
        </p:nvSpPr>
        <p:spPr>
          <a:xfrm>
            <a:off x="1073150" y="2165300"/>
            <a:ext cx="295191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1E1D"/>
                </a:solidFill>
                <a:latin typeface="Source Serif 4" pitchFamily="34" charset="0"/>
                <a:ea typeface="Source Serif 4" pitchFamily="34" charset="-122"/>
                <a:cs typeface="Source Serif 4" pitchFamily="34" charset="-120"/>
              </a:rPr>
              <a:t>Issue tracker</a:t>
            </a:r>
            <a:endParaRPr lang="en-US" sz="1800" dirty="0"/>
          </a:p>
        </p:txBody>
      </p:sp>
      <p:sp>
        <p:nvSpPr>
          <p:cNvPr id="6" name="Text 4"/>
          <p:cNvSpPr/>
          <p:nvPr/>
        </p:nvSpPr>
        <p:spPr>
          <a:xfrm>
            <a:off x="1073150" y="2566591"/>
            <a:ext cx="2951912" cy="74349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5E5D59"/>
                </a:solidFill>
                <a:latin typeface="Inter" pitchFamily="34" charset="0"/>
                <a:ea typeface="Inter" pitchFamily="34" charset="-122"/>
                <a:cs typeface="Inter" pitchFamily="34" charset="-120"/>
              </a:rPr>
              <a:t>Claude reads the Jira ticket and its acceptance criteria directly, then implements exactly that scope.</a:t>
            </a:r>
            <a:endParaRPr lang="en-US" sz="1300" dirty="0"/>
          </a:p>
        </p:txBody>
      </p:sp>
      <p:sp>
        <p:nvSpPr>
          <p:cNvPr id="7" name="Shape 5"/>
          <p:cNvSpPr/>
          <p:nvPr/>
        </p:nvSpPr>
        <p:spPr>
          <a:xfrm>
            <a:off x="1073150" y="5215930"/>
            <a:ext cx="2865934" cy="365720"/>
          </a:xfrm>
          <a:prstGeom prst="roundRect">
            <a:avLst>
              <a:gd name="adj" fmla="val 13890"/>
            </a:avLst>
          </a:prstGeom>
          <a:solidFill>
            <a:srgbClr val="1F1E1D"/>
          </a:solidFill>
          <a:ln/>
        </p:spPr>
      </p:sp>
      <p:sp>
        <p:nvSpPr>
          <p:cNvPr id="8" name="Text 6"/>
          <p:cNvSpPr/>
          <p:nvPr/>
        </p:nvSpPr>
        <p:spPr>
          <a:xfrm>
            <a:off x="1187450" y="5292130"/>
            <a:ext cx="271645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1EA"/>
                </a:solidFill>
                <a:latin typeface="JetBrains Mono" pitchFamily="34" charset="0"/>
                <a:ea typeface="JetBrains Mono" pitchFamily="34" charset="-122"/>
                <a:cs typeface="JetBrains Mono" pitchFamily="34" charset="-120"/>
              </a:rPr>
              <a:t>Implement OHUB-231 from Jira</a:t>
            </a:r>
            <a:endParaRPr lang="en-US" sz="1200" dirty="0"/>
          </a:p>
        </p:txBody>
      </p:sp>
      <p:sp>
        <p:nvSpPr>
          <p:cNvPr id="9" name="Shape 7"/>
          <p:cNvSpPr/>
          <p:nvPr/>
        </p:nvSpPr>
        <p:spPr>
          <a:xfrm>
            <a:off x="4405809" y="1567805"/>
            <a:ext cx="3380333" cy="4271020"/>
          </a:xfrm>
          <a:prstGeom prst="roundRect">
            <a:avLst>
              <a:gd name="adj" fmla="val 2912"/>
            </a:avLst>
          </a:prstGeom>
          <a:solidFill>
            <a:srgbClr val="FAF9F5"/>
          </a:solidFill>
          <a:ln w="6350">
            <a:solidFill>
              <a:srgbClr val="DEDBD2"/>
            </a:solidFill>
            <a:prstDash val="solid"/>
          </a:ln>
        </p:spPr>
      </p:sp>
      <p:sp>
        <p:nvSpPr>
          <p:cNvPr id="10" name="Text 8"/>
          <p:cNvSpPr/>
          <p:nvPr/>
        </p:nvSpPr>
        <p:spPr>
          <a:xfrm>
            <a:off x="4662984" y="1824980"/>
            <a:ext cx="295196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2F"/>
                </a:solidFill>
                <a:latin typeface="Inter" pitchFamily="34" charset="0"/>
                <a:ea typeface="Inter" pitchFamily="34" charset="-122"/>
                <a:cs typeface="Inter" pitchFamily="34" charset="-120"/>
              </a:rPr>
              <a:t>EXAMPLE 2</a:t>
            </a:r>
            <a:endParaRPr lang="en-US" sz="1200" dirty="0"/>
          </a:p>
        </p:txBody>
      </p:sp>
      <p:sp>
        <p:nvSpPr>
          <p:cNvPr id="11" name="Text 9"/>
          <p:cNvSpPr/>
          <p:nvPr/>
        </p:nvSpPr>
        <p:spPr>
          <a:xfrm>
            <a:off x="4662984" y="2165300"/>
            <a:ext cx="29519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1E1D"/>
                </a:solidFill>
                <a:latin typeface="Source Serif 4" pitchFamily="34" charset="0"/>
                <a:ea typeface="Source Serif 4" pitchFamily="34" charset="-122"/>
                <a:cs typeface="Source Serif 4" pitchFamily="34" charset="-120"/>
              </a:rPr>
              <a:t>Source control</a:t>
            </a:r>
            <a:endParaRPr lang="en-US" sz="1800" dirty="0"/>
          </a:p>
        </p:txBody>
      </p:sp>
      <p:sp>
        <p:nvSpPr>
          <p:cNvPr id="12" name="Text 10"/>
          <p:cNvSpPr/>
          <p:nvPr/>
        </p:nvSpPr>
        <p:spPr>
          <a:xfrm>
            <a:off x="4662984" y="2566591"/>
            <a:ext cx="2951963" cy="98286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5E5D59"/>
                </a:solidFill>
                <a:latin typeface="Inter" pitchFamily="34" charset="0"/>
                <a:ea typeface="Inter" pitchFamily="34" charset="-122"/>
                <a:cs typeface="Inter" pitchFamily="34" charset="-120"/>
              </a:rPr>
              <a:t>A GitHub server lets Claude read pull-request review comments, address each one and push the fixes.</a:t>
            </a:r>
            <a:endParaRPr lang="en-US" sz="1300" dirty="0"/>
          </a:p>
        </p:txBody>
      </p:sp>
      <p:sp>
        <p:nvSpPr>
          <p:cNvPr id="13" name="Shape 11"/>
          <p:cNvSpPr/>
          <p:nvPr/>
        </p:nvSpPr>
        <p:spPr>
          <a:xfrm>
            <a:off x="4662984" y="5215930"/>
            <a:ext cx="2865983" cy="365720"/>
          </a:xfrm>
          <a:prstGeom prst="roundRect">
            <a:avLst>
              <a:gd name="adj" fmla="val 13890"/>
            </a:avLst>
          </a:prstGeom>
          <a:solidFill>
            <a:srgbClr val="1F1E1D"/>
          </a:solidFill>
          <a:ln/>
        </p:spPr>
      </p:sp>
      <p:sp>
        <p:nvSpPr>
          <p:cNvPr id="14" name="Text 12"/>
          <p:cNvSpPr/>
          <p:nvPr/>
        </p:nvSpPr>
        <p:spPr>
          <a:xfrm>
            <a:off x="4777284" y="5292130"/>
            <a:ext cx="271650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1EA"/>
                </a:solidFill>
                <a:latin typeface="JetBrains Mono" pitchFamily="34" charset="0"/>
                <a:ea typeface="JetBrains Mono" pitchFamily="34" charset="-122"/>
                <a:cs typeface="JetBrains Mono" pitchFamily="34" charset="-120"/>
              </a:rPr>
              <a:t>Address the review on PR 418</a:t>
            </a:r>
            <a:endParaRPr lang="en-US" sz="1200" dirty="0"/>
          </a:p>
        </p:txBody>
      </p:sp>
      <p:sp>
        <p:nvSpPr>
          <p:cNvPr id="15" name="Shape 13"/>
          <p:cNvSpPr/>
          <p:nvPr/>
        </p:nvSpPr>
        <p:spPr>
          <a:xfrm>
            <a:off x="7995692" y="1567805"/>
            <a:ext cx="3380333" cy="4271020"/>
          </a:xfrm>
          <a:prstGeom prst="roundRect">
            <a:avLst>
              <a:gd name="adj" fmla="val 2912"/>
            </a:avLst>
          </a:prstGeom>
          <a:solidFill>
            <a:srgbClr val="FAF9F5"/>
          </a:solidFill>
          <a:ln w="6350">
            <a:solidFill>
              <a:srgbClr val="DEDBD2"/>
            </a:solidFill>
            <a:prstDash val="solid"/>
          </a:ln>
        </p:spPr>
      </p:sp>
      <p:sp>
        <p:nvSpPr>
          <p:cNvPr id="16" name="Text 14"/>
          <p:cNvSpPr/>
          <p:nvPr/>
        </p:nvSpPr>
        <p:spPr>
          <a:xfrm>
            <a:off x="8252867" y="1824980"/>
            <a:ext cx="295196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2F"/>
                </a:solidFill>
                <a:latin typeface="Inter" pitchFamily="34" charset="0"/>
                <a:ea typeface="Inter" pitchFamily="34" charset="-122"/>
                <a:cs typeface="Inter" pitchFamily="34" charset="-120"/>
              </a:rPr>
              <a:t>EXAMPLE 3</a:t>
            </a:r>
            <a:endParaRPr lang="en-US" sz="1200" dirty="0"/>
          </a:p>
        </p:txBody>
      </p:sp>
      <p:sp>
        <p:nvSpPr>
          <p:cNvPr id="17" name="Text 15"/>
          <p:cNvSpPr/>
          <p:nvPr/>
        </p:nvSpPr>
        <p:spPr>
          <a:xfrm>
            <a:off x="8252867" y="2165300"/>
            <a:ext cx="29519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1E1D"/>
                </a:solidFill>
                <a:latin typeface="Source Serif 4" pitchFamily="34" charset="0"/>
                <a:ea typeface="Source Serif 4" pitchFamily="34" charset="-122"/>
                <a:cs typeface="Source Serif 4" pitchFamily="34" charset="-120"/>
              </a:rPr>
              <a:t>Database, read-only</a:t>
            </a:r>
            <a:endParaRPr lang="en-US" sz="1800" dirty="0"/>
          </a:p>
        </p:txBody>
      </p:sp>
      <p:sp>
        <p:nvSpPr>
          <p:cNvPr id="18" name="Text 16"/>
          <p:cNvSpPr/>
          <p:nvPr/>
        </p:nvSpPr>
        <p:spPr>
          <a:xfrm>
            <a:off x="8252867" y="2566591"/>
            <a:ext cx="2951963" cy="74349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5E5D59"/>
                </a:solidFill>
                <a:latin typeface="Inter" pitchFamily="34" charset="0"/>
                <a:ea typeface="Inter" pitchFamily="34" charset="-122"/>
                <a:cs typeface="Inter" pitchFamily="34" charset="-120"/>
              </a:rPr>
              <a:t>A read-only database server lets Claude inspect the live schema before it writes a migration.</a:t>
            </a:r>
            <a:endParaRPr lang="en-US" sz="1300" dirty="0"/>
          </a:p>
        </p:txBody>
      </p:sp>
      <p:sp>
        <p:nvSpPr>
          <p:cNvPr id="19" name="Shape 17"/>
          <p:cNvSpPr/>
          <p:nvPr/>
        </p:nvSpPr>
        <p:spPr>
          <a:xfrm>
            <a:off x="8252867" y="5002609"/>
            <a:ext cx="2865983" cy="579041"/>
          </a:xfrm>
          <a:prstGeom prst="roundRect">
            <a:avLst>
              <a:gd name="adj" fmla="val 8773"/>
            </a:avLst>
          </a:prstGeom>
          <a:solidFill>
            <a:srgbClr val="1F1E1D"/>
          </a:solidFill>
          <a:ln/>
        </p:spPr>
      </p:sp>
      <p:sp>
        <p:nvSpPr>
          <p:cNvPr id="20" name="Text 18"/>
          <p:cNvSpPr/>
          <p:nvPr/>
        </p:nvSpPr>
        <p:spPr>
          <a:xfrm>
            <a:off x="8367167" y="5078809"/>
            <a:ext cx="271650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1EA"/>
                </a:solidFill>
                <a:latin typeface="JetBrains Mono" pitchFamily="34" charset="0"/>
                <a:ea typeface="JetBrains Mono" pitchFamily="34" charset="-122"/>
                <a:cs typeface="JetBrains Mono" pitchFamily="34" charset="-120"/>
              </a:rPr>
              <a:t>Check the orders schema first</a:t>
            </a:r>
            <a:endParaRPr lang="en-US" sz="1200" dirty="0"/>
          </a:p>
        </p:txBody>
      </p:sp>
      <p:sp>
        <p:nvSpPr>
          <p:cNvPr id="21" name="Text 1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Module 7 · Extending Claude Code</a:t>
            </a:r>
            <a:endParaRPr lang="en-US" sz="1200" dirty="0"/>
          </a:p>
        </p:txBody>
      </p:sp>
      <p:sp>
        <p:nvSpPr>
          <p:cNvPr id="22" name="Text 20"/>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5D59"/>
                </a:solidFill>
                <a:latin typeface="Inter" pitchFamily="34" charset="0"/>
                <a:ea typeface="Inter" pitchFamily="34" charset="-122"/>
                <a:cs typeface="Inter" pitchFamily="34" charset="-120"/>
              </a:rPr>
              <a:t>04 MCP · Examples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E1D"/>
                </a:solidFill>
                <a:latin typeface="Source Serif 4" pitchFamily="34" charset="0"/>
                <a:ea typeface="Source Serif 4" pitchFamily="34" charset="-122"/>
                <a:cs typeface="Source Serif 4" pitchFamily="34" charset="-120"/>
              </a:rPr>
              <a:t>Use case: from ticket to code without copy-paste</a:t>
            </a:r>
            <a:endParaRPr lang="en-US" sz="3200" dirty="0"/>
          </a:p>
        </p:txBody>
      </p:sp>
      <p:sp>
        <p:nvSpPr>
          <p:cNvPr id="3" name="Shape 1"/>
          <p:cNvSpPr/>
          <p:nvPr/>
        </p:nvSpPr>
        <p:spPr>
          <a:xfrm>
            <a:off x="812800" y="1564630"/>
            <a:ext cx="4318000" cy="4277370"/>
          </a:xfrm>
          <a:prstGeom prst="roundRect">
            <a:avLst>
              <a:gd name="adj" fmla="val 2375"/>
            </a:avLst>
          </a:prstGeom>
          <a:solidFill>
            <a:srgbClr val="1F1E1D"/>
          </a:solidFill>
          <a:ln/>
        </p:spPr>
      </p:sp>
      <p:sp>
        <p:nvSpPr>
          <p:cNvPr id="4" name="Text 2"/>
          <p:cNvSpPr/>
          <p:nvPr/>
        </p:nvSpPr>
        <p:spPr>
          <a:xfrm>
            <a:off x="1117600" y="1869430"/>
            <a:ext cx="381965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97757"/>
                </a:solidFill>
                <a:latin typeface="Inter" pitchFamily="34" charset="0"/>
                <a:ea typeface="Inter" pitchFamily="34" charset="-122"/>
                <a:cs typeface="Inter" pitchFamily="34" charset="-120"/>
              </a:rPr>
              <a:t>THE PROBLEM</a:t>
            </a:r>
            <a:endParaRPr lang="en-US" sz="1200" dirty="0"/>
          </a:p>
        </p:txBody>
      </p:sp>
      <p:sp>
        <p:nvSpPr>
          <p:cNvPr id="5" name="Text 3"/>
          <p:cNvSpPr/>
          <p:nvPr/>
        </p:nvSpPr>
        <p:spPr>
          <a:xfrm>
            <a:off x="1117600" y="2260550"/>
            <a:ext cx="3819652" cy="123428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F4F1EA"/>
                </a:solidFill>
                <a:latin typeface="Source Serif 4" pitchFamily="34" charset="0"/>
                <a:ea typeface="Source Serif 4" pitchFamily="34" charset="-122"/>
                <a:cs typeface="Source Serif 4" pitchFamily="34" charset="-120"/>
              </a:rPr>
              <a:t>Engineers paste Jira text into prompts by hand. Detail gets lost and implementations drift from the agreed acceptance criteria.</a:t>
            </a:r>
            <a:endParaRPr lang="en-US" sz="1700" dirty="0"/>
          </a:p>
        </p:txBody>
      </p:sp>
      <p:sp>
        <p:nvSpPr>
          <p:cNvPr id="6" name="Text 4"/>
          <p:cNvSpPr/>
          <p:nvPr/>
        </p:nvSpPr>
        <p:spPr>
          <a:xfrm>
            <a:off x="1117600" y="5323880"/>
            <a:ext cx="381965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DB7AB"/>
                </a:solidFill>
                <a:latin typeface="Inter" pitchFamily="34" charset="0"/>
                <a:ea typeface="Inter" pitchFamily="34" charset="-122"/>
                <a:cs typeface="Inter" pitchFamily="34" charset="-120"/>
              </a:rPr>
              <a:t>Requested by: Delivery Lead · OHUB-304</a:t>
            </a:r>
            <a:endParaRPr lang="en-US" sz="1200" dirty="0"/>
          </a:p>
        </p:txBody>
      </p:sp>
      <p:sp>
        <p:nvSpPr>
          <p:cNvPr id="7" name="Text 5"/>
          <p:cNvSpPr/>
          <p:nvPr/>
        </p:nvSpPr>
        <p:spPr>
          <a:xfrm>
            <a:off x="5537200" y="1564630"/>
            <a:ext cx="601726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B4532F"/>
                </a:solidFill>
                <a:latin typeface="Source Serif 4" pitchFamily="34" charset="0"/>
                <a:ea typeface="Source Serif 4" pitchFamily="34" charset="-122"/>
                <a:cs typeface="Source Serif 4" pitchFamily="34" charset="-120"/>
              </a:rPr>
              <a:t>Why we need it</a:t>
            </a:r>
            <a:endParaRPr lang="en-US" sz="2000" dirty="0"/>
          </a:p>
        </p:txBody>
      </p:sp>
      <p:sp>
        <p:nvSpPr>
          <p:cNvPr id="8" name="Shape 6"/>
          <p:cNvSpPr/>
          <p:nvPr/>
        </p:nvSpPr>
        <p:spPr>
          <a:xfrm>
            <a:off x="5537200" y="2136130"/>
            <a:ext cx="88900" cy="88900"/>
          </a:xfrm>
          <a:prstGeom prst="roundRect">
            <a:avLst>
              <a:gd name="adj" fmla="val 21429"/>
            </a:avLst>
          </a:prstGeom>
          <a:solidFill>
            <a:srgbClr val="D97757"/>
          </a:solidFill>
          <a:ln/>
        </p:spPr>
      </p:sp>
      <p:sp>
        <p:nvSpPr>
          <p:cNvPr id="9" name="Text 7"/>
          <p:cNvSpPr/>
          <p:nvPr/>
        </p:nvSpPr>
        <p:spPr>
          <a:xfrm>
            <a:off x="5753100" y="2047230"/>
            <a:ext cx="5794883" cy="52318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Source of truth:</a:t>
            </a:r>
            <a:r>
              <a:rPr lang="en-US" sz="1400" dirty="0">
                <a:solidFill>
                  <a:srgbClr val="1F1E1D"/>
                </a:solidFill>
                <a:latin typeface="Inter" pitchFamily="34" charset="0"/>
                <a:ea typeface="Inter" pitchFamily="34" charset="-122"/>
                <a:cs typeface="Inter" pitchFamily="34" charset="-120"/>
              </a:rPr>
              <a:t> Claude works from the live ticket, not a paraphrase.</a:t>
            </a:r>
            <a:endParaRPr lang="en-US" sz="1400" dirty="0"/>
          </a:p>
        </p:txBody>
      </p:sp>
      <p:sp>
        <p:nvSpPr>
          <p:cNvPr id="10" name="Shape 8"/>
          <p:cNvSpPr/>
          <p:nvPr/>
        </p:nvSpPr>
        <p:spPr>
          <a:xfrm>
            <a:off x="5537200" y="2773611"/>
            <a:ext cx="88900" cy="88900"/>
          </a:xfrm>
          <a:prstGeom prst="roundRect">
            <a:avLst>
              <a:gd name="adj" fmla="val 21429"/>
            </a:avLst>
          </a:prstGeom>
          <a:solidFill>
            <a:srgbClr val="D97757"/>
          </a:solidFill>
          <a:ln/>
        </p:spPr>
      </p:sp>
      <p:sp>
        <p:nvSpPr>
          <p:cNvPr id="11" name="Text 9"/>
          <p:cNvSpPr/>
          <p:nvPr/>
        </p:nvSpPr>
        <p:spPr>
          <a:xfrm>
            <a:off x="5753100" y="2684711"/>
            <a:ext cx="5794883" cy="52318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Fewer context switches:</a:t>
            </a:r>
            <a:r>
              <a:rPr lang="en-US" sz="1400" dirty="0">
                <a:solidFill>
                  <a:srgbClr val="1F1E1D"/>
                </a:solidFill>
                <a:latin typeface="Inter" pitchFamily="34" charset="0"/>
                <a:ea typeface="Inter" pitchFamily="34" charset="-122"/>
                <a:cs typeface="Inter" pitchFamily="34" charset="-120"/>
              </a:rPr>
              <a:t> no copying between Jira, GitHub and the IDE.</a:t>
            </a:r>
            <a:endParaRPr lang="en-US" sz="1400" dirty="0"/>
          </a:p>
        </p:txBody>
      </p:sp>
      <p:sp>
        <p:nvSpPr>
          <p:cNvPr id="12" name="Shape 10"/>
          <p:cNvSpPr/>
          <p:nvPr/>
        </p:nvSpPr>
        <p:spPr>
          <a:xfrm>
            <a:off x="5537200" y="3411091"/>
            <a:ext cx="88900" cy="88900"/>
          </a:xfrm>
          <a:prstGeom prst="roundRect">
            <a:avLst>
              <a:gd name="adj" fmla="val 21429"/>
            </a:avLst>
          </a:prstGeom>
          <a:solidFill>
            <a:srgbClr val="D97757"/>
          </a:solidFill>
          <a:ln/>
        </p:spPr>
      </p:sp>
      <p:sp>
        <p:nvSpPr>
          <p:cNvPr id="13" name="Text 11"/>
          <p:cNvSpPr/>
          <p:nvPr/>
        </p:nvSpPr>
        <p:spPr>
          <a:xfrm>
            <a:off x="5753100" y="3322191"/>
            <a:ext cx="5192237"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Team-wide:</a:t>
            </a:r>
            <a:r>
              <a:rPr lang="en-US" sz="1400" dirty="0">
                <a:solidFill>
                  <a:srgbClr val="1F1E1D"/>
                </a:solidFill>
                <a:latin typeface="Inter" pitchFamily="34" charset="0"/>
                <a:ea typeface="Inter" pitchFamily="34" charset="-122"/>
                <a:cs typeface="Inter" pitchFamily="34" charset="-120"/>
              </a:rPr>
              <a:t> one committed .mcp.json configures everyone.</a:t>
            </a:r>
            <a:endParaRPr lang="en-US" sz="1400" dirty="0"/>
          </a:p>
        </p:txBody>
      </p:sp>
      <p:sp>
        <p:nvSpPr>
          <p:cNvPr id="14" name="Shape 12"/>
          <p:cNvSpPr/>
          <p:nvPr/>
        </p:nvSpPr>
        <p:spPr>
          <a:xfrm>
            <a:off x="5537200" y="3799681"/>
            <a:ext cx="88900" cy="88900"/>
          </a:xfrm>
          <a:prstGeom prst="roundRect">
            <a:avLst>
              <a:gd name="adj" fmla="val 21429"/>
            </a:avLst>
          </a:prstGeom>
          <a:solidFill>
            <a:srgbClr val="D97757"/>
          </a:solidFill>
          <a:ln/>
        </p:spPr>
      </p:sp>
      <p:sp>
        <p:nvSpPr>
          <p:cNvPr id="15" name="Text 13"/>
          <p:cNvSpPr/>
          <p:nvPr/>
        </p:nvSpPr>
        <p:spPr>
          <a:xfrm>
            <a:off x="5753100" y="3710781"/>
            <a:ext cx="5776386"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Governed:</a:t>
            </a:r>
            <a:r>
              <a:rPr lang="en-US" sz="1400" dirty="0">
                <a:solidFill>
                  <a:srgbClr val="1F1E1D"/>
                </a:solidFill>
                <a:latin typeface="Inter" pitchFamily="34" charset="0"/>
                <a:ea typeface="Inter" pitchFamily="34" charset="-122"/>
                <a:cs typeface="Inter" pitchFamily="34" charset="-120"/>
              </a:rPr>
              <a:t> project servers need approval; secrets stay in env vars.</a:t>
            </a:r>
            <a:endParaRPr lang="en-US" sz="1400" dirty="0"/>
          </a:p>
        </p:txBody>
      </p:sp>
      <p:sp>
        <p:nvSpPr>
          <p:cNvPr id="16" name="Shape 14"/>
          <p:cNvSpPr/>
          <p:nvPr/>
        </p:nvSpPr>
        <p:spPr>
          <a:xfrm>
            <a:off x="5537200" y="4188271"/>
            <a:ext cx="88900" cy="88900"/>
          </a:xfrm>
          <a:prstGeom prst="roundRect">
            <a:avLst>
              <a:gd name="adj" fmla="val 21429"/>
            </a:avLst>
          </a:prstGeom>
          <a:solidFill>
            <a:srgbClr val="D97757"/>
          </a:solidFill>
          <a:ln/>
        </p:spPr>
      </p:sp>
      <p:sp>
        <p:nvSpPr>
          <p:cNvPr id="17" name="Text 15"/>
          <p:cNvSpPr/>
          <p:nvPr/>
        </p:nvSpPr>
        <p:spPr>
          <a:xfrm>
            <a:off x="5753100" y="4099371"/>
            <a:ext cx="573530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Open standard:</a:t>
            </a:r>
            <a:r>
              <a:rPr lang="en-US" sz="1400" dirty="0">
                <a:solidFill>
                  <a:srgbClr val="1F1E1D"/>
                </a:solidFill>
                <a:latin typeface="Inter" pitchFamily="34" charset="0"/>
                <a:ea typeface="Inter" pitchFamily="34" charset="-122"/>
                <a:cs typeface="Inter" pitchFamily="34" charset="-120"/>
              </a:rPr>
              <a:t> one server works across MCP-compatible clients.</a:t>
            </a:r>
            <a:endParaRPr lang="en-US" sz="1400" dirty="0"/>
          </a:p>
        </p:txBody>
      </p:sp>
      <p:sp>
        <p:nvSpPr>
          <p:cNvPr id="18" name="Text 16"/>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Module 7 · Extending Claude Code</a:t>
            </a:r>
            <a:endParaRPr lang="en-US" sz="1200" dirty="0"/>
          </a:p>
        </p:txBody>
      </p:sp>
      <p:sp>
        <p:nvSpPr>
          <p:cNvPr id="19" name="Text 17"/>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5D59"/>
                </a:solidFill>
                <a:latin typeface="Inter" pitchFamily="34" charset="0"/>
                <a:ea typeface="Inter" pitchFamily="34" charset="-122"/>
                <a:cs typeface="Inter" pitchFamily="34" charset="-120"/>
              </a:rPr>
              <a:t>04 MCP · Use case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9F5"/>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D97757"/>
          </a:solidFill>
          <a:ln/>
        </p:spPr>
      </p:sp>
      <p:sp>
        <p:nvSpPr>
          <p:cNvPr id="3" name="Text 1"/>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B4532F"/>
                </a:solidFill>
                <a:latin typeface="Inter" pitchFamily="34" charset="0"/>
                <a:ea typeface="Inter" pitchFamily="34" charset="-122"/>
                <a:cs typeface="Inter" pitchFamily="34" charset="-120"/>
              </a:rPr>
              <a:t>LIVE DEMO · LAB 4 · OHUB-304</a:t>
            </a:r>
            <a:endParaRPr lang="en-US" sz="1300" dirty="0"/>
          </a:p>
        </p:txBody>
      </p:sp>
      <p:sp>
        <p:nvSpPr>
          <p:cNvPr id="4" name="Text 2"/>
          <p:cNvSpPr/>
          <p:nvPr/>
        </p:nvSpPr>
        <p:spPr>
          <a:xfrm>
            <a:off x="812800" y="112013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E1D"/>
                </a:solidFill>
                <a:latin typeface="Source Serif 4" pitchFamily="34" charset="0"/>
                <a:ea typeface="Source Serif 4" pitchFamily="34" charset="-122"/>
                <a:cs typeface="Source Serif 4" pitchFamily="34" charset="-120"/>
              </a:rPr>
              <a:t>Build and connect a ticket-desk MCP server</a:t>
            </a:r>
            <a:endParaRPr lang="en-US" sz="3200" dirty="0"/>
          </a:p>
        </p:txBody>
      </p:sp>
      <p:sp>
        <p:nvSpPr>
          <p:cNvPr id="5" name="Shape 3"/>
          <p:cNvSpPr/>
          <p:nvPr/>
        </p:nvSpPr>
        <p:spPr>
          <a:xfrm>
            <a:off x="812800" y="1871960"/>
            <a:ext cx="330200" cy="332730"/>
          </a:xfrm>
          <a:prstGeom prst="roundRect">
            <a:avLst>
              <a:gd name="adj" fmla="val 50000"/>
            </a:avLst>
          </a:prstGeom>
          <a:solidFill>
            <a:srgbClr val="D97757"/>
          </a:solidFill>
          <a:ln/>
        </p:spPr>
      </p:sp>
      <p:sp>
        <p:nvSpPr>
          <p:cNvPr id="6" name="Text 4"/>
          <p:cNvSpPr/>
          <p:nvPr/>
        </p:nvSpPr>
        <p:spPr>
          <a:xfrm>
            <a:off x="787400" y="1922760"/>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1</a:t>
            </a:r>
            <a:endParaRPr lang="en-US" sz="1300" dirty="0"/>
          </a:p>
        </p:txBody>
      </p:sp>
      <p:sp>
        <p:nvSpPr>
          <p:cNvPr id="7" name="Text 5"/>
          <p:cNvSpPr/>
          <p:nvPr/>
        </p:nvSpPr>
        <p:spPr>
          <a:xfrm>
            <a:off x="1295400" y="1918295"/>
            <a:ext cx="4055621"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Seed data/tickets.json with OHUB-231 and 232</a:t>
            </a:r>
            <a:endParaRPr lang="en-US" sz="1400" dirty="0"/>
          </a:p>
        </p:txBody>
      </p:sp>
      <p:sp>
        <p:nvSpPr>
          <p:cNvPr id="8" name="Shape 6"/>
          <p:cNvSpPr/>
          <p:nvPr/>
        </p:nvSpPr>
        <p:spPr>
          <a:xfrm>
            <a:off x="812800" y="2318990"/>
            <a:ext cx="330200" cy="332730"/>
          </a:xfrm>
          <a:prstGeom prst="roundRect">
            <a:avLst>
              <a:gd name="adj" fmla="val 50000"/>
            </a:avLst>
          </a:prstGeom>
          <a:solidFill>
            <a:srgbClr val="D97757"/>
          </a:solidFill>
          <a:ln/>
        </p:spPr>
      </p:sp>
      <p:sp>
        <p:nvSpPr>
          <p:cNvPr id="9" name="Text 7"/>
          <p:cNvSpPr/>
          <p:nvPr/>
        </p:nvSpPr>
        <p:spPr>
          <a:xfrm>
            <a:off x="787400" y="2369790"/>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2</a:t>
            </a:r>
            <a:endParaRPr lang="en-US" sz="1300" dirty="0"/>
          </a:p>
        </p:txBody>
      </p:sp>
      <p:sp>
        <p:nvSpPr>
          <p:cNvPr id="10" name="Text 8"/>
          <p:cNvSpPr/>
          <p:nvPr/>
        </p:nvSpPr>
        <p:spPr>
          <a:xfrm>
            <a:off x="1295400" y="2365325"/>
            <a:ext cx="3596355"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Build a stdio server: list_tickets, get_ticket</a:t>
            </a:r>
            <a:endParaRPr lang="en-US" sz="1400" dirty="0"/>
          </a:p>
        </p:txBody>
      </p:sp>
      <p:sp>
        <p:nvSpPr>
          <p:cNvPr id="11" name="Shape 9"/>
          <p:cNvSpPr/>
          <p:nvPr/>
        </p:nvSpPr>
        <p:spPr>
          <a:xfrm>
            <a:off x="812800" y="2766020"/>
            <a:ext cx="330200" cy="332730"/>
          </a:xfrm>
          <a:prstGeom prst="roundRect">
            <a:avLst>
              <a:gd name="adj" fmla="val 50000"/>
            </a:avLst>
          </a:prstGeom>
          <a:solidFill>
            <a:srgbClr val="D97757"/>
          </a:solidFill>
          <a:ln/>
        </p:spPr>
      </p:sp>
      <p:sp>
        <p:nvSpPr>
          <p:cNvPr id="12" name="Text 10"/>
          <p:cNvSpPr/>
          <p:nvPr/>
        </p:nvSpPr>
        <p:spPr>
          <a:xfrm>
            <a:off x="787400" y="2816820"/>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3</a:t>
            </a:r>
            <a:endParaRPr lang="en-US" sz="1300" dirty="0"/>
          </a:p>
        </p:txBody>
      </p:sp>
      <p:sp>
        <p:nvSpPr>
          <p:cNvPr id="13" name="Text 11"/>
          <p:cNvSpPr/>
          <p:nvPr/>
        </p:nvSpPr>
        <p:spPr>
          <a:xfrm>
            <a:off x="1295400" y="2812355"/>
            <a:ext cx="3811476"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claude mcp add --scope project ticket-desk</a:t>
            </a:r>
            <a:endParaRPr lang="en-US" sz="1400" dirty="0"/>
          </a:p>
        </p:txBody>
      </p:sp>
      <p:sp>
        <p:nvSpPr>
          <p:cNvPr id="14" name="Shape 12"/>
          <p:cNvSpPr/>
          <p:nvPr/>
        </p:nvSpPr>
        <p:spPr>
          <a:xfrm>
            <a:off x="812800" y="3213050"/>
            <a:ext cx="330200" cy="332730"/>
          </a:xfrm>
          <a:prstGeom prst="roundRect">
            <a:avLst>
              <a:gd name="adj" fmla="val 50000"/>
            </a:avLst>
          </a:prstGeom>
          <a:solidFill>
            <a:srgbClr val="D97757"/>
          </a:solidFill>
          <a:ln/>
        </p:spPr>
      </p:sp>
      <p:sp>
        <p:nvSpPr>
          <p:cNvPr id="15" name="Text 13"/>
          <p:cNvSpPr/>
          <p:nvPr/>
        </p:nvSpPr>
        <p:spPr>
          <a:xfrm>
            <a:off x="787400" y="3263850"/>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4</a:t>
            </a:r>
            <a:endParaRPr lang="en-US" sz="1300" dirty="0"/>
          </a:p>
        </p:txBody>
      </p:sp>
      <p:sp>
        <p:nvSpPr>
          <p:cNvPr id="16" name="Text 14"/>
          <p:cNvSpPr/>
          <p:nvPr/>
        </p:nvSpPr>
        <p:spPr>
          <a:xfrm>
            <a:off x="1295400" y="3259386"/>
            <a:ext cx="2555598"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Approve and verify with /mcp</a:t>
            </a:r>
            <a:endParaRPr lang="en-US" sz="1400" dirty="0"/>
          </a:p>
        </p:txBody>
      </p:sp>
      <p:sp>
        <p:nvSpPr>
          <p:cNvPr id="17" name="Shape 15"/>
          <p:cNvSpPr/>
          <p:nvPr/>
        </p:nvSpPr>
        <p:spPr>
          <a:xfrm>
            <a:off x="812800" y="3660080"/>
            <a:ext cx="330200" cy="332730"/>
          </a:xfrm>
          <a:prstGeom prst="roundRect">
            <a:avLst>
              <a:gd name="adj" fmla="val 50000"/>
            </a:avLst>
          </a:prstGeom>
          <a:solidFill>
            <a:srgbClr val="D97757"/>
          </a:solidFill>
          <a:ln/>
        </p:spPr>
      </p:sp>
      <p:sp>
        <p:nvSpPr>
          <p:cNvPr id="18" name="Text 16"/>
          <p:cNvSpPr/>
          <p:nvPr/>
        </p:nvSpPr>
        <p:spPr>
          <a:xfrm>
            <a:off x="787400" y="3710880"/>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5</a:t>
            </a:r>
            <a:endParaRPr lang="en-US" sz="1300" dirty="0"/>
          </a:p>
        </p:txBody>
      </p:sp>
      <p:sp>
        <p:nvSpPr>
          <p:cNvPr id="19" name="Text 17"/>
          <p:cNvSpPr/>
          <p:nvPr/>
        </p:nvSpPr>
        <p:spPr>
          <a:xfrm>
            <a:off x="1295400" y="3706416"/>
            <a:ext cx="3885261"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Implement OHUB-231 from the fetched ticket</a:t>
            </a:r>
            <a:endParaRPr lang="en-US" sz="1400" dirty="0"/>
          </a:p>
        </p:txBody>
      </p:sp>
      <p:sp>
        <p:nvSpPr>
          <p:cNvPr id="20" name="Shape 18"/>
          <p:cNvSpPr/>
          <p:nvPr/>
        </p:nvSpPr>
        <p:spPr>
          <a:xfrm>
            <a:off x="812800" y="4107111"/>
            <a:ext cx="330200" cy="332730"/>
          </a:xfrm>
          <a:prstGeom prst="roundRect">
            <a:avLst>
              <a:gd name="adj" fmla="val 50000"/>
            </a:avLst>
          </a:prstGeom>
          <a:solidFill>
            <a:srgbClr val="D97757"/>
          </a:solidFill>
          <a:ln/>
        </p:spPr>
      </p:sp>
      <p:sp>
        <p:nvSpPr>
          <p:cNvPr id="21" name="Text 19"/>
          <p:cNvSpPr/>
          <p:nvPr/>
        </p:nvSpPr>
        <p:spPr>
          <a:xfrm>
            <a:off x="787400" y="4157911"/>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6</a:t>
            </a:r>
            <a:endParaRPr lang="en-US" sz="1300" dirty="0"/>
          </a:p>
        </p:txBody>
      </p:sp>
      <p:sp>
        <p:nvSpPr>
          <p:cNvPr id="22" name="Text 20"/>
          <p:cNvSpPr/>
          <p:nvPr/>
        </p:nvSpPr>
        <p:spPr>
          <a:xfrm>
            <a:off x="1295400" y="4153446"/>
            <a:ext cx="2702606"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Check the not-found error path</a:t>
            </a:r>
            <a:endParaRPr lang="en-US" sz="1400" dirty="0"/>
          </a:p>
        </p:txBody>
      </p:sp>
      <p:sp>
        <p:nvSpPr>
          <p:cNvPr id="23" name="Shape 21"/>
          <p:cNvSpPr/>
          <p:nvPr/>
        </p:nvSpPr>
        <p:spPr>
          <a:xfrm>
            <a:off x="7442200" y="1871960"/>
            <a:ext cx="3937000" cy="2491631"/>
          </a:xfrm>
          <a:prstGeom prst="roundRect">
            <a:avLst>
              <a:gd name="adj" fmla="val 4078"/>
            </a:avLst>
          </a:prstGeom>
          <a:solidFill>
            <a:srgbClr val="F0EEE6"/>
          </a:solidFill>
          <a:ln/>
        </p:spPr>
      </p:sp>
      <p:sp>
        <p:nvSpPr>
          <p:cNvPr id="24" name="Text 22"/>
          <p:cNvSpPr/>
          <p:nvPr/>
        </p:nvSpPr>
        <p:spPr>
          <a:xfrm>
            <a:off x="7696200" y="2125960"/>
            <a:ext cx="353187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1E1D"/>
                </a:solidFill>
                <a:latin typeface="Source Serif 4" pitchFamily="34" charset="0"/>
                <a:ea typeface="Source Serif 4" pitchFamily="34" charset="-122"/>
                <a:cs typeface="Source Serif 4" pitchFamily="34" charset="-120"/>
              </a:rPr>
              <a:t>Acceptance criteria</a:t>
            </a:r>
            <a:endParaRPr lang="en-US" sz="1800" dirty="0"/>
          </a:p>
        </p:txBody>
      </p:sp>
      <p:sp>
        <p:nvSpPr>
          <p:cNvPr id="25" name="Text 23"/>
          <p:cNvSpPr/>
          <p:nvPr/>
        </p:nvSpPr>
        <p:spPr>
          <a:xfrm>
            <a:off x="7696200" y="2514550"/>
            <a:ext cx="353187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2F"/>
                </a:solidFill>
                <a:latin typeface="Inter" pitchFamily="34" charset="0"/>
                <a:ea typeface="Inter" pitchFamily="34" charset="-122"/>
                <a:cs typeface="Inter" pitchFamily="34" charset="-120"/>
              </a:rPr>
              <a:t>✓</a:t>
            </a:r>
            <a:r>
              <a:rPr lang="en-US" sz="1300" dirty="0">
                <a:solidFill>
                  <a:srgbClr val="1F1E1D"/>
                </a:solidFill>
                <a:latin typeface="Inter" pitchFamily="34" charset="0"/>
                <a:ea typeface="Inter" pitchFamily="34" charset="-122"/>
                <a:cs typeface="Inter" pitchFamily="34" charset="-120"/>
              </a:rPr>
              <a:t> Portable .mcp.json, no secrets</a:t>
            </a:r>
            <a:endParaRPr lang="en-US" sz="1300" dirty="0"/>
          </a:p>
        </p:txBody>
      </p:sp>
      <p:sp>
        <p:nvSpPr>
          <p:cNvPr id="26" name="Text 24"/>
          <p:cNvSpPr/>
          <p:nvPr/>
        </p:nvSpPr>
        <p:spPr>
          <a:xfrm>
            <a:off x="7696200" y="2859980"/>
            <a:ext cx="353187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2F"/>
                </a:solidFill>
                <a:latin typeface="Inter" pitchFamily="34" charset="0"/>
                <a:ea typeface="Inter" pitchFamily="34" charset="-122"/>
                <a:cs typeface="Inter" pitchFamily="34" charset="-120"/>
              </a:rPr>
              <a:t>✓</a:t>
            </a:r>
            <a:r>
              <a:rPr lang="en-US" sz="1300" dirty="0">
                <a:solidFill>
                  <a:srgbClr val="1F1E1D"/>
                </a:solidFill>
                <a:latin typeface="Inter" pitchFamily="34" charset="0"/>
                <a:ea typeface="Inter" pitchFamily="34" charset="-122"/>
                <a:cs typeface="Inter" pitchFamily="34" charset="-120"/>
              </a:rPr>
              <a:t> ticket-desk connected with 2 tools</a:t>
            </a:r>
            <a:endParaRPr lang="en-US" sz="1300" dirty="0"/>
          </a:p>
        </p:txBody>
      </p:sp>
      <p:sp>
        <p:nvSpPr>
          <p:cNvPr id="27" name="Text 25"/>
          <p:cNvSpPr/>
          <p:nvPr/>
        </p:nvSpPr>
        <p:spPr>
          <a:xfrm>
            <a:off x="7696200" y="3205411"/>
            <a:ext cx="353187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2F"/>
                </a:solidFill>
                <a:latin typeface="Inter" pitchFamily="34" charset="0"/>
                <a:ea typeface="Inter" pitchFamily="34" charset="-122"/>
                <a:cs typeface="Inter" pitchFamily="34" charset="-120"/>
              </a:rPr>
              <a:t>✓</a:t>
            </a:r>
            <a:r>
              <a:rPr lang="en-US" sz="1300" dirty="0">
                <a:solidFill>
                  <a:srgbClr val="1F1E1D"/>
                </a:solidFill>
                <a:latin typeface="Inter" pitchFamily="34" charset="0"/>
                <a:ea typeface="Inter" pitchFamily="34" charset="-122"/>
                <a:cs typeface="Inter" pitchFamily="34" charset="-120"/>
              </a:rPr>
              <a:t> get_ticket called before coding</a:t>
            </a:r>
            <a:endParaRPr lang="en-US" sz="1300" dirty="0"/>
          </a:p>
        </p:txBody>
      </p:sp>
      <p:sp>
        <p:nvSpPr>
          <p:cNvPr id="28" name="Text 26"/>
          <p:cNvSpPr/>
          <p:nvPr/>
        </p:nvSpPr>
        <p:spPr>
          <a:xfrm>
            <a:off x="7696200" y="3550841"/>
            <a:ext cx="353187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2F"/>
                </a:solidFill>
                <a:latin typeface="Inter" pitchFamily="34" charset="0"/>
                <a:ea typeface="Inter" pitchFamily="34" charset="-122"/>
                <a:cs typeface="Inter" pitchFamily="34" charset="-120"/>
              </a:rPr>
              <a:t>✓</a:t>
            </a:r>
            <a:r>
              <a:rPr lang="en-US" sz="1300" dirty="0">
                <a:solidFill>
                  <a:srgbClr val="1F1E1D"/>
                </a:solidFill>
                <a:latin typeface="Inter" pitchFamily="34" charset="0"/>
                <a:ea typeface="Inter" pitchFamily="34" charset="-122"/>
                <a:cs typeface="Inter" pitchFamily="34" charset="-120"/>
              </a:rPr>
              <a:t> Boundary tests pass</a:t>
            </a:r>
            <a:endParaRPr lang="en-US" sz="1300" dirty="0"/>
          </a:p>
        </p:txBody>
      </p:sp>
      <p:sp>
        <p:nvSpPr>
          <p:cNvPr id="29" name="Text 27"/>
          <p:cNvSpPr/>
          <p:nvPr/>
        </p:nvSpPr>
        <p:spPr>
          <a:xfrm>
            <a:off x="7696200" y="3896271"/>
            <a:ext cx="35318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Full steps: Lab Guide, Lab 4</a:t>
            </a:r>
            <a:endParaRPr lang="en-US" sz="1200" dirty="0"/>
          </a:p>
        </p:txBody>
      </p:sp>
      <p:sp>
        <p:nvSpPr>
          <p:cNvPr id="30" name="Text 28"/>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Module 7 · Extending Claude Code</a:t>
            </a:r>
            <a:endParaRPr lang="en-US" sz="1200" dirty="0"/>
          </a:p>
        </p:txBody>
      </p:sp>
      <p:sp>
        <p:nvSpPr>
          <p:cNvPr id="31" name="Text 29"/>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5D59"/>
                </a:solidFill>
                <a:latin typeface="Inter" pitchFamily="34" charset="0"/>
                <a:ea typeface="Inter" pitchFamily="34" charset="-122"/>
                <a:cs typeface="Inter" pitchFamily="34" charset="-120"/>
              </a:rPr>
              <a:t>04 MCP · Live demo</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F1E1D"/>
        </a:solidFill>
        <a:effectLst/>
      </p:bgPr>
    </p:bg>
    <p:spTree>
      <p:nvGrpSpPr>
        <p:cNvPr id="1" name=""/>
        <p:cNvGrpSpPr/>
        <p:nvPr/>
      </p:nvGrpSpPr>
      <p:grpSpPr>
        <a:xfrm>
          <a:off x="0" y="0"/>
          <a:ext cx="0" cy="0"/>
          <a:chOff x="0" y="0"/>
          <a:chExt cx="0" cy="0"/>
        </a:xfrm>
      </p:grpSpPr>
      <p:pic>
        <p:nvPicPr>
          <p:cNvPr id="2" name="Image 0" descr="Decorative starburst"/>
          <p:cNvPicPr>
            <a:picLocks noChangeAspect="1"/>
          </p:cNvPicPr>
          <p:nvPr/>
        </p:nvPicPr>
        <p:blipFill>
          <a:blip r:embed="rId3"/>
          <a:srcRect/>
          <a:stretch/>
        </p:blipFill>
        <p:spPr>
          <a:xfrm>
            <a:off x="8458200" y="1587500"/>
            <a:ext cx="2921000" cy="2921000"/>
          </a:xfrm>
          <a:prstGeom prst="rect">
            <a:avLst/>
          </a:prstGeom>
        </p:spPr>
      </p:pic>
      <p:sp>
        <p:nvSpPr>
          <p:cNvPr id="3" name="Text 0"/>
          <p:cNvSpPr/>
          <p:nvPr/>
        </p:nvSpPr>
        <p:spPr>
          <a:xfrm>
            <a:off x="812800" y="186184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300" dirty="0">
                <a:solidFill>
                  <a:srgbClr val="D97757"/>
                </a:solidFill>
                <a:latin typeface="Inter" pitchFamily="34" charset="0"/>
                <a:ea typeface="Inter" pitchFamily="34" charset="-122"/>
                <a:cs typeface="Inter" pitchFamily="34" charset="-120"/>
              </a:rPr>
              <a:t>MODULE 7 · TOPIC 05</a:t>
            </a:r>
            <a:endParaRPr lang="en-US" sz="1400" dirty="0"/>
          </a:p>
        </p:txBody>
      </p:sp>
      <p:sp>
        <p:nvSpPr>
          <p:cNvPr id="4" name="Text 1"/>
          <p:cNvSpPr/>
          <p:nvPr/>
        </p:nvSpPr>
        <p:spPr>
          <a:xfrm>
            <a:off x="812800" y="2339330"/>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F4F1EA"/>
                </a:solidFill>
                <a:latin typeface="Source Serif 4" pitchFamily="34" charset="0"/>
                <a:ea typeface="Source Serif 4" pitchFamily="34" charset="-122"/>
                <a:cs typeface="Source Serif 4" pitchFamily="34" charset="-120"/>
              </a:rPr>
              <a:t>Plugins</a:t>
            </a:r>
            <a:endParaRPr lang="en-US" sz="8000" dirty="0"/>
          </a:p>
        </p:txBody>
      </p:sp>
      <p:sp>
        <p:nvSpPr>
          <p:cNvPr id="5" name="Text 2"/>
          <p:cNvSpPr/>
          <p:nvPr/>
        </p:nvSpPr>
        <p:spPr>
          <a:xfrm>
            <a:off x="812800" y="3583930"/>
            <a:ext cx="7063740" cy="66546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DB7AB"/>
                </a:solidFill>
                <a:latin typeface="Inter" pitchFamily="34" charset="0"/>
                <a:ea typeface="Inter" pitchFamily="34" charset="-122"/>
                <a:cs typeface="Inter" pitchFamily="34" charset="-120"/>
              </a:rPr>
              <a:t>Installable bundles of skills, subagents, hooks and MCP servers, versioned and distributed through marketplaces.</a:t>
            </a:r>
            <a:endParaRPr lang="en-US" sz="1800" dirty="0"/>
          </a:p>
        </p:txBody>
      </p:sp>
      <p:sp>
        <p:nvSpPr>
          <p:cNvPr id="6" name="Shape 3"/>
          <p:cNvSpPr/>
          <p:nvPr/>
        </p:nvSpPr>
        <p:spPr>
          <a:xfrm>
            <a:off x="812800" y="4452590"/>
            <a:ext cx="2667000" cy="340320"/>
          </a:xfrm>
          <a:prstGeom prst="roundRect">
            <a:avLst>
              <a:gd name="adj" fmla="val 50000"/>
            </a:avLst>
          </a:prstGeom>
          <a:solidFill>
            <a:srgbClr val="D97757"/>
          </a:solidFill>
          <a:ln/>
        </p:spPr>
      </p:sp>
      <p:sp>
        <p:nvSpPr>
          <p:cNvPr id="7" name="Text 4"/>
          <p:cNvSpPr/>
          <p:nvPr/>
        </p:nvSpPr>
        <p:spPr>
          <a:xfrm>
            <a:off x="916686" y="4516090"/>
            <a:ext cx="2459228"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1E1D"/>
                </a:solidFill>
                <a:latin typeface="Inter" pitchFamily="34" charset="0"/>
                <a:ea typeface="Inter" pitchFamily="34" charset="-122"/>
                <a:cs typeface="Inter" pitchFamily="34" charset="-120"/>
              </a:rPr>
              <a:t>Live lab 5 · OHUB-305</a:t>
            </a:r>
            <a:endParaRPr lang="en-US" sz="1200" dirty="0"/>
          </a:p>
        </p:txBody>
      </p:sp>
      <p:sp>
        <p:nvSpPr>
          <p:cNvPr id="8" name="Text 5"/>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DB7AB"/>
                </a:solidFill>
                <a:latin typeface="Inter" pitchFamily="34" charset="0"/>
                <a:ea typeface="Inter" pitchFamily="34" charset="-122"/>
                <a:cs typeface="Inter" pitchFamily="34" charset="-120"/>
              </a:rPr>
              <a:t>Module 7 · Extending Claude Code</a:t>
            </a:r>
            <a:endParaRPr lang="en-US" sz="1200" dirty="0"/>
          </a:p>
        </p:txBody>
      </p:sp>
      <p:sp>
        <p:nvSpPr>
          <p:cNvPr id="9" name="Text 6"/>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DB7AB"/>
                </a:solidFill>
                <a:latin typeface="Inter" pitchFamily="34" charset="0"/>
                <a:ea typeface="Inter" pitchFamily="34" charset="-122"/>
                <a:cs typeface="Inter" pitchFamily="34" charset="-120"/>
              </a:rPr>
              <a:t>05 Plugins</a:t>
            </a:r>
            <a:endParaRPr lang="en-US" sz="1200" dirty="0"/>
          </a:p>
        </p:txBody>
      </p:sp>
      <p:pic>
        <p:nvPicPr>
          <p:cNvPr id="10" name="Picture 9">
            <a:extLst>
              <a:ext uri="{FF2B5EF4-FFF2-40B4-BE49-F238E27FC236}">
                <a16:creationId xmlns:a16="http://schemas.microsoft.com/office/drawing/2014/main" id="{F096B064-AFD1-23DB-B5F1-DB2FAC352AD7}"/>
              </a:ext>
            </a:extLst>
          </p:cNvPr>
          <p:cNvPicPr>
            <a:picLocks noChangeAspect="1"/>
          </p:cNvPicPr>
          <p:nvPr/>
        </p:nvPicPr>
        <p:blipFill>
          <a:blip r:embed="rId4"/>
          <a:stretch>
            <a:fillRect/>
          </a:stretch>
        </p:blipFill>
        <p:spPr>
          <a:xfrm>
            <a:off x="8319198" y="304864"/>
            <a:ext cx="3497759" cy="75476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E1D"/>
                </a:solidFill>
                <a:latin typeface="Source Serif 4" pitchFamily="34" charset="0"/>
                <a:ea typeface="Source Serif 4" pitchFamily="34" charset="-122"/>
                <a:cs typeface="Source Serif 4" pitchFamily="34" charset="-120"/>
              </a:rPr>
              <a:t>Plugins: package and distribute everything</a:t>
            </a:r>
            <a:endParaRPr lang="en-US" sz="3200" dirty="0"/>
          </a:p>
        </p:txBody>
      </p:sp>
      <p:sp>
        <p:nvSpPr>
          <p:cNvPr id="3" name="Shape 1"/>
          <p:cNvSpPr/>
          <p:nvPr/>
        </p:nvSpPr>
        <p:spPr>
          <a:xfrm>
            <a:off x="812800" y="1653530"/>
            <a:ext cx="88900" cy="88900"/>
          </a:xfrm>
          <a:prstGeom prst="roundRect">
            <a:avLst>
              <a:gd name="adj" fmla="val 21429"/>
            </a:avLst>
          </a:prstGeom>
          <a:solidFill>
            <a:srgbClr val="D97757"/>
          </a:solidFill>
          <a:ln/>
        </p:spPr>
      </p:sp>
      <p:sp>
        <p:nvSpPr>
          <p:cNvPr id="4" name="Text 2"/>
          <p:cNvSpPr/>
          <p:nvPr/>
        </p:nvSpPr>
        <p:spPr>
          <a:xfrm>
            <a:off x="1028700" y="1564630"/>
            <a:ext cx="461759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1E1D"/>
                </a:solidFill>
                <a:latin typeface="Inter" pitchFamily="34" charset="0"/>
                <a:ea typeface="Inter" pitchFamily="34" charset="-122"/>
                <a:cs typeface="Inter" pitchFamily="34" charset="-120"/>
              </a:rPr>
              <a:t>A plugin is a directory with a </a:t>
            </a:r>
            <a:r>
              <a:rPr lang="en-US" sz="1400" b="1" dirty="0">
                <a:solidFill>
                  <a:srgbClr val="1F1E1D"/>
                </a:solidFill>
                <a:latin typeface="Inter" pitchFamily="34" charset="0"/>
                <a:ea typeface="Inter" pitchFamily="34" charset="-122"/>
                <a:cs typeface="Inter" pitchFamily="34" charset="-120"/>
              </a:rPr>
              <a:t>.claude-plugin/plugin.json</a:t>
            </a:r>
            <a:r>
              <a:rPr lang="en-US" sz="1400" dirty="0">
                <a:solidFill>
                  <a:srgbClr val="1F1E1D"/>
                </a:solidFill>
                <a:latin typeface="Inter" pitchFamily="34" charset="0"/>
                <a:ea typeface="Inter" pitchFamily="34" charset="-122"/>
                <a:cs typeface="Inter" pitchFamily="34" charset="-120"/>
              </a:rPr>
              <a:t> manifest.</a:t>
            </a:r>
            <a:endParaRPr lang="en-US" sz="1400" dirty="0"/>
          </a:p>
        </p:txBody>
      </p:sp>
      <p:sp>
        <p:nvSpPr>
          <p:cNvPr id="5" name="Shape 3"/>
          <p:cNvSpPr/>
          <p:nvPr/>
        </p:nvSpPr>
        <p:spPr>
          <a:xfrm>
            <a:off x="812800" y="2329111"/>
            <a:ext cx="88900" cy="88900"/>
          </a:xfrm>
          <a:prstGeom prst="roundRect">
            <a:avLst>
              <a:gd name="adj" fmla="val 21429"/>
            </a:avLst>
          </a:prstGeom>
          <a:solidFill>
            <a:srgbClr val="D97757"/>
          </a:solidFill>
          <a:ln/>
        </p:spPr>
      </p:sp>
      <p:sp>
        <p:nvSpPr>
          <p:cNvPr id="6" name="Text 4"/>
          <p:cNvSpPr/>
          <p:nvPr/>
        </p:nvSpPr>
        <p:spPr>
          <a:xfrm>
            <a:off x="1028700" y="2240211"/>
            <a:ext cx="461759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1E1D"/>
                </a:solidFill>
                <a:latin typeface="Inter" pitchFamily="34" charset="0"/>
                <a:ea typeface="Inter" pitchFamily="34" charset="-122"/>
                <a:cs typeface="Inter" pitchFamily="34" charset="-120"/>
              </a:rPr>
              <a:t>Components at the plugin root: </a:t>
            </a:r>
            <a:r>
              <a:rPr lang="en-US" sz="1400" b="1" dirty="0">
                <a:solidFill>
                  <a:srgbClr val="1F1E1D"/>
                </a:solidFill>
                <a:latin typeface="Inter" pitchFamily="34" charset="0"/>
                <a:ea typeface="Inter" pitchFamily="34" charset="-122"/>
                <a:cs typeface="Inter" pitchFamily="34" charset="-120"/>
              </a:rPr>
              <a:t>skills/</a:t>
            </a:r>
            <a:r>
              <a:rPr lang="en-US" sz="1400" dirty="0">
                <a:solidFill>
                  <a:srgbClr val="1F1E1D"/>
                </a:solidFill>
                <a:latin typeface="Inter" pitchFamily="34" charset="0"/>
                <a:ea typeface="Inter" pitchFamily="34" charset="-122"/>
                <a:cs typeface="Inter" pitchFamily="34" charset="-120"/>
              </a:rPr>
              <a:t>, </a:t>
            </a:r>
            <a:r>
              <a:rPr lang="en-US" sz="1400" b="1" dirty="0">
                <a:solidFill>
                  <a:srgbClr val="1F1E1D"/>
                </a:solidFill>
                <a:latin typeface="Inter" pitchFamily="34" charset="0"/>
                <a:ea typeface="Inter" pitchFamily="34" charset="-122"/>
                <a:cs typeface="Inter" pitchFamily="34" charset="-120"/>
              </a:rPr>
              <a:t>agents/</a:t>
            </a:r>
            <a:r>
              <a:rPr lang="en-US" sz="1400" dirty="0">
                <a:solidFill>
                  <a:srgbClr val="1F1E1D"/>
                </a:solidFill>
                <a:latin typeface="Inter" pitchFamily="34" charset="0"/>
                <a:ea typeface="Inter" pitchFamily="34" charset="-122"/>
                <a:cs typeface="Inter" pitchFamily="34" charset="-120"/>
              </a:rPr>
              <a:t>, </a:t>
            </a:r>
            <a:r>
              <a:rPr lang="en-US" sz="1400" b="1" dirty="0">
                <a:solidFill>
                  <a:srgbClr val="1F1E1D"/>
                </a:solidFill>
                <a:latin typeface="Inter" pitchFamily="34" charset="0"/>
                <a:ea typeface="Inter" pitchFamily="34" charset="-122"/>
                <a:cs typeface="Inter" pitchFamily="34" charset="-120"/>
              </a:rPr>
              <a:t>hooks/hooks.json</a:t>
            </a:r>
            <a:r>
              <a:rPr lang="en-US" sz="1400" dirty="0">
                <a:solidFill>
                  <a:srgbClr val="1F1E1D"/>
                </a:solidFill>
                <a:latin typeface="Inter" pitchFamily="34" charset="0"/>
                <a:ea typeface="Inter" pitchFamily="34" charset="-122"/>
                <a:cs typeface="Inter" pitchFamily="34" charset="-120"/>
              </a:rPr>
              <a:t>, </a:t>
            </a:r>
            <a:r>
              <a:rPr lang="en-US" sz="1400" b="1" dirty="0">
                <a:solidFill>
                  <a:srgbClr val="1F1E1D"/>
                </a:solidFill>
                <a:latin typeface="Inter" pitchFamily="34" charset="0"/>
                <a:ea typeface="Inter" pitchFamily="34" charset="-122"/>
                <a:cs typeface="Inter" pitchFamily="34" charset="-120"/>
              </a:rPr>
              <a:t>.mcp.json</a:t>
            </a:r>
            <a:r>
              <a:rPr lang="en-US" sz="1400" dirty="0">
                <a:solidFill>
                  <a:srgbClr val="1F1E1D"/>
                </a:solidFill>
                <a:latin typeface="Inter" pitchFamily="34" charset="0"/>
                <a:ea typeface="Inter" pitchFamily="34" charset="-122"/>
                <a:cs typeface="Inter" pitchFamily="34" charset="-120"/>
              </a:rPr>
              <a:t>.</a:t>
            </a:r>
            <a:endParaRPr lang="en-US" sz="1400" dirty="0"/>
          </a:p>
        </p:txBody>
      </p:sp>
      <p:sp>
        <p:nvSpPr>
          <p:cNvPr id="7" name="Shape 5"/>
          <p:cNvSpPr/>
          <p:nvPr/>
        </p:nvSpPr>
        <p:spPr>
          <a:xfrm>
            <a:off x="812800" y="3004691"/>
            <a:ext cx="88900" cy="88900"/>
          </a:xfrm>
          <a:prstGeom prst="roundRect">
            <a:avLst>
              <a:gd name="adj" fmla="val 21429"/>
            </a:avLst>
          </a:prstGeom>
          <a:solidFill>
            <a:srgbClr val="D97757"/>
          </a:solidFill>
          <a:ln/>
        </p:spPr>
      </p:sp>
      <p:sp>
        <p:nvSpPr>
          <p:cNvPr id="8" name="Text 6"/>
          <p:cNvSpPr/>
          <p:nvPr/>
        </p:nvSpPr>
        <p:spPr>
          <a:xfrm>
            <a:off x="1028700" y="2915791"/>
            <a:ext cx="461759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1E1D"/>
                </a:solidFill>
                <a:latin typeface="Inter" pitchFamily="34" charset="0"/>
                <a:ea typeface="Inter" pitchFamily="34" charset="-122"/>
                <a:cs typeface="Inter" pitchFamily="34" charset="-120"/>
              </a:rPr>
              <a:t>Marketplaces are catalogues (</a:t>
            </a:r>
            <a:r>
              <a:rPr lang="en-US" sz="1400" b="1" dirty="0">
                <a:solidFill>
                  <a:srgbClr val="1F1E1D"/>
                </a:solidFill>
                <a:latin typeface="Inter" pitchFamily="34" charset="0"/>
                <a:ea typeface="Inter" pitchFamily="34" charset="-122"/>
                <a:cs typeface="Inter" pitchFamily="34" charset="-120"/>
              </a:rPr>
              <a:t>marketplace.json</a:t>
            </a:r>
            <a:r>
              <a:rPr lang="en-US" sz="1400" dirty="0">
                <a:solidFill>
                  <a:srgbClr val="1F1E1D"/>
                </a:solidFill>
                <a:latin typeface="Inter" pitchFamily="34" charset="0"/>
                <a:ea typeface="Inter" pitchFamily="34" charset="-122"/>
                <a:cs typeface="Inter" pitchFamily="34" charset="-120"/>
              </a:rPr>
              <a:t>) hosted in a repo or folder.</a:t>
            </a:r>
            <a:endParaRPr lang="en-US" sz="1400" dirty="0"/>
          </a:p>
        </p:txBody>
      </p:sp>
      <p:sp>
        <p:nvSpPr>
          <p:cNvPr id="9" name="Shape 7"/>
          <p:cNvSpPr/>
          <p:nvPr/>
        </p:nvSpPr>
        <p:spPr>
          <a:xfrm>
            <a:off x="812800" y="3680271"/>
            <a:ext cx="88900" cy="88900"/>
          </a:xfrm>
          <a:prstGeom prst="roundRect">
            <a:avLst>
              <a:gd name="adj" fmla="val 21429"/>
            </a:avLst>
          </a:prstGeom>
          <a:solidFill>
            <a:srgbClr val="D97757"/>
          </a:solidFill>
          <a:ln/>
        </p:spPr>
      </p:sp>
      <p:sp>
        <p:nvSpPr>
          <p:cNvPr id="10" name="Text 8"/>
          <p:cNvSpPr/>
          <p:nvPr/>
        </p:nvSpPr>
        <p:spPr>
          <a:xfrm>
            <a:off x="1028700" y="3591371"/>
            <a:ext cx="461759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1E1D"/>
                </a:solidFill>
                <a:latin typeface="Inter" pitchFamily="34" charset="0"/>
                <a:ea typeface="Inter" pitchFamily="34" charset="-122"/>
                <a:cs typeface="Inter" pitchFamily="34" charset="-120"/>
              </a:rPr>
              <a:t>Install with </a:t>
            </a:r>
            <a:r>
              <a:rPr lang="en-US" sz="1400" b="1" dirty="0">
                <a:solidFill>
                  <a:srgbClr val="1F1E1D"/>
                </a:solidFill>
                <a:latin typeface="Inter" pitchFamily="34" charset="0"/>
                <a:ea typeface="Inter" pitchFamily="34" charset="-122"/>
                <a:cs typeface="Inter" pitchFamily="34" charset="-120"/>
              </a:rPr>
              <a:t>/plugin install name@marketplace</a:t>
            </a:r>
            <a:r>
              <a:rPr lang="en-US" sz="1400" dirty="0">
                <a:solidFill>
                  <a:srgbClr val="1F1E1D"/>
                </a:solidFill>
                <a:latin typeface="Inter" pitchFamily="34" charset="0"/>
                <a:ea typeface="Inter" pitchFamily="34" charset="-122"/>
                <a:cs typeface="Inter" pitchFamily="34" charset="-120"/>
              </a:rPr>
              <a:t>. Plugin skills are namespaced.</a:t>
            </a:r>
            <a:endParaRPr lang="en-US" sz="1400" dirty="0"/>
          </a:p>
        </p:txBody>
      </p:sp>
      <p:sp>
        <p:nvSpPr>
          <p:cNvPr id="11" name="Shape 9"/>
          <p:cNvSpPr/>
          <p:nvPr/>
        </p:nvSpPr>
        <p:spPr>
          <a:xfrm>
            <a:off x="5918200" y="1564630"/>
            <a:ext cx="5461000" cy="2811562"/>
          </a:xfrm>
          <a:prstGeom prst="roundRect">
            <a:avLst>
              <a:gd name="adj" fmla="val 3614"/>
            </a:avLst>
          </a:prstGeom>
          <a:solidFill>
            <a:srgbClr val="262524"/>
          </a:solidFill>
          <a:ln/>
        </p:spPr>
      </p:sp>
      <p:sp>
        <p:nvSpPr>
          <p:cNvPr id="12" name="Text 10"/>
          <p:cNvSpPr/>
          <p:nvPr/>
        </p:nvSpPr>
        <p:spPr>
          <a:xfrm>
            <a:off x="6172200" y="1818630"/>
            <a:ext cx="510159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97757"/>
                </a:solidFill>
                <a:latin typeface="JetBrains Mono" pitchFamily="34" charset="0"/>
                <a:ea typeface="JetBrains Mono" pitchFamily="34" charset="-122"/>
                <a:cs typeface="JetBrains Mono" pitchFamily="34" charset="-120"/>
              </a:rPr>
              <a:t>Plugin layout + install</a:t>
            </a:r>
            <a:endParaRPr lang="en-US" sz="1200" dirty="0"/>
          </a:p>
        </p:txBody>
      </p:sp>
      <p:sp>
        <p:nvSpPr>
          <p:cNvPr id="13" name="Text 11"/>
          <p:cNvSpPr/>
          <p:nvPr/>
        </p:nvSpPr>
        <p:spPr>
          <a:xfrm>
            <a:off x="6172200" y="2133550"/>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acme-eng-toolkit/</a:t>
            </a:r>
            <a:endParaRPr lang="en-US" sz="1200" dirty="0"/>
          </a:p>
        </p:txBody>
      </p:sp>
      <p:sp>
        <p:nvSpPr>
          <p:cNvPr id="14" name="Text 12"/>
          <p:cNvSpPr/>
          <p:nvPr/>
        </p:nvSpPr>
        <p:spPr>
          <a:xfrm>
            <a:off x="6172200" y="235451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.claude-plugin/plugin.json</a:t>
            </a:r>
            <a:endParaRPr lang="en-US" sz="1200" dirty="0"/>
          </a:p>
        </p:txBody>
      </p:sp>
      <p:sp>
        <p:nvSpPr>
          <p:cNvPr id="15" name="Text 13"/>
          <p:cNvSpPr/>
          <p:nvPr/>
        </p:nvSpPr>
        <p:spPr>
          <a:xfrm>
            <a:off x="6172200" y="257547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skills/release-notes/SKILL.md</a:t>
            </a:r>
            <a:endParaRPr lang="en-US" sz="1200" dirty="0"/>
          </a:p>
        </p:txBody>
      </p:sp>
      <p:sp>
        <p:nvSpPr>
          <p:cNvPr id="16" name="Text 14"/>
          <p:cNvSpPr/>
          <p:nvPr/>
        </p:nvSpPr>
        <p:spPr>
          <a:xfrm>
            <a:off x="6172200" y="279643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agents/security-reviewer.md</a:t>
            </a:r>
            <a:endParaRPr lang="en-US" sz="1200" dirty="0"/>
          </a:p>
        </p:txBody>
      </p:sp>
      <p:sp>
        <p:nvSpPr>
          <p:cNvPr id="17" name="Text 15"/>
          <p:cNvSpPr/>
          <p:nvPr/>
        </p:nvSpPr>
        <p:spPr>
          <a:xfrm>
            <a:off x="6172200" y="301739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hooks/hooks.json</a:t>
            </a:r>
            <a:endParaRPr lang="en-US" sz="1200" dirty="0"/>
          </a:p>
        </p:txBody>
      </p:sp>
      <p:sp>
        <p:nvSpPr>
          <p:cNvPr id="18" name="Text 16"/>
          <p:cNvSpPr/>
          <p:nvPr/>
        </p:nvSpPr>
        <p:spPr>
          <a:xfrm>
            <a:off x="6172200" y="323835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 .mcp.json</a:t>
            </a:r>
            <a:endParaRPr lang="en-US" sz="1200" dirty="0"/>
          </a:p>
        </p:txBody>
      </p:sp>
      <p:sp>
        <p:nvSpPr>
          <p:cNvPr id="19" name="Text 17"/>
          <p:cNvSpPr/>
          <p:nvPr/>
        </p:nvSpPr>
        <p:spPr>
          <a:xfrm>
            <a:off x="6172200" y="3680271"/>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/plugin marketplace add ../acme-marketplace</a:t>
            </a:r>
            <a:endParaRPr lang="en-US" sz="1200" dirty="0"/>
          </a:p>
        </p:txBody>
      </p:sp>
      <p:sp>
        <p:nvSpPr>
          <p:cNvPr id="20" name="Text 18"/>
          <p:cNvSpPr/>
          <p:nvPr/>
        </p:nvSpPr>
        <p:spPr>
          <a:xfrm>
            <a:off x="6172200" y="3901232"/>
            <a:ext cx="5101590" cy="246360"/>
          </a:xfrm>
          <a:prstGeom prst="rect">
            <a:avLst/>
          </a:prstGeom>
          <a:noFill/>
          <a:ln/>
        </p:spPr>
        <p:txBody>
          <a:bodyPr wrap="none" lIns="0" tIns="0" rIns="0" bIns="0" rtlCol="0" anchor="t">
            <a:normAutofit/>
          </a:bodyPr>
          <a:lstStyle/>
          <a:p>
            <a:pPr marL="0" indent="0" algn="l">
              <a:lnSpc>
                <a:spcPts val="1740"/>
              </a:lnSpc>
              <a:buNone/>
            </a:pPr>
            <a:r>
              <a:rPr lang="en-US" sz="1200" dirty="0">
                <a:solidFill>
                  <a:srgbClr val="F4F1EA"/>
                </a:solidFill>
                <a:latin typeface="JetBrains Mono" pitchFamily="34" charset="0"/>
                <a:ea typeface="JetBrains Mono" pitchFamily="34" charset="-122"/>
                <a:cs typeface="JetBrains Mono" pitchFamily="34" charset="-120"/>
              </a:rPr>
              <a:t>/plugin install acme-eng-toolkit@acme-internal</a:t>
            </a:r>
            <a:endParaRPr lang="en-US" sz="1200" dirty="0"/>
          </a:p>
        </p:txBody>
      </p:sp>
      <p:sp>
        <p:nvSpPr>
          <p:cNvPr id="21" name="Text 1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Module 7 · Extending Claude Code</a:t>
            </a:r>
            <a:endParaRPr lang="en-US" sz="1200" dirty="0"/>
          </a:p>
        </p:txBody>
      </p:sp>
      <p:sp>
        <p:nvSpPr>
          <p:cNvPr id="22" name="Text 20"/>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5D59"/>
                </a:solidFill>
                <a:latin typeface="Inter" pitchFamily="34" charset="0"/>
                <a:ea typeface="Inter" pitchFamily="34" charset="-122"/>
                <a:cs typeface="Inter" pitchFamily="34" charset="-120"/>
              </a:rPr>
              <a:t>05 Plugins · Concept</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0EE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E1D"/>
                </a:solidFill>
                <a:latin typeface="Source Serif 4" pitchFamily="34" charset="0"/>
                <a:ea typeface="Source Serif 4" pitchFamily="34" charset="-122"/>
                <a:cs typeface="Source Serif 4" pitchFamily="34" charset="-120"/>
              </a:rPr>
              <a:t>Plugins in practice with Claude Code</a:t>
            </a:r>
            <a:endParaRPr lang="en-US" sz="3200" dirty="0"/>
          </a:p>
        </p:txBody>
      </p:sp>
      <p:sp>
        <p:nvSpPr>
          <p:cNvPr id="3" name="Shape 1"/>
          <p:cNvSpPr/>
          <p:nvPr/>
        </p:nvSpPr>
        <p:spPr>
          <a:xfrm>
            <a:off x="815975" y="1567805"/>
            <a:ext cx="3380284" cy="4271020"/>
          </a:xfrm>
          <a:prstGeom prst="roundRect">
            <a:avLst>
              <a:gd name="adj" fmla="val 2912"/>
            </a:avLst>
          </a:prstGeom>
          <a:solidFill>
            <a:srgbClr val="FAF9F5"/>
          </a:solidFill>
          <a:ln w="6350">
            <a:solidFill>
              <a:srgbClr val="DEDBD2"/>
            </a:solidFill>
            <a:prstDash val="solid"/>
          </a:ln>
        </p:spPr>
      </p:sp>
      <p:sp>
        <p:nvSpPr>
          <p:cNvPr id="4" name="Text 2"/>
          <p:cNvSpPr/>
          <p:nvPr/>
        </p:nvSpPr>
        <p:spPr>
          <a:xfrm>
            <a:off x="1073150" y="1824980"/>
            <a:ext cx="295191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2F"/>
                </a:solidFill>
                <a:latin typeface="Inter" pitchFamily="34" charset="0"/>
                <a:ea typeface="Inter" pitchFamily="34" charset="-122"/>
                <a:cs typeface="Inter" pitchFamily="34" charset="-120"/>
              </a:rPr>
              <a:t>EXAMPLE 1</a:t>
            </a:r>
            <a:endParaRPr lang="en-US" sz="1200" dirty="0"/>
          </a:p>
        </p:txBody>
      </p:sp>
      <p:sp>
        <p:nvSpPr>
          <p:cNvPr id="5" name="Text 3"/>
          <p:cNvSpPr/>
          <p:nvPr/>
        </p:nvSpPr>
        <p:spPr>
          <a:xfrm>
            <a:off x="1073150" y="2165300"/>
            <a:ext cx="295191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1E1D"/>
                </a:solidFill>
                <a:latin typeface="Source Serif 4" pitchFamily="34" charset="0"/>
                <a:ea typeface="Source Serif 4" pitchFamily="34" charset="-122"/>
                <a:cs typeface="Source Serif 4" pitchFamily="34" charset="-120"/>
              </a:rPr>
              <a:t>Engineering toolkit</a:t>
            </a:r>
            <a:endParaRPr lang="en-US" sz="1800" dirty="0"/>
          </a:p>
        </p:txBody>
      </p:sp>
      <p:sp>
        <p:nvSpPr>
          <p:cNvPr id="6" name="Text 4"/>
          <p:cNvSpPr/>
          <p:nvPr/>
        </p:nvSpPr>
        <p:spPr>
          <a:xfrm>
            <a:off x="1073150" y="2566591"/>
            <a:ext cx="2951912" cy="98286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5E5D59"/>
                </a:solidFill>
                <a:latin typeface="Inter" pitchFamily="34" charset="0"/>
                <a:ea typeface="Inter" pitchFamily="34" charset="-122"/>
                <a:cs typeface="Inter" pitchFamily="34" charset="-120"/>
              </a:rPr>
              <a:t>Bundles the release-notes skill, security-reviewer agent and ticket-desk server, so any repo gets all three in one install.</a:t>
            </a:r>
            <a:endParaRPr lang="en-US" sz="1300" dirty="0"/>
          </a:p>
        </p:txBody>
      </p:sp>
      <p:sp>
        <p:nvSpPr>
          <p:cNvPr id="7" name="Shape 5"/>
          <p:cNvSpPr/>
          <p:nvPr/>
        </p:nvSpPr>
        <p:spPr>
          <a:xfrm>
            <a:off x="1073150" y="5002609"/>
            <a:ext cx="2865934" cy="579041"/>
          </a:xfrm>
          <a:prstGeom prst="roundRect">
            <a:avLst>
              <a:gd name="adj" fmla="val 8773"/>
            </a:avLst>
          </a:prstGeom>
          <a:solidFill>
            <a:srgbClr val="1F1E1D"/>
          </a:solidFill>
          <a:ln/>
        </p:spPr>
      </p:sp>
      <p:sp>
        <p:nvSpPr>
          <p:cNvPr id="8" name="Text 6"/>
          <p:cNvSpPr/>
          <p:nvPr/>
        </p:nvSpPr>
        <p:spPr>
          <a:xfrm>
            <a:off x="1187450" y="5078809"/>
            <a:ext cx="271645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1EA"/>
                </a:solidFill>
                <a:latin typeface="JetBrains Mono" pitchFamily="34" charset="0"/>
                <a:ea typeface="JetBrains Mono" pitchFamily="34" charset="-122"/>
                <a:cs typeface="JetBrains Mono" pitchFamily="34" charset="-120"/>
              </a:rPr>
              <a:t>/acme-eng-toolkit:release-notes</a:t>
            </a:r>
            <a:endParaRPr lang="en-US" sz="1200" dirty="0"/>
          </a:p>
        </p:txBody>
      </p:sp>
      <p:sp>
        <p:nvSpPr>
          <p:cNvPr id="9" name="Shape 7"/>
          <p:cNvSpPr/>
          <p:nvPr/>
        </p:nvSpPr>
        <p:spPr>
          <a:xfrm>
            <a:off x="4405809" y="1567805"/>
            <a:ext cx="3380333" cy="4271020"/>
          </a:xfrm>
          <a:prstGeom prst="roundRect">
            <a:avLst>
              <a:gd name="adj" fmla="val 2912"/>
            </a:avLst>
          </a:prstGeom>
          <a:solidFill>
            <a:srgbClr val="FAF9F5"/>
          </a:solidFill>
          <a:ln w="6350">
            <a:solidFill>
              <a:srgbClr val="DEDBD2"/>
            </a:solidFill>
            <a:prstDash val="solid"/>
          </a:ln>
        </p:spPr>
      </p:sp>
      <p:sp>
        <p:nvSpPr>
          <p:cNvPr id="10" name="Text 8"/>
          <p:cNvSpPr/>
          <p:nvPr/>
        </p:nvSpPr>
        <p:spPr>
          <a:xfrm>
            <a:off x="4662984" y="1824980"/>
            <a:ext cx="295196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2F"/>
                </a:solidFill>
                <a:latin typeface="Inter" pitchFamily="34" charset="0"/>
                <a:ea typeface="Inter" pitchFamily="34" charset="-122"/>
                <a:cs typeface="Inter" pitchFamily="34" charset="-120"/>
              </a:rPr>
              <a:t>EXAMPLE 2</a:t>
            </a:r>
            <a:endParaRPr lang="en-US" sz="1200" dirty="0"/>
          </a:p>
        </p:txBody>
      </p:sp>
      <p:sp>
        <p:nvSpPr>
          <p:cNvPr id="11" name="Text 9"/>
          <p:cNvSpPr/>
          <p:nvPr/>
        </p:nvSpPr>
        <p:spPr>
          <a:xfrm>
            <a:off x="4662984" y="2165300"/>
            <a:ext cx="29519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1E1D"/>
                </a:solidFill>
                <a:latin typeface="Source Serif 4" pitchFamily="34" charset="0"/>
                <a:ea typeface="Source Serif 4" pitchFamily="34" charset="-122"/>
                <a:cs typeface="Source Serif 4" pitchFamily="34" charset="-120"/>
              </a:rPr>
              <a:t>Quality hooks</a:t>
            </a:r>
            <a:endParaRPr lang="en-US" sz="1800" dirty="0"/>
          </a:p>
        </p:txBody>
      </p:sp>
      <p:sp>
        <p:nvSpPr>
          <p:cNvPr id="12" name="Text 10"/>
          <p:cNvSpPr/>
          <p:nvPr/>
        </p:nvSpPr>
        <p:spPr>
          <a:xfrm>
            <a:off x="4662984" y="2566591"/>
            <a:ext cx="2951963" cy="74349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5E5D59"/>
                </a:solidFill>
                <a:latin typeface="Inter" pitchFamily="34" charset="0"/>
                <a:ea typeface="Inter" pitchFamily="34" charset="-122"/>
                <a:cs typeface="Inter" pitchFamily="34" charset="-120"/>
              </a:rPr>
              <a:t>A hook plugin runs the formatter after every edit and blocks writes to protected paths, for every user.</a:t>
            </a:r>
            <a:endParaRPr lang="en-US" sz="1300" dirty="0"/>
          </a:p>
        </p:txBody>
      </p:sp>
      <p:sp>
        <p:nvSpPr>
          <p:cNvPr id="13" name="Shape 11"/>
          <p:cNvSpPr/>
          <p:nvPr/>
        </p:nvSpPr>
        <p:spPr>
          <a:xfrm>
            <a:off x="4662984" y="5215930"/>
            <a:ext cx="2865983" cy="365720"/>
          </a:xfrm>
          <a:prstGeom prst="roundRect">
            <a:avLst>
              <a:gd name="adj" fmla="val 13890"/>
            </a:avLst>
          </a:prstGeom>
          <a:solidFill>
            <a:srgbClr val="1F1E1D"/>
          </a:solidFill>
          <a:ln/>
        </p:spPr>
      </p:sp>
      <p:sp>
        <p:nvSpPr>
          <p:cNvPr id="14" name="Text 12"/>
          <p:cNvSpPr/>
          <p:nvPr/>
        </p:nvSpPr>
        <p:spPr>
          <a:xfrm>
            <a:off x="4777284" y="5292130"/>
            <a:ext cx="271650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1EA"/>
                </a:solidFill>
                <a:latin typeface="JetBrains Mono" pitchFamily="34" charset="0"/>
                <a:ea typeface="JetBrains Mono" pitchFamily="34" charset="-122"/>
                <a:cs typeface="JetBrains Mono" pitchFamily="34" charset="-120"/>
              </a:rPr>
              <a:t>PostToolUse → run formatter</a:t>
            </a:r>
            <a:endParaRPr lang="en-US" sz="1200" dirty="0"/>
          </a:p>
        </p:txBody>
      </p:sp>
      <p:sp>
        <p:nvSpPr>
          <p:cNvPr id="15" name="Shape 13"/>
          <p:cNvSpPr/>
          <p:nvPr/>
        </p:nvSpPr>
        <p:spPr>
          <a:xfrm>
            <a:off x="7995692" y="1567805"/>
            <a:ext cx="3380333" cy="4271020"/>
          </a:xfrm>
          <a:prstGeom prst="roundRect">
            <a:avLst>
              <a:gd name="adj" fmla="val 2912"/>
            </a:avLst>
          </a:prstGeom>
          <a:solidFill>
            <a:srgbClr val="FAF9F5"/>
          </a:solidFill>
          <a:ln w="6350">
            <a:solidFill>
              <a:srgbClr val="DEDBD2"/>
            </a:solidFill>
            <a:prstDash val="solid"/>
          </a:ln>
        </p:spPr>
      </p:sp>
      <p:sp>
        <p:nvSpPr>
          <p:cNvPr id="16" name="Text 14"/>
          <p:cNvSpPr/>
          <p:nvPr/>
        </p:nvSpPr>
        <p:spPr>
          <a:xfrm>
            <a:off x="8252867" y="1824980"/>
            <a:ext cx="295196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2F"/>
                </a:solidFill>
                <a:latin typeface="Inter" pitchFamily="34" charset="0"/>
                <a:ea typeface="Inter" pitchFamily="34" charset="-122"/>
                <a:cs typeface="Inter" pitchFamily="34" charset="-120"/>
              </a:rPr>
              <a:t>EXAMPLE 3</a:t>
            </a:r>
            <a:endParaRPr lang="en-US" sz="1200" dirty="0"/>
          </a:p>
        </p:txBody>
      </p:sp>
      <p:sp>
        <p:nvSpPr>
          <p:cNvPr id="17" name="Text 15"/>
          <p:cNvSpPr/>
          <p:nvPr/>
        </p:nvSpPr>
        <p:spPr>
          <a:xfrm>
            <a:off x="8252867" y="2165300"/>
            <a:ext cx="2951963" cy="57398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1E1D"/>
                </a:solidFill>
                <a:latin typeface="Source Serif 4" pitchFamily="34" charset="0"/>
                <a:ea typeface="Source Serif 4" pitchFamily="34" charset="-122"/>
                <a:cs typeface="Source Serif 4" pitchFamily="34" charset="-120"/>
              </a:rPr>
              <a:t>Organisation marketplace</a:t>
            </a:r>
            <a:endParaRPr lang="en-US" sz="1800" dirty="0"/>
          </a:p>
        </p:txBody>
      </p:sp>
      <p:sp>
        <p:nvSpPr>
          <p:cNvPr id="18" name="Text 16"/>
          <p:cNvSpPr/>
          <p:nvPr/>
        </p:nvSpPr>
        <p:spPr>
          <a:xfrm>
            <a:off x="8252867" y="2840881"/>
            <a:ext cx="2951963" cy="74349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5E5D59"/>
                </a:solidFill>
                <a:latin typeface="Inter" pitchFamily="34" charset="0"/>
                <a:ea typeface="Inter" pitchFamily="34" charset="-122"/>
                <a:cs typeface="Inter" pitchFamily="34" charset="-120"/>
              </a:rPr>
              <a:t>The platform team hosts an internal marketplace; repos enable approved plugins in .claude/settings.json.</a:t>
            </a:r>
            <a:endParaRPr lang="en-US" sz="1300" dirty="0"/>
          </a:p>
        </p:txBody>
      </p:sp>
      <p:sp>
        <p:nvSpPr>
          <p:cNvPr id="19" name="Shape 17"/>
          <p:cNvSpPr/>
          <p:nvPr/>
        </p:nvSpPr>
        <p:spPr>
          <a:xfrm>
            <a:off x="8252867" y="5215930"/>
            <a:ext cx="2865983" cy="365720"/>
          </a:xfrm>
          <a:prstGeom prst="roundRect">
            <a:avLst>
              <a:gd name="adj" fmla="val 13890"/>
            </a:avLst>
          </a:prstGeom>
          <a:solidFill>
            <a:srgbClr val="1F1E1D"/>
          </a:solidFill>
          <a:ln/>
        </p:spPr>
      </p:sp>
      <p:sp>
        <p:nvSpPr>
          <p:cNvPr id="20" name="Text 18"/>
          <p:cNvSpPr/>
          <p:nvPr/>
        </p:nvSpPr>
        <p:spPr>
          <a:xfrm>
            <a:off x="8367167" y="5292130"/>
            <a:ext cx="271650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1EA"/>
                </a:solidFill>
                <a:latin typeface="JetBrains Mono" pitchFamily="34" charset="0"/>
                <a:ea typeface="JetBrains Mono" pitchFamily="34" charset="-122"/>
                <a:cs typeface="JetBrains Mono" pitchFamily="34" charset="-120"/>
              </a:rPr>
              <a:t>enabledPlugins: { … }</a:t>
            </a:r>
            <a:endParaRPr lang="en-US" sz="1200" dirty="0"/>
          </a:p>
        </p:txBody>
      </p:sp>
      <p:sp>
        <p:nvSpPr>
          <p:cNvPr id="21" name="Text 1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Module 7 · Extending Claude Code</a:t>
            </a:r>
            <a:endParaRPr lang="en-US" sz="1200" dirty="0"/>
          </a:p>
        </p:txBody>
      </p:sp>
      <p:sp>
        <p:nvSpPr>
          <p:cNvPr id="22" name="Text 20"/>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5D59"/>
                </a:solidFill>
                <a:latin typeface="Inter" pitchFamily="34" charset="0"/>
                <a:ea typeface="Inter" pitchFamily="34" charset="-122"/>
                <a:cs typeface="Inter" pitchFamily="34" charset="-120"/>
              </a:rPr>
              <a:t>05 Plugins · Examples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E1D"/>
                </a:solidFill>
                <a:latin typeface="Source Serif 4" pitchFamily="34" charset="0"/>
                <a:ea typeface="Source Serif 4" pitchFamily="34" charset="-122"/>
                <a:cs typeface="Source Serif 4" pitchFamily="34" charset="-120"/>
              </a:rPr>
              <a:t>Use case: one toolkit for 12 repositories</a:t>
            </a:r>
            <a:endParaRPr lang="en-US" sz="3200" dirty="0"/>
          </a:p>
        </p:txBody>
      </p:sp>
      <p:sp>
        <p:nvSpPr>
          <p:cNvPr id="3" name="Shape 1"/>
          <p:cNvSpPr/>
          <p:nvPr/>
        </p:nvSpPr>
        <p:spPr>
          <a:xfrm>
            <a:off x="812800" y="1564630"/>
            <a:ext cx="4318000" cy="4277370"/>
          </a:xfrm>
          <a:prstGeom prst="roundRect">
            <a:avLst>
              <a:gd name="adj" fmla="val 2375"/>
            </a:avLst>
          </a:prstGeom>
          <a:solidFill>
            <a:srgbClr val="1F1E1D"/>
          </a:solidFill>
          <a:ln/>
        </p:spPr>
      </p:sp>
      <p:sp>
        <p:nvSpPr>
          <p:cNvPr id="4" name="Text 2"/>
          <p:cNvSpPr/>
          <p:nvPr/>
        </p:nvSpPr>
        <p:spPr>
          <a:xfrm>
            <a:off x="1117600" y="1869430"/>
            <a:ext cx="381965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97757"/>
                </a:solidFill>
                <a:latin typeface="Inter" pitchFamily="34" charset="0"/>
                <a:ea typeface="Inter" pitchFamily="34" charset="-122"/>
                <a:cs typeface="Inter" pitchFamily="34" charset="-120"/>
              </a:rPr>
              <a:t>THE PROBLEM</a:t>
            </a:r>
            <a:endParaRPr lang="en-US" sz="1200" dirty="0"/>
          </a:p>
        </p:txBody>
      </p:sp>
      <p:sp>
        <p:nvSpPr>
          <p:cNvPr id="5" name="Text 3"/>
          <p:cNvSpPr/>
          <p:nvPr/>
        </p:nvSpPr>
        <p:spPr>
          <a:xfrm>
            <a:off x="1117600" y="2260550"/>
            <a:ext cx="3819652" cy="1536502"/>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F4F1EA"/>
                </a:solidFill>
                <a:latin typeface="Source Serif 4" pitchFamily="34" charset="0"/>
                <a:ea typeface="Source Serif 4" pitchFamily="34" charset="-122"/>
                <a:cs typeface="Source Serif 4" pitchFamily="34" charset="-120"/>
              </a:rPr>
              <a:t>Twelve repos need the same skills, agents and connections. Copying .claude/ folders between them has already caused version drift and inconsistent reviews.</a:t>
            </a:r>
            <a:endParaRPr lang="en-US" sz="1700" dirty="0"/>
          </a:p>
        </p:txBody>
      </p:sp>
      <p:sp>
        <p:nvSpPr>
          <p:cNvPr id="6" name="Text 4"/>
          <p:cNvSpPr/>
          <p:nvPr/>
        </p:nvSpPr>
        <p:spPr>
          <a:xfrm>
            <a:off x="1117600" y="5110559"/>
            <a:ext cx="381965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DB7AB"/>
                </a:solidFill>
                <a:latin typeface="Inter" pitchFamily="34" charset="0"/>
                <a:ea typeface="Inter" pitchFamily="34" charset="-122"/>
                <a:cs typeface="Inter" pitchFamily="34" charset="-120"/>
              </a:rPr>
              <a:t>Requested by: Head of Platform Engineering · OHUB-305</a:t>
            </a:r>
            <a:endParaRPr lang="en-US" sz="1200" dirty="0"/>
          </a:p>
        </p:txBody>
      </p:sp>
      <p:sp>
        <p:nvSpPr>
          <p:cNvPr id="7" name="Text 5"/>
          <p:cNvSpPr/>
          <p:nvPr/>
        </p:nvSpPr>
        <p:spPr>
          <a:xfrm>
            <a:off x="5537200" y="1564630"/>
            <a:ext cx="601726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B4532F"/>
                </a:solidFill>
                <a:latin typeface="Source Serif 4" pitchFamily="34" charset="0"/>
                <a:ea typeface="Source Serif 4" pitchFamily="34" charset="-122"/>
                <a:cs typeface="Source Serif 4" pitchFamily="34" charset="-120"/>
              </a:rPr>
              <a:t>Why we need it</a:t>
            </a:r>
            <a:endParaRPr lang="en-US" sz="2000" dirty="0"/>
          </a:p>
        </p:txBody>
      </p:sp>
      <p:sp>
        <p:nvSpPr>
          <p:cNvPr id="8" name="Shape 6"/>
          <p:cNvSpPr/>
          <p:nvPr/>
        </p:nvSpPr>
        <p:spPr>
          <a:xfrm>
            <a:off x="5537200" y="2136130"/>
            <a:ext cx="88900" cy="88900"/>
          </a:xfrm>
          <a:prstGeom prst="roundRect">
            <a:avLst>
              <a:gd name="adj" fmla="val 21429"/>
            </a:avLst>
          </a:prstGeom>
          <a:solidFill>
            <a:srgbClr val="D97757"/>
          </a:solidFill>
          <a:ln/>
        </p:spPr>
      </p:sp>
      <p:sp>
        <p:nvSpPr>
          <p:cNvPr id="9" name="Text 7"/>
          <p:cNvSpPr/>
          <p:nvPr/>
        </p:nvSpPr>
        <p:spPr>
          <a:xfrm>
            <a:off x="5753100" y="2047230"/>
            <a:ext cx="5777254"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One install:</a:t>
            </a:r>
            <a:r>
              <a:rPr lang="en-US" sz="1400" dirty="0">
                <a:solidFill>
                  <a:srgbClr val="1F1E1D"/>
                </a:solidFill>
                <a:latin typeface="Inter" pitchFamily="34" charset="0"/>
                <a:ea typeface="Inter" pitchFamily="34" charset="-122"/>
                <a:cs typeface="Inter" pitchFamily="34" charset="-120"/>
              </a:rPr>
              <a:t> every component arrives together and works together.</a:t>
            </a:r>
            <a:endParaRPr lang="en-US" sz="1400" dirty="0"/>
          </a:p>
        </p:txBody>
      </p:sp>
      <p:sp>
        <p:nvSpPr>
          <p:cNvPr id="10" name="Shape 8"/>
          <p:cNvSpPr/>
          <p:nvPr/>
        </p:nvSpPr>
        <p:spPr>
          <a:xfrm>
            <a:off x="5537200" y="2524720"/>
            <a:ext cx="88900" cy="88900"/>
          </a:xfrm>
          <a:prstGeom prst="roundRect">
            <a:avLst>
              <a:gd name="adj" fmla="val 21429"/>
            </a:avLst>
          </a:prstGeom>
          <a:solidFill>
            <a:srgbClr val="D97757"/>
          </a:solidFill>
          <a:ln/>
        </p:spPr>
      </p:sp>
      <p:sp>
        <p:nvSpPr>
          <p:cNvPr id="11" name="Text 9"/>
          <p:cNvSpPr/>
          <p:nvPr/>
        </p:nvSpPr>
        <p:spPr>
          <a:xfrm>
            <a:off x="5753100" y="2435820"/>
            <a:ext cx="5711441"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Versioned:</a:t>
            </a:r>
            <a:r>
              <a:rPr lang="en-US" sz="1400" dirty="0">
                <a:solidFill>
                  <a:srgbClr val="1F1E1D"/>
                </a:solidFill>
                <a:latin typeface="Inter" pitchFamily="34" charset="0"/>
                <a:ea typeface="Inter" pitchFamily="34" charset="-122"/>
                <a:cs typeface="Inter" pitchFamily="34" charset="-120"/>
              </a:rPr>
              <a:t> roll out, update and roll back through the marketplace.</a:t>
            </a:r>
            <a:endParaRPr lang="en-US" sz="1400" dirty="0"/>
          </a:p>
        </p:txBody>
      </p:sp>
      <p:sp>
        <p:nvSpPr>
          <p:cNvPr id="12" name="Shape 10"/>
          <p:cNvSpPr/>
          <p:nvPr/>
        </p:nvSpPr>
        <p:spPr>
          <a:xfrm>
            <a:off x="5537200" y="2913311"/>
            <a:ext cx="88900" cy="88900"/>
          </a:xfrm>
          <a:prstGeom prst="roundRect">
            <a:avLst>
              <a:gd name="adj" fmla="val 21429"/>
            </a:avLst>
          </a:prstGeom>
          <a:solidFill>
            <a:srgbClr val="D97757"/>
          </a:solidFill>
          <a:ln/>
        </p:spPr>
      </p:sp>
      <p:sp>
        <p:nvSpPr>
          <p:cNvPr id="13" name="Text 11"/>
          <p:cNvSpPr/>
          <p:nvPr/>
        </p:nvSpPr>
        <p:spPr>
          <a:xfrm>
            <a:off x="5753100" y="2824411"/>
            <a:ext cx="5008694"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Auto-enabled:</a:t>
            </a:r>
            <a:r>
              <a:rPr lang="en-US" sz="1400" dirty="0">
                <a:solidFill>
                  <a:srgbClr val="1F1E1D"/>
                </a:solidFill>
                <a:latin typeface="Inter" pitchFamily="34" charset="0"/>
                <a:ea typeface="Inter" pitchFamily="34" charset="-122"/>
                <a:cs typeface="Inter" pitchFamily="34" charset="-120"/>
              </a:rPr>
              <a:t> repo settings prompt new clones to install.</a:t>
            </a:r>
            <a:endParaRPr lang="en-US" sz="1400" dirty="0"/>
          </a:p>
        </p:txBody>
      </p:sp>
      <p:sp>
        <p:nvSpPr>
          <p:cNvPr id="14" name="Shape 12"/>
          <p:cNvSpPr/>
          <p:nvPr/>
        </p:nvSpPr>
        <p:spPr>
          <a:xfrm>
            <a:off x="5537200" y="3301901"/>
            <a:ext cx="88900" cy="88900"/>
          </a:xfrm>
          <a:prstGeom prst="roundRect">
            <a:avLst>
              <a:gd name="adj" fmla="val 21429"/>
            </a:avLst>
          </a:prstGeom>
          <a:solidFill>
            <a:srgbClr val="D97757"/>
          </a:solidFill>
          <a:ln/>
        </p:spPr>
      </p:sp>
      <p:sp>
        <p:nvSpPr>
          <p:cNvPr id="15" name="Text 13"/>
          <p:cNvSpPr/>
          <p:nvPr/>
        </p:nvSpPr>
        <p:spPr>
          <a:xfrm>
            <a:off x="5753100" y="3213001"/>
            <a:ext cx="556959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Namespaced:</a:t>
            </a:r>
            <a:r>
              <a:rPr lang="en-US" sz="1400" dirty="0">
                <a:solidFill>
                  <a:srgbClr val="1F1E1D"/>
                </a:solidFill>
                <a:latin typeface="Inter" pitchFamily="34" charset="0"/>
                <a:ea typeface="Inter" pitchFamily="34" charset="-122"/>
                <a:cs typeface="Inter" pitchFamily="34" charset="-120"/>
              </a:rPr>
              <a:t> no clashes between teams' skills and commands.</a:t>
            </a:r>
            <a:endParaRPr lang="en-US" sz="1400" dirty="0"/>
          </a:p>
        </p:txBody>
      </p:sp>
      <p:sp>
        <p:nvSpPr>
          <p:cNvPr id="16" name="Shape 14"/>
          <p:cNvSpPr/>
          <p:nvPr/>
        </p:nvSpPr>
        <p:spPr>
          <a:xfrm>
            <a:off x="5537200" y="3690491"/>
            <a:ext cx="88900" cy="88900"/>
          </a:xfrm>
          <a:prstGeom prst="roundRect">
            <a:avLst>
              <a:gd name="adj" fmla="val 21429"/>
            </a:avLst>
          </a:prstGeom>
          <a:solidFill>
            <a:srgbClr val="D97757"/>
          </a:solidFill>
          <a:ln/>
        </p:spPr>
      </p:sp>
      <p:sp>
        <p:nvSpPr>
          <p:cNvPr id="17" name="Text 15"/>
          <p:cNvSpPr/>
          <p:nvPr/>
        </p:nvSpPr>
        <p:spPr>
          <a:xfrm>
            <a:off x="5753100" y="3601591"/>
            <a:ext cx="515059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E1D"/>
                </a:solidFill>
                <a:latin typeface="Inter" pitchFamily="34" charset="0"/>
                <a:ea typeface="Inter" pitchFamily="34" charset="-122"/>
                <a:cs typeface="Inter" pitchFamily="34" charset="-120"/>
              </a:rPr>
              <a:t>Governed:</a:t>
            </a:r>
            <a:r>
              <a:rPr lang="en-US" sz="1400" dirty="0">
                <a:solidFill>
                  <a:srgbClr val="1F1E1D"/>
                </a:solidFill>
                <a:latin typeface="Inter" pitchFamily="34" charset="0"/>
                <a:ea typeface="Inter" pitchFamily="34" charset="-122"/>
                <a:cs typeface="Inter" pitchFamily="34" charset="-120"/>
              </a:rPr>
              <a:t> the platform team curates what can be installed.</a:t>
            </a:r>
            <a:endParaRPr lang="en-US" sz="1400" dirty="0"/>
          </a:p>
        </p:txBody>
      </p:sp>
      <p:sp>
        <p:nvSpPr>
          <p:cNvPr id="18" name="Text 16"/>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Module 7 · Extending Claude Code</a:t>
            </a:r>
            <a:endParaRPr lang="en-US" sz="1200" dirty="0"/>
          </a:p>
        </p:txBody>
      </p:sp>
      <p:sp>
        <p:nvSpPr>
          <p:cNvPr id="19" name="Text 17"/>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5D59"/>
                </a:solidFill>
                <a:latin typeface="Inter" pitchFamily="34" charset="0"/>
                <a:ea typeface="Inter" pitchFamily="34" charset="-122"/>
                <a:cs typeface="Inter" pitchFamily="34" charset="-120"/>
              </a:rPr>
              <a:t>05 Plugins · Use case</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9F5"/>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D97757"/>
          </a:solidFill>
          <a:ln/>
        </p:spPr>
      </p:sp>
      <p:sp>
        <p:nvSpPr>
          <p:cNvPr id="3" name="Text 1"/>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B4532F"/>
                </a:solidFill>
                <a:latin typeface="Inter" pitchFamily="34" charset="0"/>
                <a:ea typeface="Inter" pitchFamily="34" charset="-122"/>
                <a:cs typeface="Inter" pitchFamily="34" charset="-120"/>
              </a:rPr>
              <a:t>LIVE DEMO · LAB 5 · OHUB-305</a:t>
            </a:r>
            <a:endParaRPr lang="en-US" sz="1300" dirty="0"/>
          </a:p>
        </p:txBody>
      </p:sp>
      <p:sp>
        <p:nvSpPr>
          <p:cNvPr id="4" name="Text 2"/>
          <p:cNvSpPr/>
          <p:nvPr/>
        </p:nvSpPr>
        <p:spPr>
          <a:xfrm>
            <a:off x="812800" y="112013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E1D"/>
                </a:solidFill>
                <a:latin typeface="Source Serif 4" pitchFamily="34" charset="0"/>
                <a:ea typeface="Source Serif 4" pitchFamily="34" charset="-122"/>
                <a:cs typeface="Source Serif 4" pitchFamily="34" charset="-120"/>
              </a:rPr>
              <a:t>Package Labs 2–4 as a plugin and publish it</a:t>
            </a:r>
            <a:endParaRPr lang="en-US" sz="3200" dirty="0"/>
          </a:p>
        </p:txBody>
      </p:sp>
      <p:sp>
        <p:nvSpPr>
          <p:cNvPr id="5" name="Shape 3"/>
          <p:cNvSpPr/>
          <p:nvPr/>
        </p:nvSpPr>
        <p:spPr>
          <a:xfrm>
            <a:off x="812800" y="1871960"/>
            <a:ext cx="330200" cy="332730"/>
          </a:xfrm>
          <a:prstGeom prst="roundRect">
            <a:avLst>
              <a:gd name="adj" fmla="val 50000"/>
            </a:avLst>
          </a:prstGeom>
          <a:solidFill>
            <a:srgbClr val="D97757"/>
          </a:solidFill>
          <a:ln/>
        </p:spPr>
      </p:sp>
      <p:sp>
        <p:nvSpPr>
          <p:cNvPr id="6" name="Text 4"/>
          <p:cNvSpPr/>
          <p:nvPr/>
        </p:nvSpPr>
        <p:spPr>
          <a:xfrm>
            <a:off x="787400" y="1922760"/>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1</a:t>
            </a:r>
            <a:endParaRPr lang="en-US" sz="1300" dirty="0"/>
          </a:p>
        </p:txBody>
      </p:sp>
      <p:sp>
        <p:nvSpPr>
          <p:cNvPr id="7" name="Text 5"/>
          <p:cNvSpPr/>
          <p:nvPr/>
        </p:nvSpPr>
        <p:spPr>
          <a:xfrm>
            <a:off x="1295400" y="1918295"/>
            <a:ext cx="4150152"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Create acme-marketplace with the plugin layout</a:t>
            </a:r>
            <a:endParaRPr lang="en-US" sz="1400" dirty="0"/>
          </a:p>
        </p:txBody>
      </p:sp>
      <p:sp>
        <p:nvSpPr>
          <p:cNvPr id="8" name="Shape 6"/>
          <p:cNvSpPr/>
          <p:nvPr/>
        </p:nvSpPr>
        <p:spPr>
          <a:xfrm>
            <a:off x="812800" y="2318990"/>
            <a:ext cx="330200" cy="332730"/>
          </a:xfrm>
          <a:prstGeom prst="roundRect">
            <a:avLst>
              <a:gd name="adj" fmla="val 50000"/>
            </a:avLst>
          </a:prstGeom>
          <a:solidFill>
            <a:srgbClr val="D97757"/>
          </a:solidFill>
          <a:ln/>
        </p:spPr>
      </p:sp>
      <p:sp>
        <p:nvSpPr>
          <p:cNvPr id="9" name="Text 7"/>
          <p:cNvSpPr/>
          <p:nvPr/>
        </p:nvSpPr>
        <p:spPr>
          <a:xfrm>
            <a:off x="787400" y="2369790"/>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2</a:t>
            </a:r>
            <a:endParaRPr lang="en-US" sz="1300" dirty="0"/>
          </a:p>
        </p:txBody>
      </p:sp>
      <p:sp>
        <p:nvSpPr>
          <p:cNvPr id="10" name="Text 8"/>
          <p:cNvSpPr/>
          <p:nvPr/>
        </p:nvSpPr>
        <p:spPr>
          <a:xfrm>
            <a:off x="1295400" y="2365325"/>
            <a:ext cx="3537951"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Add plugin.json and a portable .mcp.json</a:t>
            </a:r>
            <a:endParaRPr lang="en-US" sz="1400" dirty="0"/>
          </a:p>
        </p:txBody>
      </p:sp>
      <p:sp>
        <p:nvSpPr>
          <p:cNvPr id="11" name="Shape 9"/>
          <p:cNvSpPr/>
          <p:nvPr/>
        </p:nvSpPr>
        <p:spPr>
          <a:xfrm>
            <a:off x="812800" y="2766020"/>
            <a:ext cx="330200" cy="332730"/>
          </a:xfrm>
          <a:prstGeom prst="roundRect">
            <a:avLst>
              <a:gd name="adj" fmla="val 50000"/>
            </a:avLst>
          </a:prstGeom>
          <a:solidFill>
            <a:srgbClr val="D97757"/>
          </a:solidFill>
          <a:ln/>
        </p:spPr>
      </p:sp>
      <p:sp>
        <p:nvSpPr>
          <p:cNvPr id="12" name="Text 10"/>
          <p:cNvSpPr/>
          <p:nvPr/>
        </p:nvSpPr>
        <p:spPr>
          <a:xfrm>
            <a:off x="787400" y="2816820"/>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3</a:t>
            </a:r>
            <a:endParaRPr lang="en-US" sz="1300" dirty="0"/>
          </a:p>
        </p:txBody>
      </p:sp>
      <p:sp>
        <p:nvSpPr>
          <p:cNvPr id="13" name="Text 11"/>
          <p:cNvSpPr/>
          <p:nvPr/>
        </p:nvSpPr>
        <p:spPr>
          <a:xfrm>
            <a:off x="1295400" y="2812355"/>
            <a:ext cx="3218744"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Write the marketplace.json catalogue</a:t>
            </a:r>
            <a:endParaRPr lang="en-US" sz="1400" dirty="0"/>
          </a:p>
        </p:txBody>
      </p:sp>
      <p:sp>
        <p:nvSpPr>
          <p:cNvPr id="14" name="Shape 12"/>
          <p:cNvSpPr/>
          <p:nvPr/>
        </p:nvSpPr>
        <p:spPr>
          <a:xfrm>
            <a:off x="812800" y="3213050"/>
            <a:ext cx="330200" cy="332730"/>
          </a:xfrm>
          <a:prstGeom prst="roundRect">
            <a:avLst>
              <a:gd name="adj" fmla="val 50000"/>
            </a:avLst>
          </a:prstGeom>
          <a:solidFill>
            <a:srgbClr val="D97757"/>
          </a:solidFill>
          <a:ln/>
        </p:spPr>
      </p:sp>
      <p:sp>
        <p:nvSpPr>
          <p:cNvPr id="15" name="Text 13"/>
          <p:cNvSpPr/>
          <p:nvPr/>
        </p:nvSpPr>
        <p:spPr>
          <a:xfrm>
            <a:off x="787400" y="3263850"/>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4</a:t>
            </a:r>
            <a:endParaRPr lang="en-US" sz="1300" dirty="0"/>
          </a:p>
        </p:txBody>
      </p:sp>
      <p:sp>
        <p:nvSpPr>
          <p:cNvPr id="16" name="Text 14"/>
          <p:cNvSpPr/>
          <p:nvPr/>
        </p:nvSpPr>
        <p:spPr>
          <a:xfrm>
            <a:off x="1295400" y="3259386"/>
            <a:ext cx="2899332"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Install into a clean storefront repo</a:t>
            </a:r>
            <a:endParaRPr lang="en-US" sz="1400" dirty="0"/>
          </a:p>
        </p:txBody>
      </p:sp>
      <p:sp>
        <p:nvSpPr>
          <p:cNvPr id="17" name="Shape 15"/>
          <p:cNvSpPr/>
          <p:nvPr/>
        </p:nvSpPr>
        <p:spPr>
          <a:xfrm>
            <a:off x="812800" y="3660080"/>
            <a:ext cx="330200" cy="332730"/>
          </a:xfrm>
          <a:prstGeom prst="roundRect">
            <a:avLst>
              <a:gd name="adj" fmla="val 50000"/>
            </a:avLst>
          </a:prstGeom>
          <a:solidFill>
            <a:srgbClr val="D97757"/>
          </a:solidFill>
          <a:ln/>
        </p:spPr>
      </p:sp>
      <p:sp>
        <p:nvSpPr>
          <p:cNvPr id="18" name="Text 16"/>
          <p:cNvSpPr/>
          <p:nvPr/>
        </p:nvSpPr>
        <p:spPr>
          <a:xfrm>
            <a:off x="787400" y="3710880"/>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5</a:t>
            </a:r>
            <a:endParaRPr lang="en-US" sz="1300" dirty="0"/>
          </a:p>
        </p:txBody>
      </p:sp>
      <p:sp>
        <p:nvSpPr>
          <p:cNvPr id="19" name="Text 17"/>
          <p:cNvSpPr/>
          <p:nvPr/>
        </p:nvSpPr>
        <p:spPr>
          <a:xfrm>
            <a:off x="1295400" y="3706416"/>
            <a:ext cx="2929786"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Verify skill, agent and MCP server</a:t>
            </a:r>
            <a:endParaRPr lang="en-US" sz="1400" dirty="0"/>
          </a:p>
        </p:txBody>
      </p:sp>
      <p:sp>
        <p:nvSpPr>
          <p:cNvPr id="20" name="Shape 18"/>
          <p:cNvSpPr/>
          <p:nvPr/>
        </p:nvSpPr>
        <p:spPr>
          <a:xfrm>
            <a:off x="812800" y="4107111"/>
            <a:ext cx="330200" cy="332730"/>
          </a:xfrm>
          <a:prstGeom prst="roundRect">
            <a:avLst>
              <a:gd name="adj" fmla="val 50000"/>
            </a:avLst>
          </a:prstGeom>
          <a:solidFill>
            <a:srgbClr val="D97757"/>
          </a:solidFill>
          <a:ln/>
        </p:spPr>
      </p:sp>
      <p:sp>
        <p:nvSpPr>
          <p:cNvPr id="21" name="Text 19"/>
          <p:cNvSpPr/>
          <p:nvPr/>
        </p:nvSpPr>
        <p:spPr>
          <a:xfrm>
            <a:off x="787400" y="4157911"/>
            <a:ext cx="3810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F1E1D"/>
                </a:solidFill>
                <a:latin typeface="Inter" pitchFamily="34" charset="0"/>
                <a:ea typeface="Inter" pitchFamily="34" charset="-122"/>
                <a:cs typeface="Inter" pitchFamily="34" charset="-120"/>
              </a:rPr>
              <a:t>6</a:t>
            </a:r>
            <a:endParaRPr lang="en-US" sz="1300" dirty="0"/>
          </a:p>
        </p:txBody>
      </p:sp>
      <p:sp>
        <p:nvSpPr>
          <p:cNvPr id="22" name="Text 20"/>
          <p:cNvSpPr/>
          <p:nvPr/>
        </p:nvSpPr>
        <p:spPr>
          <a:xfrm>
            <a:off x="1295400" y="4153446"/>
            <a:ext cx="2788961"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E1D"/>
                </a:solidFill>
                <a:latin typeface="Inter" pitchFamily="34" charset="0"/>
                <a:ea typeface="Inter" pitchFamily="34" charset="-122"/>
                <a:cs typeface="Inter" pitchFamily="34" charset="-120"/>
              </a:rPr>
              <a:t>Commit settings.json; ship v1.1.0</a:t>
            </a:r>
            <a:endParaRPr lang="en-US" sz="1400" dirty="0"/>
          </a:p>
        </p:txBody>
      </p:sp>
      <p:sp>
        <p:nvSpPr>
          <p:cNvPr id="23" name="Shape 21"/>
          <p:cNvSpPr/>
          <p:nvPr/>
        </p:nvSpPr>
        <p:spPr>
          <a:xfrm>
            <a:off x="7442200" y="1871960"/>
            <a:ext cx="3937000" cy="2491631"/>
          </a:xfrm>
          <a:prstGeom prst="roundRect">
            <a:avLst>
              <a:gd name="adj" fmla="val 4078"/>
            </a:avLst>
          </a:prstGeom>
          <a:solidFill>
            <a:srgbClr val="F0EEE6"/>
          </a:solidFill>
          <a:ln/>
        </p:spPr>
      </p:sp>
      <p:sp>
        <p:nvSpPr>
          <p:cNvPr id="24" name="Text 22"/>
          <p:cNvSpPr/>
          <p:nvPr/>
        </p:nvSpPr>
        <p:spPr>
          <a:xfrm>
            <a:off x="7696200" y="2125960"/>
            <a:ext cx="353187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1E1D"/>
                </a:solidFill>
                <a:latin typeface="Source Serif 4" pitchFamily="34" charset="0"/>
                <a:ea typeface="Source Serif 4" pitchFamily="34" charset="-122"/>
                <a:cs typeface="Source Serif 4" pitchFamily="34" charset="-120"/>
              </a:rPr>
              <a:t>Acceptance criteria</a:t>
            </a:r>
            <a:endParaRPr lang="en-US" sz="1800" dirty="0"/>
          </a:p>
        </p:txBody>
      </p:sp>
      <p:sp>
        <p:nvSpPr>
          <p:cNvPr id="25" name="Text 23"/>
          <p:cNvSpPr/>
          <p:nvPr/>
        </p:nvSpPr>
        <p:spPr>
          <a:xfrm>
            <a:off x="7696200" y="2514550"/>
            <a:ext cx="353187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2F"/>
                </a:solidFill>
                <a:latin typeface="Inter" pitchFamily="34" charset="0"/>
                <a:ea typeface="Inter" pitchFamily="34" charset="-122"/>
                <a:cs typeface="Inter" pitchFamily="34" charset="-120"/>
              </a:rPr>
              <a:t>✓</a:t>
            </a:r>
            <a:r>
              <a:rPr lang="en-US" sz="1300" dirty="0">
                <a:solidFill>
                  <a:srgbClr val="1F1E1D"/>
                </a:solidFill>
                <a:latin typeface="Inter" pitchFamily="34" charset="0"/>
                <a:ea typeface="Inter" pitchFamily="34" charset="-122"/>
                <a:cs typeface="Inter" pitchFamily="34" charset="-120"/>
              </a:rPr>
              <a:t> Install succeeds from the marketplace</a:t>
            </a:r>
            <a:endParaRPr lang="en-US" sz="1300" dirty="0"/>
          </a:p>
        </p:txBody>
      </p:sp>
      <p:sp>
        <p:nvSpPr>
          <p:cNvPr id="26" name="Text 24"/>
          <p:cNvSpPr/>
          <p:nvPr/>
        </p:nvSpPr>
        <p:spPr>
          <a:xfrm>
            <a:off x="7696200" y="2859980"/>
            <a:ext cx="353187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2F"/>
                </a:solidFill>
                <a:latin typeface="Inter" pitchFamily="34" charset="0"/>
                <a:ea typeface="Inter" pitchFamily="34" charset="-122"/>
                <a:cs typeface="Inter" pitchFamily="34" charset="-120"/>
              </a:rPr>
              <a:t>✓</a:t>
            </a:r>
            <a:r>
              <a:rPr lang="en-US" sz="1300" dirty="0">
                <a:solidFill>
                  <a:srgbClr val="1F1E1D"/>
                </a:solidFill>
                <a:latin typeface="Inter" pitchFamily="34" charset="0"/>
                <a:ea typeface="Inter" pitchFamily="34" charset="-122"/>
                <a:cs typeface="Inter" pitchFamily="34" charset="-120"/>
              </a:rPr>
              <a:t> All three components in a clean repo</a:t>
            </a:r>
            <a:endParaRPr lang="en-US" sz="1300" dirty="0"/>
          </a:p>
        </p:txBody>
      </p:sp>
      <p:sp>
        <p:nvSpPr>
          <p:cNvPr id="27" name="Text 25"/>
          <p:cNvSpPr/>
          <p:nvPr/>
        </p:nvSpPr>
        <p:spPr>
          <a:xfrm>
            <a:off x="7696200" y="3205411"/>
            <a:ext cx="353187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2F"/>
                </a:solidFill>
                <a:latin typeface="Inter" pitchFamily="34" charset="0"/>
                <a:ea typeface="Inter" pitchFamily="34" charset="-122"/>
                <a:cs typeface="Inter" pitchFamily="34" charset="-120"/>
              </a:rPr>
              <a:t>✓</a:t>
            </a:r>
            <a:r>
              <a:rPr lang="en-US" sz="1300" dirty="0">
                <a:solidFill>
                  <a:srgbClr val="1F1E1D"/>
                </a:solidFill>
                <a:latin typeface="Inter" pitchFamily="34" charset="0"/>
                <a:ea typeface="Inter" pitchFamily="34" charset="-122"/>
                <a:cs typeface="Inter" pitchFamily="34" charset="-120"/>
              </a:rPr>
              <a:t> Team auto-enable via settings.json</a:t>
            </a:r>
            <a:endParaRPr lang="en-US" sz="1300" dirty="0"/>
          </a:p>
        </p:txBody>
      </p:sp>
      <p:sp>
        <p:nvSpPr>
          <p:cNvPr id="28" name="Text 26"/>
          <p:cNvSpPr/>
          <p:nvPr/>
        </p:nvSpPr>
        <p:spPr>
          <a:xfrm>
            <a:off x="7696200" y="3550841"/>
            <a:ext cx="353187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2F"/>
                </a:solidFill>
                <a:latin typeface="Inter" pitchFamily="34" charset="0"/>
                <a:ea typeface="Inter" pitchFamily="34" charset="-122"/>
                <a:cs typeface="Inter" pitchFamily="34" charset="-120"/>
              </a:rPr>
              <a:t>✓</a:t>
            </a:r>
            <a:r>
              <a:rPr lang="en-US" sz="1300" dirty="0">
                <a:solidFill>
                  <a:srgbClr val="1F1E1D"/>
                </a:solidFill>
                <a:latin typeface="Inter" pitchFamily="34" charset="0"/>
                <a:ea typeface="Inter" pitchFamily="34" charset="-122"/>
                <a:cs typeface="Inter" pitchFamily="34" charset="-120"/>
              </a:rPr>
              <a:t> v1.1.0 picked up after update</a:t>
            </a:r>
            <a:endParaRPr lang="en-US" sz="1300" dirty="0"/>
          </a:p>
        </p:txBody>
      </p:sp>
      <p:sp>
        <p:nvSpPr>
          <p:cNvPr id="29" name="Text 27"/>
          <p:cNvSpPr/>
          <p:nvPr/>
        </p:nvSpPr>
        <p:spPr>
          <a:xfrm>
            <a:off x="7696200" y="3896271"/>
            <a:ext cx="35318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Full steps: Lab Guide, Lab 5</a:t>
            </a:r>
            <a:endParaRPr lang="en-US" sz="1200" dirty="0"/>
          </a:p>
        </p:txBody>
      </p:sp>
      <p:sp>
        <p:nvSpPr>
          <p:cNvPr id="30" name="Text 28"/>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Module 7 · Extending Claude Code</a:t>
            </a:r>
            <a:endParaRPr lang="en-US" sz="1200" dirty="0"/>
          </a:p>
        </p:txBody>
      </p:sp>
      <p:sp>
        <p:nvSpPr>
          <p:cNvPr id="31" name="Text 29"/>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5D59"/>
                </a:solidFill>
                <a:latin typeface="Inter" pitchFamily="34" charset="0"/>
                <a:ea typeface="Inter" pitchFamily="34" charset="-122"/>
                <a:cs typeface="Inter" pitchFamily="34" charset="-120"/>
              </a:rPr>
              <a:t>05 Plugins · Live demo</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F1E1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4F1EA"/>
                </a:solidFill>
                <a:latin typeface="Source Serif 4" pitchFamily="34" charset="0"/>
                <a:ea typeface="Source Serif 4" pitchFamily="34" charset="-122"/>
                <a:cs typeface="Source Serif 4" pitchFamily="34" charset="-120"/>
              </a:rPr>
              <a:t>How the five fit together</a:t>
            </a:r>
            <a:endParaRPr lang="en-US" sz="3200" dirty="0"/>
          </a:p>
        </p:txBody>
      </p:sp>
      <p:sp>
        <p:nvSpPr>
          <p:cNvPr id="3" name="Shape 1"/>
          <p:cNvSpPr/>
          <p:nvPr/>
        </p:nvSpPr>
        <p:spPr>
          <a:xfrm>
            <a:off x="815975" y="1674465"/>
            <a:ext cx="1720850" cy="1169591"/>
          </a:xfrm>
          <a:prstGeom prst="roundRect">
            <a:avLst>
              <a:gd name="adj" fmla="val 8415"/>
            </a:avLst>
          </a:prstGeom>
          <a:solidFill>
            <a:srgbClr val="262524"/>
          </a:solidFill>
          <a:ln w="6350">
            <a:solidFill>
              <a:srgbClr val="3A3835"/>
            </a:solidFill>
            <a:prstDash val="solid"/>
          </a:ln>
        </p:spPr>
      </p:sp>
      <p:sp>
        <p:nvSpPr>
          <p:cNvPr id="4" name="Text 2"/>
          <p:cNvSpPr/>
          <p:nvPr/>
        </p:nvSpPr>
        <p:spPr>
          <a:xfrm>
            <a:off x="958850" y="1855440"/>
            <a:ext cx="14859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97757"/>
                </a:solidFill>
                <a:latin typeface="Inter" pitchFamily="34" charset="0"/>
                <a:ea typeface="Inter" pitchFamily="34" charset="-122"/>
                <a:cs typeface="Inter" pitchFamily="34" charset="-120"/>
              </a:rPr>
              <a:t>01</a:t>
            </a:r>
            <a:endParaRPr lang="en-US" sz="1200" dirty="0"/>
          </a:p>
        </p:txBody>
      </p:sp>
      <p:sp>
        <p:nvSpPr>
          <p:cNvPr id="5" name="Text 3"/>
          <p:cNvSpPr/>
          <p:nvPr/>
        </p:nvSpPr>
        <p:spPr>
          <a:xfrm>
            <a:off x="958850" y="2144961"/>
            <a:ext cx="14859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1EA"/>
                </a:solidFill>
                <a:latin typeface="Source Serif 4" pitchFamily="34" charset="0"/>
                <a:ea typeface="Source Serif 4" pitchFamily="34" charset="-122"/>
                <a:cs typeface="Source Serif 4" pitchFamily="34" charset="-120"/>
              </a:rPr>
              <a:t>Instructions</a:t>
            </a:r>
            <a:endParaRPr lang="en-US" sz="1500" dirty="0"/>
          </a:p>
        </p:txBody>
      </p:sp>
      <p:sp>
        <p:nvSpPr>
          <p:cNvPr id="6" name="Text 4"/>
          <p:cNvSpPr/>
          <p:nvPr/>
        </p:nvSpPr>
        <p:spPr>
          <a:xfrm>
            <a:off x="958850" y="2449761"/>
            <a:ext cx="14859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DB7AB"/>
                </a:solidFill>
                <a:latin typeface="Inter" pitchFamily="34" charset="0"/>
                <a:ea typeface="Inter" pitchFamily="34" charset="-122"/>
                <a:cs typeface="Inter" pitchFamily="34" charset="-120"/>
              </a:rPr>
              <a:t>Set the rules</a:t>
            </a:r>
            <a:endParaRPr lang="en-US" sz="1200" dirty="0"/>
          </a:p>
        </p:txBody>
      </p:sp>
      <p:sp>
        <p:nvSpPr>
          <p:cNvPr id="7" name="Text 5"/>
          <p:cNvSpPr/>
          <p:nvPr/>
        </p:nvSpPr>
        <p:spPr>
          <a:xfrm>
            <a:off x="2641600" y="2063700"/>
            <a:ext cx="3302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97757"/>
                </a:solidFill>
                <a:latin typeface="Inter" pitchFamily="34" charset="0"/>
                <a:ea typeface="Inter" pitchFamily="34" charset="-122"/>
                <a:cs typeface="Inter" pitchFamily="34" charset="-120"/>
              </a:rPr>
              <a:t>→</a:t>
            </a:r>
            <a:endParaRPr lang="en-US" sz="2200" dirty="0"/>
          </a:p>
        </p:txBody>
      </p:sp>
      <p:sp>
        <p:nvSpPr>
          <p:cNvPr id="8" name="Shape 6"/>
          <p:cNvSpPr/>
          <p:nvPr/>
        </p:nvSpPr>
        <p:spPr>
          <a:xfrm>
            <a:off x="3025775" y="1567805"/>
            <a:ext cx="1720850" cy="1382911"/>
          </a:xfrm>
          <a:prstGeom prst="roundRect">
            <a:avLst>
              <a:gd name="adj" fmla="val 7117"/>
            </a:avLst>
          </a:prstGeom>
          <a:solidFill>
            <a:srgbClr val="262524"/>
          </a:solidFill>
          <a:ln w="6350">
            <a:solidFill>
              <a:srgbClr val="3A3835"/>
            </a:solidFill>
            <a:prstDash val="solid"/>
          </a:ln>
        </p:spPr>
      </p:sp>
      <p:sp>
        <p:nvSpPr>
          <p:cNvPr id="9" name="Text 7"/>
          <p:cNvSpPr/>
          <p:nvPr/>
        </p:nvSpPr>
        <p:spPr>
          <a:xfrm>
            <a:off x="3168650" y="1748780"/>
            <a:ext cx="14859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97757"/>
                </a:solidFill>
                <a:latin typeface="Inter" pitchFamily="34" charset="0"/>
                <a:ea typeface="Inter" pitchFamily="34" charset="-122"/>
                <a:cs typeface="Inter" pitchFamily="34" charset="-120"/>
              </a:rPr>
              <a:t>02</a:t>
            </a:r>
            <a:endParaRPr lang="en-US" sz="1200" dirty="0"/>
          </a:p>
        </p:txBody>
      </p:sp>
      <p:sp>
        <p:nvSpPr>
          <p:cNvPr id="10" name="Text 8"/>
          <p:cNvSpPr/>
          <p:nvPr/>
        </p:nvSpPr>
        <p:spPr>
          <a:xfrm>
            <a:off x="3168650" y="2038300"/>
            <a:ext cx="14859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1EA"/>
                </a:solidFill>
                <a:latin typeface="Source Serif 4" pitchFamily="34" charset="0"/>
                <a:ea typeface="Source Serif 4" pitchFamily="34" charset="-122"/>
                <a:cs typeface="Source Serif 4" pitchFamily="34" charset="-120"/>
              </a:rPr>
              <a:t>Skills</a:t>
            </a:r>
            <a:endParaRPr lang="en-US" sz="1500" dirty="0"/>
          </a:p>
        </p:txBody>
      </p:sp>
      <p:sp>
        <p:nvSpPr>
          <p:cNvPr id="11" name="Text 9"/>
          <p:cNvSpPr/>
          <p:nvPr/>
        </p:nvSpPr>
        <p:spPr>
          <a:xfrm>
            <a:off x="3168650" y="2343100"/>
            <a:ext cx="14859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DB7AB"/>
                </a:solidFill>
                <a:latin typeface="Inter" pitchFamily="34" charset="0"/>
                <a:ea typeface="Inter" pitchFamily="34" charset="-122"/>
                <a:cs typeface="Inter" pitchFamily="34" charset="-120"/>
              </a:rPr>
              <a:t>Know the procedure</a:t>
            </a:r>
            <a:endParaRPr lang="en-US" sz="1200" dirty="0"/>
          </a:p>
        </p:txBody>
      </p:sp>
      <p:sp>
        <p:nvSpPr>
          <p:cNvPr id="12" name="Text 10"/>
          <p:cNvSpPr/>
          <p:nvPr/>
        </p:nvSpPr>
        <p:spPr>
          <a:xfrm>
            <a:off x="4851400" y="2063700"/>
            <a:ext cx="3302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97757"/>
                </a:solidFill>
                <a:latin typeface="Inter" pitchFamily="34" charset="0"/>
                <a:ea typeface="Inter" pitchFamily="34" charset="-122"/>
                <a:cs typeface="Inter" pitchFamily="34" charset="-120"/>
              </a:rPr>
              <a:t>→</a:t>
            </a:r>
            <a:endParaRPr lang="en-US" sz="2200" dirty="0"/>
          </a:p>
        </p:txBody>
      </p:sp>
      <p:sp>
        <p:nvSpPr>
          <p:cNvPr id="13" name="Shape 11"/>
          <p:cNvSpPr/>
          <p:nvPr/>
        </p:nvSpPr>
        <p:spPr>
          <a:xfrm>
            <a:off x="5235575" y="1567805"/>
            <a:ext cx="1720850" cy="1382911"/>
          </a:xfrm>
          <a:prstGeom prst="roundRect">
            <a:avLst>
              <a:gd name="adj" fmla="val 7117"/>
            </a:avLst>
          </a:prstGeom>
          <a:solidFill>
            <a:srgbClr val="262524"/>
          </a:solidFill>
          <a:ln w="6350">
            <a:solidFill>
              <a:srgbClr val="3A3835"/>
            </a:solidFill>
            <a:prstDash val="solid"/>
          </a:ln>
        </p:spPr>
      </p:sp>
      <p:sp>
        <p:nvSpPr>
          <p:cNvPr id="14" name="Text 12"/>
          <p:cNvSpPr/>
          <p:nvPr/>
        </p:nvSpPr>
        <p:spPr>
          <a:xfrm>
            <a:off x="5378450" y="1748780"/>
            <a:ext cx="14859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97757"/>
                </a:solidFill>
                <a:latin typeface="Inter" pitchFamily="34" charset="0"/>
                <a:ea typeface="Inter" pitchFamily="34" charset="-122"/>
                <a:cs typeface="Inter" pitchFamily="34" charset="-120"/>
              </a:rPr>
              <a:t>03</a:t>
            </a:r>
            <a:endParaRPr lang="en-US" sz="1200" dirty="0"/>
          </a:p>
        </p:txBody>
      </p:sp>
      <p:sp>
        <p:nvSpPr>
          <p:cNvPr id="15" name="Text 13"/>
          <p:cNvSpPr/>
          <p:nvPr/>
        </p:nvSpPr>
        <p:spPr>
          <a:xfrm>
            <a:off x="5378450" y="2038300"/>
            <a:ext cx="14859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1EA"/>
                </a:solidFill>
                <a:latin typeface="Source Serif 4" pitchFamily="34" charset="0"/>
                <a:ea typeface="Source Serif 4" pitchFamily="34" charset="-122"/>
                <a:cs typeface="Source Serif 4" pitchFamily="34" charset="-120"/>
              </a:rPr>
              <a:t>Subagents</a:t>
            </a:r>
            <a:endParaRPr lang="en-US" sz="1500" dirty="0"/>
          </a:p>
        </p:txBody>
      </p:sp>
      <p:sp>
        <p:nvSpPr>
          <p:cNvPr id="16" name="Text 14"/>
          <p:cNvSpPr/>
          <p:nvPr/>
        </p:nvSpPr>
        <p:spPr>
          <a:xfrm>
            <a:off x="5378450" y="2343100"/>
            <a:ext cx="14859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DB7AB"/>
                </a:solidFill>
                <a:latin typeface="Inter" pitchFamily="34" charset="0"/>
                <a:ea typeface="Inter" pitchFamily="34" charset="-122"/>
                <a:cs typeface="Inter" pitchFamily="34" charset="-120"/>
              </a:rPr>
              <a:t>Delegate specialist work</a:t>
            </a:r>
            <a:endParaRPr lang="en-US" sz="1200" dirty="0"/>
          </a:p>
        </p:txBody>
      </p:sp>
      <p:sp>
        <p:nvSpPr>
          <p:cNvPr id="17" name="Text 15"/>
          <p:cNvSpPr/>
          <p:nvPr/>
        </p:nvSpPr>
        <p:spPr>
          <a:xfrm>
            <a:off x="7061200" y="2063700"/>
            <a:ext cx="3302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97757"/>
                </a:solidFill>
                <a:latin typeface="Inter" pitchFamily="34" charset="0"/>
                <a:ea typeface="Inter" pitchFamily="34" charset="-122"/>
                <a:cs typeface="Inter" pitchFamily="34" charset="-120"/>
              </a:rPr>
              <a:t>→</a:t>
            </a:r>
            <a:endParaRPr lang="en-US" sz="2200" dirty="0"/>
          </a:p>
        </p:txBody>
      </p:sp>
      <p:sp>
        <p:nvSpPr>
          <p:cNvPr id="18" name="Shape 16"/>
          <p:cNvSpPr/>
          <p:nvPr/>
        </p:nvSpPr>
        <p:spPr>
          <a:xfrm>
            <a:off x="7445375" y="1674465"/>
            <a:ext cx="1720850" cy="1169591"/>
          </a:xfrm>
          <a:prstGeom prst="roundRect">
            <a:avLst>
              <a:gd name="adj" fmla="val 8415"/>
            </a:avLst>
          </a:prstGeom>
          <a:solidFill>
            <a:srgbClr val="262524"/>
          </a:solidFill>
          <a:ln w="6350">
            <a:solidFill>
              <a:srgbClr val="3A3835"/>
            </a:solidFill>
            <a:prstDash val="solid"/>
          </a:ln>
        </p:spPr>
      </p:sp>
      <p:sp>
        <p:nvSpPr>
          <p:cNvPr id="19" name="Text 17"/>
          <p:cNvSpPr/>
          <p:nvPr/>
        </p:nvSpPr>
        <p:spPr>
          <a:xfrm>
            <a:off x="7588250" y="1855440"/>
            <a:ext cx="14859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97757"/>
                </a:solidFill>
                <a:latin typeface="Inter" pitchFamily="34" charset="0"/>
                <a:ea typeface="Inter" pitchFamily="34" charset="-122"/>
                <a:cs typeface="Inter" pitchFamily="34" charset="-120"/>
              </a:rPr>
              <a:t>04</a:t>
            </a:r>
            <a:endParaRPr lang="en-US" sz="1200" dirty="0"/>
          </a:p>
        </p:txBody>
      </p:sp>
      <p:sp>
        <p:nvSpPr>
          <p:cNvPr id="20" name="Text 18"/>
          <p:cNvSpPr/>
          <p:nvPr/>
        </p:nvSpPr>
        <p:spPr>
          <a:xfrm>
            <a:off x="7588250" y="2144961"/>
            <a:ext cx="14859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1EA"/>
                </a:solidFill>
                <a:latin typeface="Source Serif 4" pitchFamily="34" charset="0"/>
                <a:ea typeface="Source Serif 4" pitchFamily="34" charset="-122"/>
                <a:cs typeface="Source Serif 4" pitchFamily="34" charset="-120"/>
              </a:rPr>
              <a:t>MCP</a:t>
            </a:r>
            <a:endParaRPr lang="en-US" sz="1500" dirty="0"/>
          </a:p>
        </p:txBody>
      </p:sp>
      <p:sp>
        <p:nvSpPr>
          <p:cNvPr id="21" name="Text 19"/>
          <p:cNvSpPr/>
          <p:nvPr/>
        </p:nvSpPr>
        <p:spPr>
          <a:xfrm>
            <a:off x="7588250" y="2449761"/>
            <a:ext cx="14859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DB7AB"/>
                </a:solidFill>
                <a:latin typeface="Inter" pitchFamily="34" charset="0"/>
                <a:ea typeface="Inter" pitchFamily="34" charset="-122"/>
                <a:cs typeface="Inter" pitchFamily="34" charset="-120"/>
              </a:rPr>
              <a:t>Reach the systems</a:t>
            </a:r>
            <a:endParaRPr lang="en-US" sz="1200" dirty="0"/>
          </a:p>
        </p:txBody>
      </p:sp>
      <p:sp>
        <p:nvSpPr>
          <p:cNvPr id="22" name="Text 20"/>
          <p:cNvSpPr/>
          <p:nvPr/>
        </p:nvSpPr>
        <p:spPr>
          <a:xfrm>
            <a:off x="9271000" y="2063700"/>
            <a:ext cx="3302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97757"/>
                </a:solidFill>
                <a:latin typeface="Inter" pitchFamily="34" charset="0"/>
                <a:ea typeface="Inter" pitchFamily="34" charset="-122"/>
                <a:cs typeface="Inter" pitchFamily="34" charset="-120"/>
              </a:rPr>
              <a:t>→</a:t>
            </a:r>
            <a:endParaRPr lang="en-US" sz="2200" dirty="0"/>
          </a:p>
        </p:txBody>
      </p:sp>
      <p:sp>
        <p:nvSpPr>
          <p:cNvPr id="23" name="Shape 21"/>
          <p:cNvSpPr/>
          <p:nvPr/>
        </p:nvSpPr>
        <p:spPr>
          <a:xfrm>
            <a:off x="9655175" y="1674465"/>
            <a:ext cx="1720850" cy="1169591"/>
          </a:xfrm>
          <a:prstGeom prst="roundRect">
            <a:avLst>
              <a:gd name="adj" fmla="val 8415"/>
            </a:avLst>
          </a:prstGeom>
          <a:solidFill>
            <a:srgbClr val="262524"/>
          </a:solidFill>
          <a:ln w="6350">
            <a:solidFill>
              <a:srgbClr val="3A3835"/>
            </a:solidFill>
            <a:prstDash val="solid"/>
          </a:ln>
        </p:spPr>
      </p:sp>
      <p:sp>
        <p:nvSpPr>
          <p:cNvPr id="24" name="Text 22"/>
          <p:cNvSpPr/>
          <p:nvPr/>
        </p:nvSpPr>
        <p:spPr>
          <a:xfrm>
            <a:off x="9798050" y="1855440"/>
            <a:ext cx="14859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97757"/>
                </a:solidFill>
                <a:latin typeface="Inter" pitchFamily="34" charset="0"/>
                <a:ea typeface="Inter" pitchFamily="34" charset="-122"/>
                <a:cs typeface="Inter" pitchFamily="34" charset="-120"/>
              </a:rPr>
              <a:t>05</a:t>
            </a:r>
            <a:endParaRPr lang="en-US" sz="1200" dirty="0"/>
          </a:p>
        </p:txBody>
      </p:sp>
      <p:sp>
        <p:nvSpPr>
          <p:cNvPr id="25" name="Text 23"/>
          <p:cNvSpPr/>
          <p:nvPr/>
        </p:nvSpPr>
        <p:spPr>
          <a:xfrm>
            <a:off x="9798050" y="2144961"/>
            <a:ext cx="14859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1EA"/>
                </a:solidFill>
                <a:latin typeface="Source Serif 4" pitchFamily="34" charset="0"/>
                <a:ea typeface="Source Serif 4" pitchFamily="34" charset="-122"/>
                <a:cs typeface="Source Serif 4" pitchFamily="34" charset="-120"/>
              </a:rPr>
              <a:t>Plugins</a:t>
            </a:r>
            <a:endParaRPr lang="en-US" sz="1500" dirty="0"/>
          </a:p>
        </p:txBody>
      </p:sp>
      <p:sp>
        <p:nvSpPr>
          <p:cNvPr id="26" name="Text 24"/>
          <p:cNvSpPr/>
          <p:nvPr/>
        </p:nvSpPr>
        <p:spPr>
          <a:xfrm>
            <a:off x="9798050" y="2449761"/>
            <a:ext cx="14859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DB7AB"/>
                </a:solidFill>
                <a:latin typeface="Inter" pitchFamily="34" charset="0"/>
                <a:ea typeface="Inter" pitchFamily="34" charset="-122"/>
                <a:cs typeface="Inter" pitchFamily="34" charset="-120"/>
              </a:rPr>
              <a:t>Ship to every repo</a:t>
            </a:r>
            <a:endParaRPr lang="en-US" sz="1200" dirty="0"/>
          </a:p>
        </p:txBody>
      </p:sp>
      <p:sp>
        <p:nvSpPr>
          <p:cNvPr id="27" name="Text 25"/>
          <p:cNvSpPr/>
          <p:nvPr/>
        </p:nvSpPr>
        <p:spPr>
          <a:xfrm>
            <a:off x="812800" y="3258691"/>
            <a:ext cx="9810750" cy="964505"/>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F4F1EA"/>
                </a:solidFill>
                <a:latin typeface="Source Serif 4" pitchFamily="34" charset="0"/>
                <a:ea typeface="Source Serif 4" pitchFamily="34" charset="-122"/>
                <a:cs typeface="Source Serif 4" pitchFamily="34" charset="-120"/>
              </a:rPr>
              <a:t>One ticket, all five: CLAUDE.md sets the standards, MCP fetches OHUB-231, a skill runs the team procedure, a subagent reviews the change, and a plugin makes the whole setup reproducible across teams.</a:t>
            </a:r>
            <a:endParaRPr lang="en-US" sz="1700" dirty="0"/>
          </a:p>
        </p:txBody>
      </p:sp>
      <p:sp>
        <p:nvSpPr>
          <p:cNvPr id="28" name="Text 26"/>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DB7AB"/>
                </a:solidFill>
                <a:latin typeface="Inter" pitchFamily="34" charset="0"/>
                <a:ea typeface="Inter" pitchFamily="34" charset="-122"/>
                <a:cs typeface="Inter" pitchFamily="34" charset="-120"/>
              </a:rPr>
              <a:t>Module 7 · Extending Claude Code</a:t>
            </a:r>
            <a:endParaRPr lang="en-US" sz="1200" dirty="0"/>
          </a:p>
        </p:txBody>
      </p:sp>
      <p:sp>
        <p:nvSpPr>
          <p:cNvPr id="29" name="Text 27"/>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DB7AB"/>
                </a:solidFill>
                <a:latin typeface="Inter" pitchFamily="34" charset="0"/>
                <a:ea typeface="Inter" pitchFamily="34" charset="-122"/>
                <a:cs typeface="Inter" pitchFamily="34" charset="-120"/>
              </a:rPr>
              <a:t>Wrap-up</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E1D"/>
                </a:solidFill>
                <a:latin typeface="Source Serif 4" pitchFamily="34" charset="0"/>
                <a:ea typeface="Source Serif 4" pitchFamily="34" charset="-122"/>
                <a:cs typeface="Source Serif 4" pitchFamily="34" charset="-120"/>
              </a:rPr>
              <a:t>Choosing the right mechanism</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77330"/>
          <a:ext cx="10553700" cy="2636044"/>
        </p:xfrm>
        <a:graphic>
          <a:graphicData uri="http://schemas.openxmlformats.org/drawingml/2006/table">
            <a:tbl>
              <a:tblPr/>
              <a:tblGrid>
                <a:gridCol w="5171313">
                  <a:extLst>
                    <a:ext uri="{9D8B030D-6E8A-4147-A177-3AD203B41FA5}">
                      <a16:colId xmlns:a16="http://schemas.microsoft.com/office/drawing/2014/main" val="20000"/>
                    </a:ext>
                  </a:extLst>
                </a:gridCol>
                <a:gridCol w="2427351">
                  <a:extLst>
                    <a:ext uri="{9D8B030D-6E8A-4147-A177-3AD203B41FA5}">
                      <a16:colId xmlns:a16="http://schemas.microsoft.com/office/drawing/2014/main" val="20001"/>
                    </a:ext>
                  </a:extLst>
                </a:gridCol>
                <a:gridCol w="2955036">
                  <a:extLst>
                    <a:ext uri="{9D8B030D-6E8A-4147-A177-3AD203B41FA5}">
                      <a16:colId xmlns:a16="http://schemas.microsoft.com/office/drawing/2014/main" val="20002"/>
                    </a:ext>
                  </a:extLst>
                </a:gridCol>
              </a:tblGrid>
              <a:tr h="439341">
                <a:tc>
                  <a:txBody>
                    <a:bodyPr/>
                    <a:lstStyle/>
                    <a:p>
                      <a:pPr marL="0" indent="0">
                        <a:lnSpc>
                          <a:spcPts val="2240"/>
                        </a:lnSpc>
                        <a:buNone/>
                      </a:pPr>
                      <a:r>
                        <a:rPr lang="en-US" sz="1600" b="1" dirty="0">
                          <a:solidFill>
                            <a:srgbClr val="5E5D59"/>
                          </a:solidFill>
                          <a:latin typeface="Inter" pitchFamily="34" charset="0"/>
                          <a:ea typeface="Inter" pitchFamily="34" charset="-122"/>
                          <a:cs typeface="Inter" pitchFamily="34" charset="-120"/>
                        </a:rPr>
                        <a:t>If you need…</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B9B9B5"/>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B9B9B5"/>
                      </a:solidFill>
                      <a:prstDash val="solid"/>
                      <a:round/>
                      <a:headEnd type="none" w="med" len="med"/>
                      <a:tailEnd type="none" w="med" len="med"/>
                    </a:lnB>
                    <a:solidFill>
                      <a:srgbClr val="E8E7E3"/>
                    </a:solidFill>
                  </a:tcPr>
                </a:tc>
                <a:tc>
                  <a:txBody>
                    <a:bodyPr/>
                    <a:lstStyle/>
                    <a:p>
                      <a:pPr marL="0" indent="0">
                        <a:lnSpc>
                          <a:spcPts val="2240"/>
                        </a:lnSpc>
                        <a:buNone/>
                      </a:pPr>
                      <a:r>
                        <a:rPr lang="en-US" sz="1600" b="1" dirty="0">
                          <a:solidFill>
                            <a:srgbClr val="5E5D59"/>
                          </a:solidFill>
                          <a:latin typeface="Inter" pitchFamily="34" charset="0"/>
                          <a:ea typeface="Inter" pitchFamily="34" charset="-122"/>
                          <a:cs typeface="Inter" pitchFamily="34" charset="-120"/>
                        </a:rPr>
                        <a:t>Use</a:t>
                      </a:r>
                      <a:endParaRPr lang="en-US" sz="1600" dirty="0">
                        <a:latin typeface="Inter" charset="0"/>
                        <a:ea typeface="Inter" charset="0"/>
                        <a:cs typeface="Inter" charset="0"/>
                      </a:endParaRPr>
                    </a:p>
                  </a:txBody>
                  <a:tcPr marL="71120" marR="71120" marT="71120" marB="71120">
                    <a:lnL w="12700" cap="flat" cmpd="sng" algn="ctr">
                      <a:solidFill>
                        <a:srgbClr val="B9B9B5"/>
                      </a:solidFill>
                      <a:prstDash val="solid"/>
                      <a:round/>
                      <a:headEnd type="none" w="med" len="med"/>
                      <a:tailEnd type="none" w="med" len="med"/>
                    </a:lnL>
                    <a:lnR w="12700" cap="flat" cmpd="sng" algn="ctr">
                      <a:solidFill>
                        <a:srgbClr val="B9B9B5"/>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B9B9B5"/>
                      </a:solidFill>
                      <a:prstDash val="solid"/>
                      <a:round/>
                      <a:headEnd type="none" w="med" len="med"/>
                      <a:tailEnd type="none" w="med" len="med"/>
                    </a:lnB>
                    <a:solidFill>
                      <a:srgbClr val="E8E7E3"/>
                    </a:solidFill>
                  </a:tcPr>
                </a:tc>
                <a:tc>
                  <a:txBody>
                    <a:bodyPr/>
                    <a:lstStyle/>
                    <a:p>
                      <a:pPr marL="0" indent="0">
                        <a:lnSpc>
                          <a:spcPts val="2240"/>
                        </a:lnSpc>
                        <a:buNone/>
                      </a:pPr>
                      <a:r>
                        <a:rPr lang="en-US" sz="1600" b="1" dirty="0">
                          <a:solidFill>
                            <a:srgbClr val="5E5D59"/>
                          </a:solidFill>
                          <a:latin typeface="Inter" pitchFamily="34" charset="0"/>
                          <a:ea typeface="Inter" pitchFamily="34" charset="-122"/>
                          <a:cs typeface="Inter" pitchFamily="34" charset="-120"/>
                        </a:rPr>
                        <a:t>Because</a:t>
                      </a:r>
                      <a:endParaRPr lang="en-US" sz="1600" dirty="0">
                        <a:latin typeface="Inter" charset="0"/>
                        <a:ea typeface="Inter" charset="0"/>
                        <a:cs typeface="Inter" charset="0"/>
                      </a:endParaRPr>
                    </a:p>
                  </a:txBody>
                  <a:tcPr marL="71120" marR="71120" marT="71120" marB="71120">
                    <a:lnL w="12700" cap="flat" cmpd="sng" algn="ctr">
                      <a:solidFill>
                        <a:srgbClr val="B9B9B5"/>
                      </a:solidFill>
                      <a:prstDash val="solid"/>
                      <a:round/>
                      <a:headEnd type="none" w="med" len="med"/>
                      <a:tailEnd type="none" w="med" len="med"/>
                    </a:lnL>
                    <a:lnR w="12700" cap="flat" cmpd="sng" algn="ctr">
                      <a:solidFill>
                        <a:srgbClr val="B9B9B5"/>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B9B9B5"/>
                      </a:solidFill>
                      <a:prstDash val="solid"/>
                      <a:round/>
                      <a:headEnd type="none" w="med" len="med"/>
                      <a:tailEnd type="none" w="med" len="med"/>
                    </a:lnB>
                    <a:solidFill>
                      <a:srgbClr val="E8E7E3"/>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1F1E1D"/>
                          </a:solidFill>
                          <a:latin typeface="Inter" pitchFamily="34" charset="0"/>
                          <a:ea typeface="Inter" pitchFamily="34" charset="-122"/>
                          <a:cs typeface="Inter" pitchFamily="34" charset="-120"/>
                        </a:rPr>
                        <a:t>A rule that must apply to every task</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B9B9B5"/>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B4532F"/>
                          </a:solidFill>
                          <a:latin typeface="Inter" pitchFamily="34" charset="0"/>
                          <a:ea typeface="Inter" pitchFamily="34" charset="-122"/>
                          <a:cs typeface="Inter" pitchFamily="34" charset="-120"/>
                        </a:rPr>
                        <a:t>Instructions</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B9B9B5"/>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5E5D59"/>
                          </a:solidFill>
                          <a:latin typeface="Inter" pitchFamily="34" charset="0"/>
                          <a:ea typeface="Inter" pitchFamily="34" charset="-122"/>
                          <a:cs typeface="Inter" pitchFamily="34" charset="-120"/>
                        </a:rPr>
                        <a:t>Always loaded</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B9B9B5"/>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1F1E1D"/>
                          </a:solidFill>
                          <a:latin typeface="Inter" pitchFamily="34" charset="0"/>
                          <a:ea typeface="Inter" pitchFamily="34" charset="-122"/>
                          <a:cs typeface="Inter" pitchFamily="34" charset="-120"/>
                        </a:rPr>
                        <a:t>A repeatable, multi-step procedure</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B4532F"/>
                          </a:solidFill>
                          <a:latin typeface="Inter" pitchFamily="34" charset="0"/>
                          <a:ea typeface="Inter" pitchFamily="34" charset="-122"/>
                          <a:cs typeface="Inter" pitchFamily="34" charset="-120"/>
                        </a:rPr>
                        <a:t>Skill</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5E5D59"/>
                          </a:solidFill>
                          <a:latin typeface="Inter" pitchFamily="34" charset="0"/>
                          <a:ea typeface="Inter" pitchFamily="34" charset="-122"/>
                          <a:cs typeface="Inter" pitchFamily="34" charset="-120"/>
                        </a:rPr>
                        <a:t>Loaded on demand</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extLst>
                  <a:ext uri="{0D108BD9-81ED-4DB2-BD59-A6C34878D82A}">
                    <a16:rowId xmlns:a16="http://schemas.microsoft.com/office/drawing/2014/main" val="10002"/>
                  </a:ext>
                </a:extLst>
              </a:tr>
              <a:tr h="439341">
                <a:tc>
                  <a:txBody>
                    <a:bodyPr/>
                    <a:lstStyle/>
                    <a:p>
                      <a:pPr marL="0" indent="0">
                        <a:lnSpc>
                          <a:spcPts val="2240"/>
                        </a:lnSpc>
                        <a:buNone/>
                      </a:pPr>
                      <a:r>
                        <a:rPr lang="en-US" sz="1600" dirty="0">
                          <a:solidFill>
                            <a:srgbClr val="1F1E1D"/>
                          </a:solidFill>
                          <a:latin typeface="Inter" pitchFamily="34" charset="0"/>
                          <a:ea typeface="Inter" pitchFamily="34" charset="-122"/>
                          <a:cs typeface="Inter" pitchFamily="34" charset="-120"/>
                        </a:rPr>
                        <a:t>Focused work in a clean, restricted context</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B4532F"/>
                          </a:solidFill>
                          <a:latin typeface="Inter" pitchFamily="34" charset="0"/>
                          <a:ea typeface="Inter" pitchFamily="34" charset="-122"/>
                          <a:cs typeface="Inter" pitchFamily="34" charset="-120"/>
                        </a:rPr>
                        <a:t>Subagent</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5E5D59"/>
                          </a:solidFill>
                          <a:latin typeface="Inter" pitchFamily="34" charset="0"/>
                          <a:ea typeface="Inter" pitchFamily="34" charset="-122"/>
                          <a:cs typeface="Inter" pitchFamily="34" charset="-120"/>
                        </a:rPr>
                        <a:t>Own context and tools</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extLst>
                  <a:ext uri="{0D108BD9-81ED-4DB2-BD59-A6C34878D82A}">
                    <a16:rowId xmlns:a16="http://schemas.microsoft.com/office/drawing/2014/main" val="10003"/>
                  </a:ext>
                </a:extLst>
              </a:tr>
              <a:tr h="439341">
                <a:tc>
                  <a:txBody>
                    <a:bodyPr/>
                    <a:lstStyle/>
                    <a:p>
                      <a:pPr marL="0" indent="0">
                        <a:lnSpc>
                          <a:spcPts val="2240"/>
                        </a:lnSpc>
                        <a:buNone/>
                      </a:pPr>
                      <a:r>
                        <a:rPr lang="en-US" sz="1600" dirty="0">
                          <a:solidFill>
                            <a:srgbClr val="1F1E1D"/>
                          </a:solidFill>
                          <a:latin typeface="Inter" pitchFamily="34" charset="0"/>
                          <a:ea typeface="Inter" pitchFamily="34" charset="-122"/>
                          <a:cs typeface="Inter" pitchFamily="34" charset="-120"/>
                        </a:rPr>
                        <a:t>Live data or actions in another system</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B4532F"/>
                          </a:solidFill>
                          <a:latin typeface="Inter" pitchFamily="34" charset="0"/>
                          <a:ea typeface="Inter" pitchFamily="34" charset="-122"/>
                          <a:cs typeface="Inter" pitchFamily="34" charset="-120"/>
                        </a:rPr>
                        <a:t>MCP server</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5E5D59"/>
                          </a:solidFill>
                          <a:latin typeface="Inter" pitchFamily="34" charset="0"/>
                          <a:ea typeface="Inter" pitchFamily="34" charset="-122"/>
                          <a:cs typeface="Inter" pitchFamily="34" charset="-120"/>
                        </a:rPr>
                        <a:t>Standard tool interface</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extLst>
                  <a:ext uri="{0D108BD9-81ED-4DB2-BD59-A6C34878D82A}">
                    <a16:rowId xmlns:a16="http://schemas.microsoft.com/office/drawing/2014/main" val="10004"/>
                  </a:ext>
                </a:extLst>
              </a:tr>
              <a:tr h="439341">
                <a:tc>
                  <a:txBody>
                    <a:bodyPr/>
                    <a:lstStyle/>
                    <a:p>
                      <a:pPr marL="0" indent="0">
                        <a:lnSpc>
                          <a:spcPts val="2240"/>
                        </a:lnSpc>
                        <a:buNone/>
                      </a:pPr>
                      <a:r>
                        <a:rPr lang="en-US" sz="1600" dirty="0">
                          <a:solidFill>
                            <a:srgbClr val="1F1E1D"/>
                          </a:solidFill>
                          <a:latin typeface="Inter" pitchFamily="34" charset="0"/>
                          <a:ea typeface="Inter" pitchFamily="34" charset="-122"/>
                          <a:cs typeface="Inter" pitchFamily="34" charset="-120"/>
                        </a:rPr>
                        <a:t>The same setup across many repositories</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B4532F"/>
                          </a:solidFill>
                          <a:latin typeface="Inter" pitchFamily="34" charset="0"/>
                          <a:ea typeface="Inter" pitchFamily="34" charset="-122"/>
                          <a:cs typeface="Inter" pitchFamily="34" charset="-120"/>
                        </a:rPr>
                        <a:t>Plugin</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marL="0" indent="0">
                        <a:lnSpc>
                          <a:spcPts val="2240"/>
                        </a:lnSpc>
                        <a:buNone/>
                      </a:pPr>
                      <a:r>
                        <a:rPr lang="en-US" sz="1600" dirty="0">
                          <a:solidFill>
                            <a:srgbClr val="5E5D59"/>
                          </a:solidFill>
                          <a:latin typeface="Inter" pitchFamily="34" charset="0"/>
                          <a:ea typeface="Inter" pitchFamily="34" charset="-122"/>
                          <a:cs typeface="Inter" pitchFamily="34" charset="-120"/>
                        </a:rPr>
                        <a:t>Versioned distribution</a:t>
                      </a:r>
                      <a:endParaRPr lang="en-US" sz="1600" dirty="0">
                        <a:latin typeface="Inter" charset="0"/>
                        <a:ea typeface="Inter" charset="0"/>
                        <a:cs typeface="Inter" charset="0"/>
                      </a:endParaRPr>
                    </a:p>
                  </a:txBody>
                  <a:tcPr marL="71120" marR="71120" marT="71120" marB="71120">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5D59"/>
                </a:solidFill>
                <a:latin typeface="Inter" pitchFamily="34" charset="0"/>
                <a:ea typeface="Inter" pitchFamily="34" charset="-122"/>
                <a:cs typeface="Inter" pitchFamily="34" charset="-120"/>
              </a:rPr>
              <a:t>Module 7 · Extending Claude Code</a:t>
            </a:r>
            <a:endParaRPr lang="en-US" sz="1200" dirty="0"/>
          </a:p>
        </p:txBody>
      </p:sp>
      <p:sp>
        <p:nvSpPr>
          <p:cNvPr id="5" name="Text 2"/>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5D59"/>
                </a:solidFill>
                <a:latin typeface="Inter" pitchFamily="34" charset="0"/>
                <a:ea typeface="Inter" pitchFamily="34" charset="-122"/>
                <a:cs typeface="Inter" pitchFamily="34" charset="-120"/>
              </a:rPr>
              <a:t>Wrap-up</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F1E1D"/>
        </a:solidFill>
        <a:effectLst/>
      </p:bgPr>
    </p:bg>
    <p:spTree>
      <p:nvGrpSpPr>
        <p:cNvPr id="1" name=""/>
        <p:cNvGrpSpPr/>
        <p:nvPr/>
      </p:nvGrpSpPr>
      <p:grpSpPr>
        <a:xfrm>
          <a:off x="0" y="0"/>
          <a:ext cx="0" cy="0"/>
          <a:chOff x="0" y="0"/>
          <a:chExt cx="0" cy="0"/>
        </a:xfrm>
      </p:grpSpPr>
      <p:pic>
        <p:nvPicPr>
          <p:cNvPr id="2" name="Image 0" descr="Decorative starburst"/>
          <p:cNvPicPr>
            <a:picLocks noChangeAspect="1"/>
          </p:cNvPicPr>
          <p:nvPr/>
        </p:nvPicPr>
        <p:blipFill>
          <a:blip r:embed="rId3"/>
          <a:srcRect/>
          <a:stretch/>
        </p:blipFill>
        <p:spPr>
          <a:xfrm>
            <a:off x="10553192" y="3729038"/>
            <a:ext cx="1143000" cy="1143000"/>
          </a:xfrm>
          <a:prstGeom prst="rect">
            <a:avLst/>
          </a:prstGeom>
        </p:spPr>
      </p:pic>
      <p:sp>
        <p:nvSpPr>
          <p:cNvPr id="3"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4F1EA"/>
                </a:solidFill>
                <a:latin typeface="Source Serif 4" pitchFamily="34" charset="0"/>
                <a:ea typeface="Source Serif 4" pitchFamily="34" charset="-122"/>
                <a:cs typeface="Source Serif 4" pitchFamily="34" charset="-120"/>
              </a:rPr>
              <a:t>Your next steps</a:t>
            </a:r>
            <a:endParaRPr lang="en-US" sz="3200" dirty="0"/>
          </a:p>
        </p:txBody>
      </p:sp>
      <p:sp>
        <p:nvSpPr>
          <p:cNvPr id="4" name="Shape 1"/>
          <p:cNvSpPr/>
          <p:nvPr/>
        </p:nvSpPr>
        <p:spPr>
          <a:xfrm>
            <a:off x="812800" y="1564630"/>
            <a:ext cx="3386634" cy="1697286"/>
          </a:xfrm>
          <a:prstGeom prst="roundRect">
            <a:avLst>
              <a:gd name="adj" fmla="val 5986"/>
            </a:avLst>
          </a:prstGeom>
          <a:solidFill>
            <a:srgbClr val="262524"/>
          </a:solidFill>
          <a:ln/>
        </p:spPr>
      </p:sp>
      <p:sp>
        <p:nvSpPr>
          <p:cNvPr id="5" name="Text 2"/>
          <p:cNvSpPr/>
          <p:nvPr/>
        </p:nvSpPr>
        <p:spPr>
          <a:xfrm>
            <a:off x="1066800" y="1818630"/>
            <a:ext cx="296499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97757"/>
                </a:solidFill>
                <a:latin typeface="Inter" pitchFamily="34" charset="0"/>
                <a:ea typeface="Inter" pitchFamily="34" charset="-122"/>
                <a:cs typeface="Inter" pitchFamily="34" charset="-120"/>
              </a:rPr>
              <a:t>THIS WEEK</a:t>
            </a:r>
            <a:endParaRPr lang="en-US" sz="1200" dirty="0"/>
          </a:p>
        </p:txBody>
      </p:sp>
      <p:sp>
        <p:nvSpPr>
          <p:cNvPr id="6" name="Text 3"/>
          <p:cNvSpPr/>
          <p:nvPr/>
        </p:nvSpPr>
        <p:spPr>
          <a:xfrm>
            <a:off x="1066800" y="2133550"/>
            <a:ext cx="2964993" cy="899765"/>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F4F1EA"/>
                </a:solidFill>
                <a:latin typeface="Source Serif 4" pitchFamily="34" charset="0"/>
                <a:ea typeface="Source Serif 4" pitchFamily="34" charset="-122"/>
                <a:cs typeface="Source Serif 4" pitchFamily="34" charset="-120"/>
              </a:rPr>
              <a:t>Commit a curated CLAUDE.md to your team's main repository.</a:t>
            </a:r>
            <a:endParaRPr lang="en-US" sz="1700" dirty="0"/>
          </a:p>
        </p:txBody>
      </p:sp>
      <p:sp>
        <p:nvSpPr>
          <p:cNvPr id="7" name="Shape 4"/>
          <p:cNvSpPr/>
          <p:nvPr/>
        </p:nvSpPr>
        <p:spPr>
          <a:xfrm>
            <a:off x="4402634" y="1564630"/>
            <a:ext cx="3386683" cy="1697286"/>
          </a:xfrm>
          <a:prstGeom prst="roundRect">
            <a:avLst>
              <a:gd name="adj" fmla="val 5986"/>
            </a:avLst>
          </a:prstGeom>
          <a:solidFill>
            <a:srgbClr val="262524"/>
          </a:solidFill>
          <a:ln/>
        </p:spPr>
      </p:sp>
      <p:sp>
        <p:nvSpPr>
          <p:cNvPr id="8" name="Text 5"/>
          <p:cNvSpPr/>
          <p:nvPr/>
        </p:nvSpPr>
        <p:spPr>
          <a:xfrm>
            <a:off x="4656634" y="1818630"/>
            <a:ext cx="296504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97757"/>
                </a:solidFill>
                <a:latin typeface="Inter" pitchFamily="34" charset="0"/>
                <a:ea typeface="Inter" pitchFamily="34" charset="-122"/>
                <a:cs typeface="Inter" pitchFamily="34" charset="-120"/>
              </a:rPr>
              <a:t>THIS SPRINT</a:t>
            </a:r>
            <a:endParaRPr lang="en-US" sz="1200" dirty="0"/>
          </a:p>
        </p:txBody>
      </p:sp>
      <p:sp>
        <p:nvSpPr>
          <p:cNvPr id="9" name="Text 6"/>
          <p:cNvSpPr/>
          <p:nvPr/>
        </p:nvSpPr>
        <p:spPr>
          <a:xfrm>
            <a:off x="4656634" y="2133550"/>
            <a:ext cx="2965044" cy="899765"/>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F4F1EA"/>
                </a:solidFill>
                <a:latin typeface="Source Serif 4" pitchFamily="34" charset="0"/>
                <a:ea typeface="Source Serif 4" pitchFamily="34" charset="-122"/>
                <a:cs typeface="Source Serif 4" pitchFamily="34" charset="-120"/>
              </a:rPr>
              <a:t>Turn one recurring task into a skill and one review into a subagent.</a:t>
            </a:r>
            <a:endParaRPr lang="en-US" sz="1700" dirty="0"/>
          </a:p>
        </p:txBody>
      </p:sp>
      <p:sp>
        <p:nvSpPr>
          <p:cNvPr id="10" name="Shape 7"/>
          <p:cNvSpPr/>
          <p:nvPr/>
        </p:nvSpPr>
        <p:spPr>
          <a:xfrm>
            <a:off x="7992517" y="1564630"/>
            <a:ext cx="3386683" cy="1697286"/>
          </a:xfrm>
          <a:prstGeom prst="roundRect">
            <a:avLst>
              <a:gd name="adj" fmla="val 5986"/>
            </a:avLst>
          </a:prstGeom>
          <a:solidFill>
            <a:srgbClr val="262524"/>
          </a:solidFill>
          <a:ln/>
        </p:spPr>
      </p:sp>
      <p:sp>
        <p:nvSpPr>
          <p:cNvPr id="11" name="Text 8"/>
          <p:cNvSpPr/>
          <p:nvPr/>
        </p:nvSpPr>
        <p:spPr>
          <a:xfrm>
            <a:off x="8246517" y="1818630"/>
            <a:ext cx="296504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97757"/>
                </a:solidFill>
                <a:latin typeface="Inter" pitchFamily="34" charset="0"/>
                <a:ea typeface="Inter" pitchFamily="34" charset="-122"/>
                <a:cs typeface="Inter" pitchFamily="34" charset="-120"/>
              </a:rPr>
              <a:t>THIS QUARTER</a:t>
            </a:r>
            <a:endParaRPr lang="en-US" sz="1200" dirty="0"/>
          </a:p>
        </p:txBody>
      </p:sp>
      <p:sp>
        <p:nvSpPr>
          <p:cNvPr id="12" name="Text 9"/>
          <p:cNvSpPr/>
          <p:nvPr/>
        </p:nvSpPr>
        <p:spPr>
          <a:xfrm>
            <a:off x="8246517" y="2133550"/>
            <a:ext cx="2965044" cy="899765"/>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F4F1EA"/>
                </a:solidFill>
                <a:latin typeface="Source Serif 4" pitchFamily="34" charset="0"/>
                <a:ea typeface="Source Serif 4" pitchFamily="34" charset="-122"/>
                <a:cs typeface="Source Serif 4" pitchFamily="34" charset="-120"/>
              </a:rPr>
              <a:t>Publish a team plugin through an internal marketplace.</a:t>
            </a:r>
            <a:endParaRPr lang="en-US" sz="1700" dirty="0"/>
          </a:p>
        </p:txBody>
      </p:sp>
      <p:sp>
        <p:nvSpPr>
          <p:cNvPr id="13" name="Text 10"/>
          <p:cNvSpPr/>
          <p:nvPr/>
        </p:nvSpPr>
        <p:spPr>
          <a:xfrm>
            <a:off x="812800" y="3566716"/>
            <a:ext cx="10883392"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D97757"/>
                </a:solidFill>
                <a:latin typeface="Source Serif 4" pitchFamily="34" charset="0"/>
                <a:ea typeface="Source Serif 4" pitchFamily="34" charset="-122"/>
                <a:cs typeface="Source Serif 4" pitchFamily="34" charset="-120"/>
              </a:rPr>
              <a:t>Questions?</a:t>
            </a:r>
            <a:endParaRPr lang="en-US" sz="3200" dirty="0"/>
          </a:p>
        </p:txBody>
      </p:sp>
      <p:sp>
        <p:nvSpPr>
          <p:cNvPr id="14" name="Text 11"/>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DB7AB"/>
                </a:solidFill>
                <a:latin typeface="Inter" pitchFamily="34" charset="0"/>
                <a:ea typeface="Inter" pitchFamily="34" charset="-122"/>
                <a:cs typeface="Inter" pitchFamily="34" charset="-120"/>
              </a:rPr>
              <a:t>Module 7 · Extending Claude Code</a:t>
            </a:r>
            <a:endParaRPr lang="en-US" sz="1200" dirty="0"/>
          </a:p>
        </p:txBody>
      </p:sp>
      <p:sp>
        <p:nvSpPr>
          <p:cNvPr id="15" name="Text 12"/>
          <p:cNvSpPr/>
          <p:nvPr/>
        </p:nvSpPr>
        <p:spPr>
          <a:xfrm>
            <a:off x="7454900" y="6238280"/>
            <a:ext cx="3924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DB7AB"/>
                </a:solidFill>
                <a:latin typeface="Inter" pitchFamily="34" charset="0"/>
                <a:ea typeface="Inter" pitchFamily="34" charset="-122"/>
                <a:cs typeface="Inter" pitchFamily="34" charset="-120"/>
              </a:rPr>
              <a:t>docs.claude.com/en/docs/claude-code</a:t>
            </a:r>
            <a:endParaRPr lang="en-US" sz="1200" dirty="0"/>
          </a:p>
        </p:txBody>
      </p:sp>
      <p:pic>
        <p:nvPicPr>
          <p:cNvPr id="16" name="Picture 15">
            <a:extLst>
              <a:ext uri="{FF2B5EF4-FFF2-40B4-BE49-F238E27FC236}">
                <a16:creationId xmlns:a16="http://schemas.microsoft.com/office/drawing/2014/main" id="{99F30374-C1D2-7041-4D8A-20BF341380EE}"/>
              </a:ext>
            </a:extLst>
          </p:cNvPr>
          <p:cNvPicPr>
            <a:picLocks noChangeAspect="1"/>
          </p:cNvPicPr>
          <p:nvPr/>
        </p:nvPicPr>
        <p:blipFill>
          <a:blip r:embed="rId4"/>
          <a:stretch>
            <a:fillRect/>
          </a:stretch>
        </p:blipFill>
        <p:spPr>
          <a:xfrm>
            <a:off x="8319198" y="304864"/>
            <a:ext cx="3497759" cy="7547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4175</Words>
  <Application>Microsoft Macintosh PowerPoint</Application>
  <PresentationFormat>Widescreen</PresentationFormat>
  <Paragraphs>553</Paragraphs>
  <Slides>31</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Inter</vt:lpstr>
      <vt:lpstr>JetBrains Mono</vt:lpstr>
      <vt:lpstr>Source Serif 4</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7 — Extending Claude Code: Instructions, Skills, Subagents, MCP &amp; Plugins</dc:title>
  <dc:subject>PptxGenJS Presentation</dc:subject>
  <dc:creator>PptxGenJS</dc:creator>
  <cp:lastModifiedBy>MANOJ KUMAR</cp:lastModifiedBy>
  <cp:revision>3</cp:revision>
  <dcterms:created xsi:type="dcterms:W3CDTF">2026-09-25T02:07:25Z</dcterms:created>
  <dcterms:modified xsi:type="dcterms:W3CDTF">2026-09-25T12:32:57Z</dcterms:modified>
</cp:coreProperties>
</file>